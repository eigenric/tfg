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93" r:id="rId2"/>
    <p:sldId id="257" r:id="rId3"/>
    <p:sldId id="282" r:id="rId4"/>
    <p:sldId id="259" r:id="rId5"/>
    <p:sldId id="296" r:id="rId6"/>
    <p:sldId id="260" r:id="rId7"/>
    <p:sldId id="261" r:id="rId8"/>
    <p:sldId id="297" r:id="rId9"/>
    <p:sldId id="298" r:id="rId10"/>
    <p:sldId id="301" r:id="rId11"/>
    <p:sldId id="299" r:id="rId12"/>
    <p:sldId id="300" r:id="rId13"/>
    <p:sldId id="302" r:id="rId14"/>
    <p:sldId id="268" r:id="rId15"/>
    <p:sldId id="269" r:id="rId16"/>
    <p:sldId id="305" r:id="rId17"/>
    <p:sldId id="304" r:id="rId18"/>
    <p:sldId id="306" r:id="rId19"/>
    <p:sldId id="280" r:id="rId20"/>
    <p:sldId id="281" r:id="rId21"/>
    <p:sldId id="307" r:id="rId22"/>
    <p:sldId id="308" r:id="rId23"/>
    <p:sldId id="285" r:id="rId24"/>
    <p:sldId id="287" r:id="rId25"/>
    <p:sldId id="288" r:id="rId26"/>
    <p:sldId id="289" r:id="rId27"/>
    <p:sldId id="290" r:id="rId28"/>
    <p:sldId id="291" r:id="rId29"/>
    <p:sldId id="292" r:id="rId30"/>
    <p:sldId id="294" r:id="rId31"/>
    <p:sldId id="295" r:id="rId32"/>
  </p:sldIdLst>
  <p:sldSz cx="9512300" cy="6934200"/>
  <p:notesSz cx="9512300" cy="69342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F3F3C1"/>
    <a:srgbClr val="F4F4C2"/>
    <a:srgbClr val="C2E8F7"/>
    <a:srgbClr val="FDDFB9"/>
    <a:srgbClr val="CEE5D2"/>
    <a:srgbClr val="F9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Estilo medio 4 - Énfasis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38"/>
    <p:restoredTop sz="94609"/>
  </p:normalViewPr>
  <p:slideViewPr>
    <p:cSldViewPr>
      <p:cViewPr>
        <p:scale>
          <a:sx n="93" d="100"/>
          <a:sy n="93" d="100"/>
        </p:scale>
        <p:origin x="760" y="41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804750-19B7-4AFE-B3D9-7C34A512001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57B820C-B5E8-4718-99BA-2731B6AEC693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dirty="0"/>
            <a:t>I. Introducción y Caso de Estudio: Smart Poqueira</a:t>
          </a:r>
        </a:p>
      </dgm:t>
    </dgm:pt>
    <dgm:pt modelId="{EC4B40DB-E086-43FA-9435-C98825C2B7D8}" type="parTrans" cxnId="{D4990E71-C325-40CA-BE6D-DECD18A6F3CF}">
      <dgm:prSet/>
      <dgm:spPr/>
      <dgm:t>
        <a:bodyPr/>
        <a:lstStyle/>
        <a:p>
          <a:endParaRPr lang="en-US"/>
        </a:p>
      </dgm:t>
    </dgm:pt>
    <dgm:pt modelId="{39ED19FA-1933-434E-AF7A-0E8FFAE58620}" type="sibTrans" cxnId="{D4990E71-C325-40CA-BE6D-DECD18A6F3CF}">
      <dgm:prSet/>
      <dgm:spPr/>
      <dgm:t>
        <a:bodyPr/>
        <a:lstStyle/>
        <a:p>
          <a:endParaRPr lang="en-US"/>
        </a:p>
      </dgm:t>
    </dgm:pt>
    <dgm:pt modelId="{C134AFAB-E622-4260-AE41-2BE025BB4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III. Fundamentos Teóricos</a:t>
          </a:r>
        </a:p>
      </dgm:t>
    </dgm:pt>
    <dgm:pt modelId="{107E3B44-E2C8-44EC-BED3-981A0FC6CBD7}" type="parTrans" cxnId="{30BAA794-15EA-4FC8-82E8-3155A15935B9}">
      <dgm:prSet/>
      <dgm:spPr/>
      <dgm:t>
        <a:bodyPr/>
        <a:lstStyle/>
        <a:p>
          <a:endParaRPr lang="en-US"/>
        </a:p>
      </dgm:t>
    </dgm:pt>
    <dgm:pt modelId="{68355551-FB7B-4F69-9F6B-098008046DB8}" type="sibTrans" cxnId="{30BAA794-15EA-4FC8-82E8-3155A15935B9}">
      <dgm:prSet/>
      <dgm:spPr/>
      <dgm:t>
        <a:bodyPr/>
        <a:lstStyle/>
        <a:p>
          <a:endParaRPr lang="en-US"/>
        </a:p>
      </dgm:t>
    </dgm:pt>
    <dgm:pt modelId="{652A7DDC-E94C-4BA7-9D22-3406B67D37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II. Estado del Arte.</a:t>
          </a:r>
        </a:p>
      </dgm:t>
    </dgm:pt>
    <dgm:pt modelId="{EE105EBA-AABA-40FE-8E4E-CE10CAA1F5BA}" type="parTrans" cxnId="{E642A211-2714-4234-9B17-DA8876E48602}">
      <dgm:prSet/>
      <dgm:spPr/>
      <dgm:t>
        <a:bodyPr/>
        <a:lstStyle/>
        <a:p>
          <a:endParaRPr lang="en-US"/>
        </a:p>
      </dgm:t>
    </dgm:pt>
    <dgm:pt modelId="{9437D026-D2DE-423C-9174-7949E0EA48A4}" type="sibTrans" cxnId="{E642A211-2714-4234-9B17-DA8876E48602}">
      <dgm:prSet/>
      <dgm:spPr/>
      <dgm:t>
        <a:bodyPr/>
        <a:lstStyle/>
        <a:p>
          <a:endParaRPr lang="en-US"/>
        </a:p>
      </dgm:t>
    </dgm:pt>
    <dgm:pt modelId="{64B2BB52-7D1A-4F06-86E1-675C55FE561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IV. Arquitectura Transformer y SAITS</a:t>
          </a:r>
        </a:p>
      </dgm:t>
    </dgm:pt>
    <dgm:pt modelId="{E4B73BA8-E8CF-4040-ACA4-B5733B3F090A}" type="parTrans" cxnId="{59A0111C-A4B5-4E21-B240-1B2FD5571191}">
      <dgm:prSet/>
      <dgm:spPr/>
      <dgm:t>
        <a:bodyPr/>
        <a:lstStyle/>
        <a:p>
          <a:endParaRPr lang="en-US"/>
        </a:p>
      </dgm:t>
    </dgm:pt>
    <dgm:pt modelId="{1FB82493-7A7B-4946-A574-70FE3D48020C}" type="sibTrans" cxnId="{59A0111C-A4B5-4E21-B240-1B2FD5571191}">
      <dgm:prSet/>
      <dgm:spPr/>
      <dgm:t>
        <a:bodyPr/>
        <a:lstStyle/>
        <a:p>
          <a:endParaRPr lang="en-US"/>
        </a:p>
      </dgm:t>
    </dgm:pt>
    <dgm:pt modelId="{61AAD36F-B927-4C03-BE00-A6D2A9E12FD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V. Resultados y Discusión</a:t>
          </a:r>
        </a:p>
      </dgm:t>
    </dgm:pt>
    <dgm:pt modelId="{B2BE65FE-6DC1-42FD-B630-EDFF28D3103E}" type="parTrans" cxnId="{D6474869-D87E-47C7-9D4E-838AA7CEDDA1}">
      <dgm:prSet/>
      <dgm:spPr/>
      <dgm:t>
        <a:bodyPr/>
        <a:lstStyle/>
        <a:p>
          <a:endParaRPr lang="en-US"/>
        </a:p>
      </dgm:t>
    </dgm:pt>
    <dgm:pt modelId="{D4981EBB-BE5E-4D67-903D-CAE3B1B715C5}" type="sibTrans" cxnId="{D6474869-D87E-47C7-9D4E-838AA7CEDDA1}">
      <dgm:prSet/>
      <dgm:spPr/>
      <dgm:t>
        <a:bodyPr/>
        <a:lstStyle/>
        <a:p>
          <a:endParaRPr lang="en-US"/>
        </a:p>
      </dgm:t>
    </dgm:pt>
    <dgm:pt modelId="{383B6AEE-680D-4EA3-AC0E-9A24137D2F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VI. Conclusiones y Futuro</a:t>
          </a:r>
        </a:p>
      </dgm:t>
    </dgm:pt>
    <dgm:pt modelId="{6717340C-A523-42AB-9DED-B18D57FC86CF}" type="parTrans" cxnId="{11233F7D-1751-4CB7-A30E-63123AB65F77}">
      <dgm:prSet/>
      <dgm:spPr/>
      <dgm:t>
        <a:bodyPr/>
        <a:lstStyle/>
        <a:p>
          <a:endParaRPr lang="en-US"/>
        </a:p>
      </dgm:t>
    </dgm:pt>
    <dgm:pt modelId="{7A01264D-6151-42A2-8346-14A9D319F6FE}" type="sibTrans" cxnId="{11233F7D-1751-4CB7-A30E-63123AB65F77}">
      <dgm:prSet/>
      <dgm:spPr/>
      <dgm:t>
        <a:bodyPr/>
        <a:lstStyle/>
        <a:p>
          <a:endParaRPr lang="en-US"/>
        </a:p>
      </dgm:t>
    </dgm:pt>
    <dgm:pt modelId="{03AC9644-CE3A-4B0A-923E-3D2DF82E2010}" type="pres">
      <dgm:prSet presAssocID="{90804750-19B7-4AFE-B3D9-7C34A5120010}" presName="root" presStyleCnt="0">
        <dgm:presLayoutVars>
          <dgm:dir/>
          <dgm:resizeHandles val="exact"/>
        </dgm:presLayoutVars>
      </dgm:prSet>
      <dgm:spPr/>
    </dgm:pt>
    <dgm:pt modelId="{3347C68A-8252-4A6B-8862-B47D49B69A50}" type="pres">
      <dgm:prSet presAssocID="{957B820C-B5E8-4718-99BA-2731B6AEC693}" presName="compNode" presStyleCnt="0"/>
      <dgm:spPr/>
    </dgm:pt>
    <dgm:pt modelId="{0F2DB207-E320-447A-B4A7-3A9300D441D1}" type="pres">
      <dgm:prSet presAssocID="{957B820C-B5E8-4718-99BA-2731B6AEC693}" presName="bgRect" presStyleLbl="bgShp" presStyleIdx="0" presStyleCnt="6"/>
      <dgm:spPr/>
    </dgm:pt>
    <dgm:pt modelId="{1C9967C1-2FEF-4AA5-9585-B341B8BAB325}" type="pres">
      <dgm:prSet presAssocID="{957B820C-B5E8-4718-99BA-2731B6AEC693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pper board"/>
        </a:ext>
      </dgm:extLst>
    </dgm:pt>
    <dgm:pt modelId="{C304D866-E6A1-47AA-8AAB-21CCD5804933}" type="pres">
      <dgm:prSet presAssocID="{957B820C-B5E8-4718-99BA-2731B6AEC693}" presName="spaceRect" presStyleCnt="0"/>
      <dgm:spPr/>
    </dgm:pt>
    <dgm:pt modelId="{8F2721DD-F594-4835-B7A5-B5CEE98045A1}" type="pres">
      <dgm:prSet presAssocID="{957B820C-B5E8-4718-99BA-2731B6AEC693}" presName="parTx" presStyleLbl="revTx" presStyleIdx="0" presStyleCnt="6">
        <dgm:presLayoutVars>
          <dgm:chMax val="0"/>
          <dgm:chPref val="0"/>
        </dgm:presLayoutVars>
      </dgm:prSet>
      <dgm:spPr/>
    </dgm:pt>
    <dgm:pt modelId="{E179E482-5E65-4416-87D1-6456A1F64730}" type="pres">
      <dgm:prSet presAssocID="{39ED19FA-1933-434E-AF7A-0E8FFAE58620}" presName="sibTrans" presStyleCnt="0"/>
      <dgm:spPr/>
    </dgm:pt>
    <dgm:pt modelId="{01F2A698-6E94-4584-8C53-C277717B43F2}" type="pres">
      <dgm:prSet presAssocID="{652A7DDC-E94C-4BA7-9D22-3406B67D37E0}" presName="compNode" presStyleCnt="0"/>
      <dgm:spPr/>
    </dgm:pt>
    <dgm:pt modelId="{3D9CB0D5-6AFB-40E7-A382-E2D29E5F7E08}" type="pres">
      <dgm:prSet presAssocID="{652A7DDC-E94C-4BA7-9D22-3406B67D37E0}" presName="bgRect" presStyleLbl="bgShp" presStyleIdx="1" presStyleCnt="6"/>
      <dgm:spPr/>
    </dgm:pt>
    <dgm:pt modelId="{D02B18CE-B8A5-48CC-BFC1-9D53B86C60E5}" type="pres">
      <dgm:prSet presAssocID="{652A7DDC-E94C-4BA7-9D22-3406B67D37E0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leta"/>
        </a:ext>
      </dgm:extLst>
    </dgm:pt>
    <dgm:pt modelId="{2D9BC575-45EC-4708-AD80-DD86C797481C}" type="pres">
      <dgm:prSet presAssocID="{652A7DDC-E94C-4BA7-9D22-3406B67D37E0}" presName="spaceRect" presStyleCnt="0"/>
      <dgm:spPr/>
    </dgm:pt>
    <dgm:pt modelId="{5A8BE8FE-3A68-4ACF-84DF-9DEE546A4C39}" type="pres">
      <dgm:prSet presAssocID="{652A7DDC-E94C-4BA7-9D22-3406B67D37E0}" presName="parTx" presStyleLbl="revTx" presStyleIdx="1" presStyleCnt="6">
        <dgm:presLayoutVars>
          <dgm:chMax val="0"/>
          <dgm:chPref val="0"/>
        </dgm:presLayoutVars>
      </dgm:prSet>
      <dgm:spPr/>
    </dgm:pt>
    <dgm:pt modelId="{97783A67-95B7-4F9B-AF2E-EDC179F456A9}" type="pres">
      <dgm:prSet presAssocID="{9437D026-D2DE-423C-9174-7949E0EA48A4}" presName="sibTrans" presStyleCnt="0"/>
      <dgm:spPr/>
    </dgm:pt>
    <dgm:pt modelId="{451AD58A-B852-41FB-89FE-D7CF0800C7AB}" type="pres">
      <dgm:prSet presAssocID="{C134AFAB-E622-4260-AE41-2BE025BB4C81}" presName="compNode" presStyleCnt="0"/>
      <dgm:spPr/>
    </dgm:pt>
    <dgm:pt modelId="{78E7BB5D-ACFC-43A2-B8F4-ECF7F4B9FA7E}" type="pres">
      <dgm:prSet presAssocID="{C134AFAB-E622-4260-AE41-2BE025BB4C81}" presName="bgRect" presStyleLbl="bgShp" presStyleIdx="2" presStyleCnt="6"/>
      <dgm:spPr/>
    </dgm:pt>
    <dgm:pt modelId="{624AAF13-4892-4F13-8243-8EEA87169B19}" type="pres">
      <dgm:prSet presAssocID="{C134AFAB-E622-4260-AE41-2BE025BB4C81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0561CBF-1A34-4DB9-9C9F-774AC70EE23E}" type="pres">
      <dgm:prSet presAssocID="{C134AFAB-E622-4260-AE41-2BE025BB4C81}" presName="spaceRect" presStyleCnt="0"/>
      <dgm:spPr/>
    </dgm:pt>
    <dgm:pt modelId="{2028544D-300E-4370-A6BA-C1304B70B16D}" type="pres">
      <dgm:prSet presAssocID="{C134AFAB-E622-4260-AE41-2BE025BB4C81}" presName="parTx" presStyleLbl="revTx" presStyleIdx="2" presStyleCnt="6">
        <dgm:presLayoutVars>
          <dgm:chMax val="0"/>
          <dgm:chPref val="0"/>
        </dgm:presLayoutVars>
      </dgm:prSet>
      <dgm:spPr/>
    </dgm:pt>
    <dgm:pt modelId="{C404C9F8-9DEC-4917-9C5C-7D7203A9B082}" type="pres">
      <dgm:prSet presAssocID="{68355551-FB7B-4F69-9F6B-098008046DB8}" presName="sibTrans" presStyleCnt="0"/>
      <dgm:spPr/>
    </dgm:pt>
    <dgm:pt modelId="{1F170C15-CA12-4987-8038-882C58370E43}" type="pres">
      <dgm:prSet presAssocID="{64B2BB52-7D1A-4F06-86E1-675C55FE5617}" presName="compNode" presStyleCnt="0"/>
      <dgm:spPr/>
    </dgm:pt>
    <dgm:pt modelId="{596937AB-992C-4424-A258-E0824D3E5233}" type="pres">
      <dgm:prSet presAssocID="{64B2BB52-7D1A-4F06-86E1-675C55FE5617}" presName="bgRect" presStyleLbl="bgShp" presStyleIdx="3" presStyleCnt="6"/>
      <dgm:spPr/>
    </dgm:pt>
    <dgm:pt modelId="{C1353E0C-B4DE-46C2-9AE5-6D966B7BEAEC}" type="pres">
      <dgm:prSet presAssocID="{64B2BB52-7D1A-4F06-86E1-675C55FE5617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BC357A05-9D1F-4489-8475-7F408F4B66C5}" type="pres">
      <dgm:prSet presAssocID="{64B2BB52-7D1A-4F06-86E1-675C55FE5617}" presName="spaceRect" presStyleCnt="0"/>
      <dgm:spPr/>
    </dgm:pt>
    <dgm:pt modelId="{50E7B540-2027-48C9-90B9-D7F39D3E5515}" type="pres">
      <dgm:prSet presAssocID="{64B2BB52-7D1A-4F06-86E1-675C55FE5617}" presName="parTx" presStyleLbl="revTx" presStyleIdx="3" presStyleCnt="6">
        <dgm:presLayoutVars>
          <dgm:chMax val="0"/>
          <dgm:chPref val="0"/>
        </dgm:presLayoutVars>
      </dgm:prSet>
      <dgm:spPr/>
    </dgm:pt>
    <dgm:pt modelId="{B28A263D-46E3-4E48-809B-87F8F17BEB17}" type="pres">
      <dgm:prSet presAssocID="{1FB82493-7A7B-4946-A574-70FE3D48020C}" presName="sibTrans" presStyleCnt="0"/>
      <dgm:spPr/>
    </dgm:pt>
    <dgm:pt modelId="{EDF25190-3E4A-45A1-B47C-68742BC3CFD2}" type="pres">
      <dgm:prSet presAssocID="{61AAD36F-B927-4C03-BE00-A6D2A9E12FDB}" presName="compNode" presStyleCnt="0"/>
      <dgm:spPr/>
    </dgm:pt>
    <dgm:pt modelId="{CCE2FF6F-7353-4D23-9233-723B3503CAA4}" type="pres">
      <dgm:prSet presAssocID="{61AAD36F-B927-4C03-BE00-A6D2A9E12FDB}" presName="bgRect" presStyleLbl="bgShp" presStyleIdx="4" presStyleCnt="6"/>
      <dgm:spPr/>
    </dgm:pt>
    <dgm:pt modelId="{B7922449-0947-421B-B555-0B6AA5B4707E}" type="pres">
      <dgm:prSet presAssocID="{61AAD36F-B927-4C03-BE00-A6D2A9E12FDB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D59F124-4893-4093-B36F-AB80FB2ABF12}" type="pres">
      <dgm:prSet presAssocID="{61AAD36F-B927-4C03-BE00-A6D2A9E12FDB}" presName="spaceRect" presStyleCnt="0"/>
      <dgm:spPr/>
    </dgm:pt>
    <dgm:pt modelId="{8F30B698-CA9A-4B6E-8732-B5A5C1550C9C}" type="pres">
      <dgm:prSet presAssocID="{61AAD36F-B927-4C03-BE00-A6D2A9E12FDB}" presName="parTx" presStyleLbl="revTx" presStyleIdx="4" presStyleCnt="6">
        <dgm:presLayoutVars>
          <dgm:chMax val="0"/>
          <dgm:chPref val="0"/>
        </dgm:presLayoutVars>
      </dgm:prSet>
      <dgm:spPr/>
    </dgm:pt>
    <dgm:pt modelId="{BB992C12-99B4-4B5F-8CE6-40449F587444}" type="pres">
      <dgm:prSet presAssocID="{D4981EBB-BE5E-4D67-903D-CAE3B1B715C5}" presName="sibTrans" presStyleCnt="0"/>
      <dgm:spPr/>
    </dgm:pt>
    <dgm:pt modelId="{039BBB07-8727-4694-8E91-E0AB88B70864}" type="pres">
      <dgm:prSet presAssocID="{383B6AEE-680D-4EA3-AC0E-9A24137D2FA6}" presName="compNode" presStyleCnt="0"/>
      <dgm:spPr/>
    </dgm:pt>
    <dgm:pt modelId="{077C573B-0145-4201-9C3E-3C016C031A17}" type="pres">
      <dgm:prSet presAssocID="{383B6AEE-680D-4EA3-AC0E-9A24137D2FA6}" presName="bgRect" presStyleLbl="bgShp" presStyleIdx="5" presStyleCnt="6"/>
      <dgm:spPr/>
    </dgm:pt>
    <dgm:pt modelId="{A9474B31-F5CB-487B-985C-F49C2EE04063}" type="pres">
      <dgm:prSet presAssocID="{383B6AEE-680D-4EA3-AC0E-9A24137D2FA6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1579586B-AB35-4FFD-9DFF-921E3DAF0345}" type="pres">
      <dgm:prSet presAssocID="{383B6AEE-680D-4EA3-AC0E-9A24137D2FA6}" presName="spaceRect" presStyleCnt="0"/>
      <dgm:spPr/>
    </dgm:pt>
    <dgm:pt modelId="{F46BD285-6765-45A3-8F84-72A20F59A08F}" type="pres">
      <dgm:prSet presAssocID="{383B6AEE-680D-4EA3-AC0E-9A24137D2FA6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15631F0E-E590-B44C-B819-D0DA0C8EDF48}" type="presOf" srcId="{C134AFAB-E622-4260-AE41-2BE025BB4C81}" destId="{2028544D-300E-4370-A6BA-C1304B70B16D}" srcOrd="0" destOrd="0" presId="urn:microsoft.com/office/officeart/2018/2/layout/IconVerticalSolidList"/>
    <dgm:cxn modelId="{E642A211-2714-4234-9B17-DA8876E48602}" srcId="{90804750-19B7-4AFE-B3D9-7C34A5120010}" destId="{652A7DDC-E94C-4BA7-9D22-3406B67D37E0}" srcOrd="1" destOrd="0" parTransId="{EE105EBA-AABA-40FE-8E4E-CE10CAA1F5BA}" sibTransId="{9437D026-D2DE-423C-9174-7949E0EA48A4}"/>
    <dgm:cxn modelId="{59A0111C-A4B5-4E21-B240-1B2FD5571191}" srcId="{90804750-19B7-4AFE-B3D9-7C34A5120010}" destId="{64B2BB52-7D1A-4F06-86E1-675C55FE5617}" srcOrd="3" destOrd="0" parTransId="{E4B73BA8-E8CF-4040-ACA4-B5733B3F090A}" sibTransId="{1FB82493-7A7B-4946-A574-70FE3D48020C}"/>
    <dgm:cxn modelId="{C72A191E-5BC5-6543-8E63-C1D185FD9310}" type="presOf" srcId="{652A7DDC-E94C-4BA7-9D22-3406B67D37E0}" destId="{5A8BE8FE-3A68-4ACF-84DF-9DEE546A4C39}" srcOrd="0" destOrd="0" presId="urn:microsoft.com/office/officeart/2018/2/layout/IconVerticalSolidList"/>
    <dgm:cxn modelId="{D6474869-D87E-47C7-9D4E-838AA7CEDDA1}" srcId="{90804750-19B7-4AFE-B3D9-7C34A5120010}" destId="{61AAD36F-B927-4C03-BE00-A6D2A9E12FDB}" srcOrd="4" destOrd="0" parTransId="{B2BE65FE-6DC1-42FD-B630-EDFF28D3103E}" sibTransId="{D4981EBB-BE5E-4D67-903D-CAE3B1B715C5}"/>
    <dgm:cxn modelId="{D4990E71-C325-40CA-BE6D-DECD18A6F3CF}" srcId="{90804750-19B7-4AFE-B3D9-7C34A5120010}" destId="{957B820C-B5E8-4718-99BA-2731B6AEC693}" srcOrd="0" destOrd="0" parTransId="{EC4B40DB-E086-43FA-9435-C98825C2B7D8}" sibTransId="{39ED19FA-1933-434E-AF7A-0E8FFAE58620}"/>
    <dgm:cxn modelId="{11233F7D-1751-4CB7-A30E-63123AB65F77}" srcId="{90804750-19B7-4AFE-B3D9-7C34A5120010}" destId="{383B6AEE-680D-4EA3-AC0E-9A24137D2FA6}" srcOrd="5" destOrd="0" parTransId="{6717340C-A523-42AB-9DED-B18D57FC86CF}" sibTransId="{7A01264D-6151-42A2-8346-14A9D319F6FE}"/>
    <dgm:cxn modelId="{30BAA794-15EA-4FC8-82E8-3155A15935B9}" srcId="{90804750-19B7-4AFE-B3D9-7C34A5120010}" destId="{C134AFAB-E622-4260-AE41-2BE025BB4C81}" srcOrd="2" destOrd="0" parTransId="{107E3B44-E2C8-44EC-BED3-981A0FC6CBD7}" sibTransId="{68355551-FB7B-4F69-9F6B-098008046DB8}"/>
    <dgm:cxn modelId="{1D3B83A0-F61D-AC46-A1A6-6ED5C22518C7}" type="presOf" srcId="{61AAD36F-B927-4C03-BE00-A6D2A9E12FDB}" destId="{8F30B698-CA9A-4B6E-8732-B5A5C1550C9C}" srcOrd="0" destOrd="0" presId="urn:microsoft.com/office/officeart/2018/2/layout/IconVerticalSolidList"/>
    <dgm:cxn modelId="{23D4AAA3-9248-C24F-A7D5-B50038CC81E0}" type="presOf" srcId="{90804750-19B7-4AFE-B3D9-7C34A5120010}" destId="{03AC9644-CE3A-4B0A-923E-3D2DF82E2010}" srcOrd="0" destOrd="0" presId="urn:microsoft.com/office/officeart/2018/2/layout/IconVerticalSolidList"/>
    <dgm:cxn modelId="{397301A8-B02E-684A-A632-EA815A740F51}" type="presOf" srcId="{64B2BB52-7D1A-4F06-86E1-675C55FE5617}" destId="{50E7B540-2027-48C9-90B9-D7F39D3E5515}" srcOrd="0" destOrd="0" presId="urn:microsoft.com/office/officeart/2018/2/layout/IconVerticalSolidList"/>
    <dgm:cxn modelId="{060222E6-AC13-E541-ABD4-D0FDE379B415}" type="presOf" srcId="{957B820C-B5E8-4718-99BA-2731B6AEC693}" destId="{8F2721DD-F594-4835-B7A5-B5CEE98045A1}" srcOrd="0" destOrd="0" presId="urn:microsoft.com/office/officeart/2018/2/layout/IconVerticalSolidList"/>
    <dgm:cxn modelId="{18659FF9-9D0C-B448-8617-E8E60926AA4B}" type="presOf" srcId="{383B6AEE-680D-4EA3-AC0E-9A24137D2FA6}" destId="{F46BD285-6765-45A3-8F84-72A20F59A08F}" srcOrd="0" destOrd="0" presId="urn:microsoft.com/office/officeart/2018/2/layout/IconVerticalSolidList"/>
    <dgm:cxn modelId="{DF72605A-A72F-4E4A-A79C-AFB68DB3BF91}" type="presParOf" srcId="{03AC9644-CE3A-4B0A-923E-3D2DF82E2010}" destId="{3347C68A-8252-4A6B-8862-B47D49B69A50}" srcOrd="0" destOrd="0" presId="urn:microsoft.com/office/officeart/2018/2/layout/IconVerticalSolidList"/>
    <dgm:cxn modelId="{EEFF0B1D-6BA9-0F49-AE17-778088901E95}" type="presParOf" srcId="{3347C68A-8252-4A6B-8862-B47D49B69A50}" destId="{0F2DB207-E320-447A-B4A7-3A9300D441D1}" srcOrd="0" destOrd="0" presId="urn:microsoft.com/office/officeart/2018/2/layout/IconVerticalSolidList"/>
    <dgm:cxn modelId="{C614DCD9-29C7-3B49-AAC6-CC8BB11A4BBD}" type="presParOf" srcId="{3347C68A-8252-4A6B-8862-B47D49B69A50}" destId="{1C9967C1-2FEF-4AA5-9585-B341B8BAB325}" srcOrd="1" destOrd="0" presId="urn:microsoft.com/office/officeart/2018/2/layout/IconVerticalSolidList"/>
    <dgm:cxn modelId="{18BFBDF9-7710-F94C-ACFD-7A0B5056B22B}" type="presParOf" srcId="{3347C68A-8252-4A6B-8862-B47D49B69A50}" destId="{C304D866-E6A1-47AA-8AAB-21CCD5804933}" srcOrd="2" destOrd="0" presId="urn:microsoft.com/office/officeart/2018/2/layout/IconVerticalSolidList"/>
    <dgm:cxn modelId="{3D62464F-CD48-AD43-8F4E-BB4BEC08BD00}" type="presParOf" srcId="{3347C68A-8252-4A6B-8862-B47D49B69A50}" destId="{8F2721DD-F594-4835-B7A5-B5CEE98045A1}" srcOrd="3" destOrd="0" presId="urn:microsoft.com/office/officeart/2018/2/layout/IconVerticalSolidList"/>
    <dgm:cxn modelId="{C8CDB00B-A737-B24B-B5E1-51BBB81D0B9D}" type="presParOf" srcId="{03AC9644-CE3A-4B0A-923E-3D2DF82E2010}" destId="{E179E482-5E65-4416-87D1-6456A1F64730}" srcOrd="1" destOrd="0" presId="urn:microsoft.com/office/officeart/2018/2/layout/IconVerticalSolidList"/>
    <dgm:cxn modelId="{416406BA-58FA-FE42-9324-566FC04BFD4D}" type="presParOf" srcId="{03AC9644-CE3A-4B0A-923E-3D2DF82E2010}" destId="{01F2A698-6E94-4584-8C53-C277717B43F2}" srcOrd="2" destOrd="0" presId="urn:microsoft.com/office/officeart/2018/2/layout/IconVerticalSolidList"/>
    <dgm:cxn modelId="{995C1B35-036D-7C4E-872A-496A0462D346}" type="presParOf" srcId="{01F2A698-6E94-4584-8C53-C277717B43F2}" destId="{3D9CB0D5-6AFB-40E7-A382-E2D29E5F7E08}" srcOrd="0" destOrd="0" presId="urn:microsoft.com/office/officeart/2018/2/layout/IconVerticalSolidList"/>
    <dgm:cxn modelId="{E985B06C-D407-A741-8B06-77B8FB4C1D64}" type="presParOf" srcId="{01F2A698-6E94-4584-8C53-C277717B43F2}" destId="{D02B18CE-B8A5-48CC-BFC1-9D53B86C60E5}" srcOrd="1" destOrd="0" presId="urn:microsoft.com/office/officeart/2018/2/layout/IconVerticalSolidList"/>
    <dgm:cxn modelId="{26DFBEC8-A035-EE4A-9CEA-7ED33CB23A84}" type="presParOf" srcId="{01F2A698-6E94-4584-8C53-C277717B43F2}" destId="{2D9BC575-45EC-4708-AD80-DD86C797481C}" srcOrd="2" destOrd="0" presId="urn:microsoft.com/office/officeart/2018/2/layout/IconVerticalSolidList"/>
    <dgm:cxn modelId="{5E610FFD-9224-5846-9455-E79BDCD0E2A6}" type="presParOf" srcId="{01F2A698-6E94-4584-8C53-C277717B43F2}" destId="{5A8BE8FE-3A68-4ACF-84DF-9DEE546A4C39}" srcOrd="3" destOrd="0" presId="urn:microsoft.com/office/officeart/2018/2/layout/IconVerticalSolidList"/>
    <dgm:cxn modelId="{97E42915-4EEA-A149-AF1B-A0B15E0CC839}" type="presParOf" srcId="{03AC9644-CE3A-4B0A-923E-3D2DF82E2010}" destId="{97783A67-95B7-4F9B-AF2E-EDC179F456A9}" srcOrd="3" destOrd="0" presId="urn:microsoft.com/office/officeart/2018/2/layout/IconVerticalSolidList"/>
    <dgm:cxn modelId="{D766F983-8176-3E47-BDD3-7AD6D9B9CFEC}" type="presParOf" srcId="{03AC9644-CE3A-4B0A-923E-3D2DF82E2010}" destId="{451AD58A-B852-41FB-89FE-D7CF0800C7AB}" srcOrd="4" destOrd="0" presId="urn:microsoft.com/office/officeart/2018/2/layout/IconVerticalSolidList"/>
    <dgm:cxn modelId="{36BCA023-5029-9741-AAED-6FF605A4C2C1}" type="presParOf" srcId="{451AD58A-B852-41FB-89FE-D7CF0800C7AB}" destId="{78E7BB5D-ACFC-43A2-B8F4-ECF7F4B9FA7E}" srcOrd="0" destOrd="0" presId="urn:microsoft.com/office/officeart/2018/2/layout/IconVerticalSolidList"/>
    <dgm:cxn modelId="{2AB2D4DD-633E-7947-88A8-A02462A10802}" type="presParOf" srcId="{451AD58A-B852-41FB-89FE-D7CF0800C7AB}" destId="{624AAF13-4892-4F13-8243-8EEA87169B19}" srcOrd="1" destOrd="0" presId="urn:microsoft.com/office/officeart/2018/2/layout/IconVerticalSolidList"/>
    <dgm:cxn modelId="{1531A08F-BEDE-574A-A9FB-6B1655EDAEF6}" type="presParOf" srcId="{451AD58A-B852-41FB-89FE-D7CF0800C7AB}" destId="{80561CBF-1A34-4DB9-9C9F-774AC70EE23E}" srcOrd="2" destOrd="0" presId="urn:microsoft.com/office/officeart/2018/2/layout/IconVerticalSolidList"/>
    <dgm:cxn modelId="{9E7C90F6-A3E8-244A-A0C7-BE63137D63F4}" type="presParOf" srcId="{451AD58A-B852-41FB-89FE-D7CF0800C7AB}" destId="{2028544D-300E-4370-A6BA-C1304B70B16D}" srcOrd="3" destOrd="0" presId="urn:microsoft.com/office/officeart/2018/2/layout/IconVerticalSolidList"/>
    <dgm:cxn modelId="{B6B9BD55-6E23-4944-90FE-97C76E7554DB}" type="presParOf" srcId="{03AC9644-CE3A-4B0A-923E-3D2DF82E2010}" destId="{C404C9F8-9DEC-4917-9C5C-7D7203A9B082}" srcOrd="5" destOrd="0" presId="urn:microsoft.com/office/officeart/2018/2/layout/IconVerticalSolidList"/>
    <dgm:cxn modelId="{A351E201-5F9D-E149-B77D-DFB847C6687B}" type="presParOf" srcId="{03AC9644-CE3A-4B0A-923E-3D2DF82E2010}" destId="{1F170C15-CA12-4987-8038-882C58370E43}" srcOrd="6" destOrd="0" presId="urn:microsoft.com/office/officeart/2018/2/layout/IconVerticalSolidList"/>
    <dgm:cxn modelId="{15A61812-503A-654E-8F23-1236CF3CC038}" type="presParOf" srcId="{1F170C15-CA12-4987-8038-882C58370E43}" destId="{596937AB-992C-4424-A258-E0824D3E5233}" srcOrd="0" destOrd="0" presId="urn:microsoft.com/office/officeart/2018/2/layout/IconVerticalSolidList"/>
    <dgm:cxn modelId="{5E718552-581D-AE47-9476-3136322F1A6B}" type="presParOf" srcId="{1F170C15-CA12-4987-8038-882C58370E43}" destId="{C1353E0C-B4DE-46C2-9AE5-6D966B7BEAEC}" srcOrd="1" destOrd="0" presId="urn:microsoft.com/office/officeart/2018/2/layout/IconVerticalSolidList"/>
    <dgm:cxn modelId="{D36B326C-95F8-F945-A076-034BC3181E22}" type="presParOf" srcId="{1F170C15-CA12-4987-8038-882C58370E43}" destId="{BC357A05-9D1F-4489-8475-7F408F4B66C5}" srcOrd="2" destOrd="0" presId="urn:microsoft.com/office/officeart/2018/2/layout/IconVerticalSolidList"/>
    <dgm:cxn modelId="{7EFB4AE5-DAF5-6640-BD25-2997A3BF03BA}" type="presParOf" srcId="{1F170C15-CA12-4987-8038-882C58370E43}" destId="{50E7B540-2027-48C9-90B9-D7F39D3E5515}" srcOrd="3" destOrd="0" presId="urn:microsoft.com/office/officeart/2018/2/layout/IconVerticalSolidList"/>
    <dgm:cxn modelId="{5ED56281-9AC6-9043-AA8F-8246D9324D6B}" type="presParOf" srcId="{03AC9644-CE3A-4B0A-923E-3D2DF82E2010}" destId="{B28A263D-46E3-4E48-809B-87F8F17BEB17}" srcOrd="7" destOrd="0" presId="urn:microsoft.com/office/officeart/2018/2/layout/IconVerticalSolidList"/>
    <dgm:cxn modelId="{D1A34D4E-3370-6842-B1FD-9CB2052D3723}" type="presParOf" srcId="{03AC9644-CE3A-4B0A-923E-3D2DF82E2010}" destId="{EDF25190-3E4A-45A1-B47C-68742BC3CFD2}" srcOrd="8" destOrd="0" presId="urn:microsoft.com/office/officeart/2018/2/layout/IconVerticalSolidList"/>
    <dgm:cxn modelId="{82718ED4-3E15-F247-9C8F-B88241B49D0B}" type="presParOf" srcId="{EDF25190-3E4A-45A1-B47C-68742BC3CFD2}" destId="{CCE2FF6F-7353-4D23-9233-723B3503CAA4}" srcOrd="0" destOrd="0" presId="urn:microsoft.com/office/officeart/2018/2/layout/IconVerticalSolidList"/>
    <dgm:cxn modelId="{793DA3F5-5073-8E4C-BCAC-D4BC78D23840}" type="presParOf" srcId="{EDF25190-3E4A-45A1-B47C-68742BC3CFD2}" destId="{B7922449-0947-421B-B555-0B6AA5B4707E}" srcOrd="1" destOrd="0" presId="urn:microsoft.com/office/officeart/2018/2/layout/IconVerticalSolidList"/>
    <dgm:cxn modelId="{8F61402E-CEF6-DB43-BD78-2D77BA4ED09E}" type="presParOf" srcId="{EDF25190-3E4A-45A1-B47C-68742BC3CFD2}" destId="{6D59F124-4893-4093-B36F-AB80FB2ABF12}" srcOrd="2" destOrd="0" presId="urn:microsoft.com/office/officeart/2018/2/layout/IconVerticalSolidList"/>
    <dgm:cxn modelId="{D77CD1EB-224A-454C-8D04-CE22B06D28F3}" type="presParOf" srcId="{EDF25190-3E4A-45A1-B47C-68742BC3CFD2}" destId="{8F30B698-CA9A-4B6E-8732-B5A5C1550C9C}" srcOrd="3" destOrd="0" presId="urn:microsoft.com/office/officeart/2018/2/layout/IconVerticalSolidList"/>
    <dgm:cxn modelId="{D73F9F62-490A-6C47-8316-A8297BFEA58E}" type="presParOf" srcId="{03AC9644-CE3A-4B0A-923E-3D2DF82E2010}" destId="{BB992C12-99B4-4B5F-8CE6-40449F587444}" srcOrd="9" destOrd="0" presId="urn:microsoft.com/office/officeart/2018/2/layout/IconVerticalSolidList"/>
    <dgm:cxn modelId="{043A657E-7223-D147-8CE9-2176D8271A69}" type="presParOf" srcId="{03AC9644-CE3A-4B0A-923E-3D2DF82E2010}" destId="{039BBB07-8727-4694-8E91-E0AB88B70864}" srcOrd="10" destOrd="0" presId="urn:microsoft.com/office/officeart/2018/2/layout/IconVerticalSolidList"/>
    <dgm:cxn modelId="{BC230BBB-E609-2648-ABD0-3FDE90091CB5}" type="presParOf" srcId="{039BBB07-8727-4694-8E91-E0AB88B70864}" destId="{077C573B-0145-4201-9C3E-3C016C031A17}" srcOrd="0" destOrd="0" presId="urn:microsoft.com/office/officeart/2018/2/layout/IconVerticalSolidList"/>
    <dgm:cxn modelId="{1CBF903F-D60E-F14D-A93D-F139A6753257}" type="presParOf" srcId="{039BBB07-8727-4694-8E91-E0AB88B70864}" destId="{A9474B31-F5CB-487B-985C-F49C2EE04063}" srcOrd="1" destOrd="0" presId="urn:microsoft.com/office/officeart/2018/2/layout/IconVerticalSolidList"/>
    <dgm:cxn modelId="{C7171FA1-B365-9148-B64C-3B700FED7147}" type="presParOf" srcId="{039BBB07-8727-4694-8E91-E0AB88B70864}" destId="{1579586B-AB35-4FFD-9DFF-921E3DAF0345}" srcOrd="2" destOrd="0" presId="urn:microsoft.com/office/officeart/2018/2/layout/IconVerticalSolidList"/>
    <dgm:cxn modelId="{02D4A2F3-B14B-E949-B928-1B855B062B28}" type="presParOf" srcId="{039BBB07-8727-4694-8E91-E0AB88B70864}" destId="{F46BD285-6765-45A3-8F84-72A20F59A08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2DB207-E320-447A-B4A7-3A9300D441D1}">
      <dsp:nvSpPr>
        <dsp:cNvPr id="0" name=""/>
        <dsp:cNvSpPr/>
      </dsp:nvSpPr>
      <dsp:spPr>
        <a:xfrm>
          <a:off x="0" y="1828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9967C1-2FEF-4AA5-9585-B341B8BAB325}">
      <dsp:nvSpPr>
        <dsp:cNvPr id="0" name=""/>
        <dsp:cNvSpPr/>
      </dsp:nvSpPr>
      <dsp:spPr>
        <a:xfrm>
          <a:off x="235649" y="177104"/>
          <a:ext cx="428453" cy="42845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2721DD-F594-4835-B7A5-B5CEE98045A1}">
      <dsp:nvSpPr>
        <dsp:cNvPr id="0" name=""/>
        <dsp:cNvSpPr/>
      </dsp:nvSpPr>
      <dsp:spPr>
        <a:xfrm>
          <a:off x="899752" y="1828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I. Introducción y Caso de Estudio: Smart Poqueira</a:t>
          </a:r>
        </a:p>
      </dsp:txBody>
      <dsp:txXfrm>
        <a:off x="899752" y="1828"/>
        <a:ext cx="3972855" cy="779006"/>
      </dsp:txXfrm>
    </dsp:sp>
    <dsp:sp modelId="{3D9CB0D5-6AFB-40E7-A382-E2D29E5F7E08}">
      <dsp:nvSpPr>
        <dsp:cNvPr id="0" name=""/>
        <dsp:cNvSpPr/>
      </dsp:nvSpPr>
      <dsp:spPr>
        <a:xfrm>
          <a:off x="0" y="975585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2B18CE-B8A5-48CC-BFC1-9D53B86C60E5}">
      <dsp:nvSpPr>
        <dsp:cNvPr id="0" name=""/>
        <dsp:cNvSpPr/>
      </dsp:nvSpPr>
      <dsp:spPr>
        <a:xfrm>
          <a:off x="235649" y="1150862"/>
          <a:ext cx="428453" cy="42845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8BE8FE-3A68-4ACF-84DF-9DEE546A4C39}">
      <dsp:nvSpPr>
        <dsp:cNvPr id="0" name=""/>
        <dsp:cNvSpPr/>
      </dsp:nvSpPr>
      <dsp:spPr>
        <a:xfrm>
          <a:off x="899752" y="975585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II. Estado del Arte.</a:t>
          </a:r>
        </a:p>
      </dsp:txBody>
      <dsp:txXfrm>
        <a:off x="899752" y="975585"/>
        <a:ext cx="3972855" cy="779006"/>
      </dsp:txXfrm>
    </dsp:sp>
    <dsp:sp modelId="{78E7BB5D-ACFC-43A2-B8F4-ECF7F4B9FA7E}">
      <dsp:nvSpPr>
        <dsp:cNvPr id="0" name=""/>
        <dsp:cNvSpPr/>
      </dsp:nvSpPr>
      <dsp:spPr>
        <a:xfrm>
          <a:off x="0" y="1949343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4AAF13-4892-4F13-8243-8EEA87169B19}">
      <dsp:nvSpPr>
        <dsp:cNvPr id="0" name=""/>
        <dsp:cNvSpPr/>
      </dsp:nvSpPr>
      <dsp:spPr>
        <a:xfrm>
          <a:off x="235649" y="2124619"/>
          <a:ext cx="428453" cy="42845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28544D-300E-4370-A6BA-C1304B70B16D}">
      <dsp:nvSpPr>
        <dsp:cNvPr id="0" name=""/>
        <dsp:cNvSpPr/>
      </dsp:nvSpPr>
      <dsp:spPr>
        <a:xfrm>
          <a:off x="899752" y="1949343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III. Fundamentos Teóricos</a:t>
          </a:r>
        </a:p>
      </dsp:txBody>
      <dsp:txXfrm>
        <a:off x="899752" y="1949343"/>
        <a:ext cx="3972855" cy="779006"/>
      </dsp:txXfrm>
    </dsp:sp>
    <dsp:sp modelId="{596937AB-992C-4424-A258-E0824D3E5233}">
      <dsp:nvSpPr>
        <dsp:cNvPr id="0" name=""/>
        <dsp:cNvSpPr/>
      </dsp:nvSpPr>
      <dsp:spPr>
        <a:xfrm>
          <a:off x="0" y="2923101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353E0C-B4DE-46C2-9AE5-6D966B7BEAEC}">
      <dsp:nvSpPr>
        <dsp:cNvPr id="0" name=""/>
        <dsp:cNvSpPr/>
      </dsp:nvSpPr>
      <dsp:spPr>
        <a:xfrm>
          <a:off x="235649" y="3098377"/>
          <a:ext cx="428453" cy="42845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E7B540-2027-48C9-90B9-D7F39D3E5515}">
      <dsp:nvSpPr>
        <dsp:cNvPr id="0" name=""/>
        <dsp:cNvSpPr/>
      </dsp:nvSpPr>
      <dsp:spPr>
        <a:xfrm>
          <a:off x="899752" y="2923101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IV. Arquitectura Transformer y SAITS</a:t>
          </a:r>
        </a:p>
      </dsp:txBody>
      <dsp:txXfrm>
        <a:off x="899752" y="2923101"/>
        <a:ext cx="3972855" cy="779006"/>
      </dsp:txXfrm>
    </dsp:sp>
    <dsp:sp modelId="{CCE2FF6F-7353-4D23-9233-723B3503CAA4}">
      <dsp:nvSpPr>
        <dsp:cNvPr id="0" name=""/>
        <dsp:cNvSpPr/>
      </dsp:nvSpPr>
      <dsp:spPr>
        <a:xfrm>
          <a:off x="0" y="3896858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922449-0947-421B-B555-0B6AA5B4707E}">
      <dsp:nvSpPr>
        <dsp:cNvPr id="0" name=""/>
        <dsp:cNvSpPr/>
      </dsp:nvSpPr>
      <dsp:spPr>
        <a:xfrm>
          <a:off x="235649" y="4072135"/>
          <a:ext cx="428453" cy="42845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30B698-CA9A-4B6E-8732-B5A5C1550C9C}">
      <dsp:nvSpPr>
        <dsp:cNvPr id="0" name=""/>
        <dsp:cNvSpPr/>
      </dsp:nvSpPr>
      <dsp:spPr>
        <a:xfrm>
          <a:off x="899752" y="3896858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V. Resultados y Discusión</a:t>
          </a:r>
        </a:p>
      </dsp:txBody>
      <dsp:txXfrm>
        <a:off x="899752" y="3896858"/>
        <a:ext cx="3972855" cy="779006"/>
      </dsp:txXfrm>
    </dsp:sp>
    <dsp:sp modelId="{077C573B-0145-4201-9C3E-3C016C031A17}">
      <dsp:nvSpPr>
        <dsp:cNvPr id="0" name=""/>
        <dsp:cNvSpPr/>
      </dsp:nvSpPr>
      <dsp:spPr>
        <a:xfrm>
          <a:off x="0" y="4870616"/>
          <a:ext cx="4872608" cy="77900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474B31-F5CB-487B-985C-F49C2EE04063}">
      <dsp:nvSpPr>
        <dsp:cNvPr id="0" name=""/>
        <dsp:cNvSpPr/>
      </dsp:nvSpPr>
      <dsp:spPr>
        <a:xfrm>
          <a:off x="235649" y="5045893"/>
          <a:ext cx="428453" cy="42845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BD285-6765-45A3-8F84-72A20F59A08F}">
      <dsp:nvSpPr>
        <dsp:cNvPr id="0" name=""/>
        <dsp:cNvSpPr/>
      </dsp:nvSpPr>
      <dsp:spPr>
        <a:xfrm>
          <a:off x="899752" y="4870616"/>
          <a:ext cx="3972855" cy="7790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445" tIns="82445" rIns="82445" bIns="82445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VI. Conclusiones y Futuro</a:t>
          </a:r>
        </a:p>
      </dsp:txBody>
      <dsp:txXfrm>
        <a:off x="899752" y="4870616"/>
        <a:ext cx="3972855" cy="7790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22738" cy="347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387975" y="0"/>
            <a:ext cx="4122738" cy="347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E93B8F-0DA3-6E4E-B2FF-82B601A6C1B4}" type="datetimeFigureOut">
              <a:rPr lang="es-ES" smtClean="0"/>
              <a:t>14/6/25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3151188" y="866775"/>
            <a:ext cx="3209925" cy="2339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50913" y="3336925"/>
            <a:ext cx="7610475" cy="27305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86538"/>
            <a:ext cx="4122738" cy="347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387975" y="6586538"/>
            <a:ext cx="4122738" cy="347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A5E08-FD95-744A-A387-924B765345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5104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EA5E08-FD95-744A-A387-924B765345BD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9211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12329" y="42162"/>
            <a:ext cx="6655434" cy="714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27797" y="3883152"/>
            <a:ext cx="6663055" cy="1733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0" i="0">
                <a:solidFill>
                  <a:srgbClr val="33333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rgbClr val="0056B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200" b="0" i="0">
                <a:solidFill>
                  <a:srgbClr val="33333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rgbClr val="0056B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75932" y="1594866"/>
            <a:ext cx="4140612" cy="457657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902104" y="1594866"/>
            <a:ext cx="4140612" cy="457657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0" i="0">
                <a:solidFill>
                  <a:srgbClr val="0056B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A3E7A-F491-F74F-F583-94C5F39A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9038" y="2108312"/>
            <a:ext cx="7134225" cy="1440651"/>
          </a:xfrm>
        </p:spPr>
        <p:txBody>
          <a:bodyPr anchor="b"/>
          <a:lstStyle>
            <a:lvl1pPr algn="ctr">
              <a:defRPr sz="468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73306A-5A20-82F9-8C4A-308A8B5DA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9038" y="3642061"/>
            <a:ext cx="7134225" cy="288092"/>
          </a:xfrm>
        </p:spPr>
        <p:txBody>
          <a:bodyPr/>
          <a:lstStyle>
            <a:lvl1pPr marL="0" indent="0" algn="ctr">
              <a:buNone/>
              <a:defRPr sz="1872"/>
            </a:lvl1pPr>
            <a:lvl2pPr marL="356707" indent="0" algn="ctr">
              <a:buNone/>
              <a:defRPr sz="1560"/>
            </a:lvl2pPr>
            <a:lvl3pPr marL="713415" indent="0" algn="ctr">
              <a:buNone/>
              <a:defRPr sz="1404"/>
            </a:lvl3pPr>
            <a:lvl4pPr marL="1070122" indent="0" algn="ctr">
              <a:buNone/>
              <a:defRPr sz="1248"/>
            </a:lvl4pPr>
            <a:lvl5pPr marL="1426830" indent="0" algn="ctr">
              <a:buNone/>
              <a:defRPr sz="1248"/>
            </a:lvl5pPr>
            <a:lvl6pPr marL="1783537" indent="0" algn="ctr">
              <a:buNone/>
              <a:defRPr sz="1248"/>
            </a:lvl6pPr>
            <a:lvl7pPr marL="2140245" indent="0" algn="ctr">
              <a:buNone/>
              <a:defRPr sz="1248"/>
            </a:lvl7pPr>
            <a:lvl8pPr marL="2496952" indent="0" algn="ctr">
              <a:buNone/>
              <a:defRPr sz="1248"/>
            </a:lvl8pPr>
            <a:lvl9pPr marL="2853660" indent="0" algn="ctr">
              <a:buNone/>
              <a:defRPr sz="1248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ADE403-A1BB-1F49-6F84-6D582AD99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5932" y="6448806"/>
            <a:ext cx="2189289" cy="276999"/>
          </a:xfrm>
        </p:spPr>
        <p:txBody>
          <a:bodyPr/>
          <a:lstStyle/>
          <a:p>
            <a:fld id="{0D0A07B8-606A-0344-8E43-E5913B2D885B}" type="datetimeFigureOut">
              <a:rPr lang="es-ES" smtClean="0"/>
              <a:t>14/6/25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86014F-EA8B-3752-8A10-DE28F90A2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6341" y="6448806"/>
            <a:ext cx="3045968" cy="276999"/>
          </a:xfr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893A58-1412-3C67-178D-EEF14B362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5643" y="6656892"/>
            <a:ext cx="237490" cy="161583"/>
          </a:xfrm>
        </p:spPr>
        <p:txBody>
          <a:bodyPr/>
          <a:lstStyle/>
          <a:p>
            <a:fld id="{94626725-2603-8349-89C1-F401A3A4AB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11592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65459" y="2032887"/>
            <a:ext cx="8949055" cy="1343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6319" y="3253721"/>
            <a:ext cx="5962650" cy="1663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0" i="0">
                <a:solidFill>
                  <a:srgbClr val="333333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236341" y="6448806"/>
            <a:ext cx="3045968" cy="346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75932" y="6448806"/>
            <a:ext cx="2189289" cy="346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6/14/25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195643" y="6656892"/>
            <a:ext cx="237490" cy="168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‹Nº›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04D0F-799A-8CB5-E994-B8ECD4ED0F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2308" y="1104900"/>
            <a:ext cx="4847242" cy="2286000"/>
          </a:xfrm>
          <a:pattFill prst="pct10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80000">
            <a:normAutofit fontScale="90000"/>
          </a:bodyPr>
          <a:lstStyle/>
          <a:p>
            <a:r>
              <a:rPr lang="es-ES" sz="2809" dirty="0">
                <a:solidFill>
                  <a:schemeClr val="tx1"/>
                </a:solidFill>
              </a:rPr>
              <a:t>Imputación de Datos Faltantes de Variables Meteorológicas </a:t>
            </a:r>
            <a:br>
              <a:rPr lang="es-ES" sz="2809" dirty="0">
                <a:solidFill>
                  <a:schemeClr val="tx1"/>
                </a:solidFill>
              </a:rPr>
            </a:br>
            <a:r>
              <a:rPr lang="es-ES" sz="2809" dirty="0">
                <a:solidFill>
                  <a:schemeClr val="tx1"/>
                </a:solidFill>
              </a:rPr>
              <a:t>y de Contaminación en Series Temporales Multivariantes IoT</a:t>
            </a:r>
            <a:br>
              <a:rPr lang="es-ES" sz="2809" dirty="0">
                <a:solidFill>
                  <a:schemeClr val="tx1"/>
                </a:solidFill>
              </a:rPr>
            </a:br>
            <a:r>
              <a:rPr lang="es-ES" sz="2809" dirty="0">
                <a:solidFill>
                  <a:schemeClr val="tx1"/>
                </a:solidFill>
              </a:rPr>
              <a:t>con Modelos Transformer</a:t>
            </a:r>
          </a:p>
        </p:txBody>
      </p:sp>
      <p:pic>
        <p:nvPicPr>
          <p:cNvPr id="10" name="Imagen 9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F23DD4F6-E1C8-6CFD-F5CA-0574DDC6E9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987"/>
          <a:stretch>
            <a:fillRect/>
          </a:stretch>
        </p:blipFill>
        <p:spPr>
          <a:xfrm>
            <a:off x="6051550" y="1140822"/>
            <a:ext cx="2176985" cy="2170252"/>
          </a:xfrm>
          <a:prstGeom prst="rect">
            <a:avLst/>
          </a:prstGeom>
        </p:spPr>
      </p:pic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168944B4-0865-E259-2602-3D1526DF1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4361" y="4178655"/>
            <a:ext cx="1434754" cy="1755051"/>
          </a:xfrm>
          <a:prstGeom prst="rect">
            <a:avLst/>
          </a:prstGeom>
        </p:spPr>
      </p:pic>
      <p:pic>
        <p:nvPicPr>
          <p:cNvPr id="14" name="Imagen 13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1158DF63-9356-FAB7-7A2B-1D091A35B78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064"/>
          <a:stretch>
            <a:fillRect/>
          </a:stretch>
        </p:blipFill>
        <p:spPr>
          <a:xfrm>
            <a:off x="7203814" y="4125649"/>
            <a:ext cx="1655780" cy="1755051"/>
          </a:xfrm>
          <a:prstGeom prst="rect">
            <a:avLst/>
          </a:prstGeom>
        </p:spPr>
      </p:pic>
      <p:sp>
        <p:nvSpPr>
          <p:cNvPr id="35" name="CuadroTexto 34">
            <a:extLst>
              <a:ext uri="{FF2B5EF4-FFF2-40B4-BE49-F238E27FC236}">
                <a16:creationId xmlns:a16="http://schemas.microsoft.com/office/drawing/2014/main" id="{EBF6BA3D-2A57-1462-0568-3E36C62F348F}"/>
              </a:ext>
            </a:extLst>
          </p:cNvPr>
          <p:cNvSpPr txBox="1"/>
          <p:nvPr/>
        </p:nvSpPr>
        <p:spPr>
          <a:xfrm>
            <a:off x="476117" y="3771725"/>
            <a:ext cx="3974671" cy="210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72" dirty="0"/>
              <a:t>Ricardo Ruiz Fernández de Alba</a:t>
            </a:r>
          </a:p>
          <a:p>
            <a:r>
              <a:rPr lang="es-ES" sz="1872" dirty="0"/>
              <a:t>(ricardoruiz@correo.ugr.es)</a:t>
            </a:r>
          </a:p>
          <a:p>
            <a:endParaRPr lang="es-ES" sz="1872" dirty="0"/>
          </a:p>
          <a:p>
            <a:r>
              <a:rPr lang="es-ES" sz="1872" dirty="0"/>
              <a:t>Tutores:</a:t>
            </a:r>
          </a:p>
          <a:p>
            <a:pPr marL="267531" indent="-267531">
              <a:buFont typeface="Arial" panose="020B0604020202020204" pitchFamily="34" charset="0"/>
              <a:buChar char="•"/>
            </a:pPr>
            <a:r>
              <a:rPr lang="es-ES" sz="1872" dirty="0"/>
              <a:t>María del Campo Bermúdez Edo</a:t>
            </a:r>
          </a:p>
          <a:p>
            <a:pPr marL="267531" indent="-267531">
              <a:buFont typeface="Arial" panose="020B0604020202020204" pitchFamily="34" charset="0"/>
              <a:buChar char="•"/>
            </a:pPr>
            <a:r>
              <a:rPr lang="es-ES" sz="1872" dirty="0"/>
              <a:t>Daniel Bolaños Martínez</a:t>
            </a:r>
          </a:p>
          <a:p>
            <a:endParaRPr lang="es-ES" sz="1872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08360-268A-F462-221D-829F2B68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8045" y="5676900"/>
            <a:ext cx="4051617" cy="45719"/>
          </a:xfrm>
        </p:spPr>
        <p:txBody>
          <a:bodyPr/>
          <a:lstStyle/>
          <a:p>
            <a:fld id="{843254B4-8F0C-6B4E-99B3-35F038364705}" type="datetime2">
              <a:rPr lang="es-ES" smtClean="0"/>
              <a:t>sábado, 14 de junio de 2025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73106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405"/>
            <a:ext cx="9512300" cy="6934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4027" y="1082697"/>
            <a:ext cx="3073777" cy="5645161"/>
          </a:xfrm>
          <a:prstGeom prst="rect">
            <a:avLst/>
          </a:prstGeom>
        </p:spPr>
        <p:txBody>
          <a:bodyPr vert="horz" lIns="0" tIns="14604" rIns="0" bIns="0" rtlCol="0">
            <a:normAutofit/>
          </a:bodyPr>
          <a:lstStyle/>
          <a:p>
            <a:pPr marL="12700" algn="r">
              <a:spcBef>
                <a:spcPts val="114"/>
              </a:spcBef>
            </a:pPr>
            <a:r>
              <a:rPr lang="es-ES" sz="7100" spc="225"/>
              <a:t>Índice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88866" y="1144693"/>
            <a:ext cx="0" cy="578110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bject 4"/>
          <p:cNvSpPr/>
          <p:nvPr/>
        </p:nvSpPr>
        <p:spPr>
          <a:xfrm>
            <a:off x="9258299" y="6619874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714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171449" y="0"/>
                </a:lnTo>
                <a:lnTo>
                  <a:pt x="1714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7" name="object 3">
            <a:extLst>
              <a:ext uri="{FF2B5EF4-FFF2-40B4-BE49-F238E27FC236}">
                <a16:creationId xmlns:a16="http://schemas.microsoft.com/office/drawing/2014/main" id="{E3725C41-7AA8-5D2D-9D37-14660786C8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33597032"/>
              </p:ext>
            </p:extLst>
          </p:nvPr>
        </p:nvGraphicFramePr>
        <p:xfrm>
          <a:off x="3985721" y="1082697"/>
          <a:ext cx="4872608" cy="56514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58900" y="495300"/>
            <a:ext cx="7131050" cy="658322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2313305" marR="5080" indent="-2301240">
              <a:lnSpc>
                <a:spcPts val="4950"/>
              </a:lnSpc>
              <a:spcBef>
                <a:spcPts val="655"/>
              </a:spcBef>
            </a:pPr>
            <a:r>
              <a:rPr lang="es-ES" sz="2800" dirty="0"/>
              <a:t>Introducción: </a:t>
            </a:r>
            <a:r>
              <a:rPr sz="2800" spc="250" dirty="0"/>
              <a:t>Smart </a:t>
            </a:r>
            <a:r>
              <a:rPr sz="2800" spc="185" dirty="0"/>
              <a:t>Poqueira</a:t>
            </a:r>
          </a:p>
        </p:txBody>
      </p:sp>
      <p:pic>
        <p:nvPicPr>
          <p:cNvPr id="3" name="object 4">
            <a:extLst>
              <a:ext uri="{FF2B5EF4-FFF2-40B4-BE49-F238E27FC236}">
                <a16:creationId xmlns:a16="http://schemas.microsoft.com/office/drawing/2014/main" id="{A1FB269A-772F-F771-81EE-649666A18A8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1350" y="1562100"/>
            <a:ext cx="5530850" cy="4648200"/>
          </a:xfrm>
          <a:prstGeom prst="rect">
            <a:avLst/>
          </a:prstGeom>
        </p:spPr>
      </p:pic>
      <p:sp>
        <p:nvSpPr>
          <p:cNvPr id="4" name="object 3">
            <a:extLst>
              <a:ext uri="{FF2B5EF4-FFF2-40B4-BE49-F238E27FC236}">
                <a16:creationId xmlns:a16="http://schemas.microsoft.com/office/drawing/2014/main" id="{91A4AEFF-7E95-D77E-03BC-4AF427FDE57A}"/>
              </a:ext>
            </a:extLst>
          </p:cNvPr>
          <p:cNvSpPr txBox="1">
            <a:spLocks/>
          </p:cNvSpPr>
          <p:nvPr/>
        </p:nvSpPr>
        <p:spPr>
          <a:xfrm>
            <a:off x="6661150" y="2257172"/>
            <a:ext cx="2286000" cy="103169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25"/>
              </a:spcBef>
            </a:pPr>
            <a:r>
              <a:rPr lang="es-ES" sz="2200" spc="10" dirty="0">
                <a:solidFill>
                  <a:srgbClr val="333333"/>
                </a:solidFill>
                <a:latin typeface="Microsoft Sans Serif"/>
                <a:cs typeface="Microsoft Sans Serif"/>
              </a:rPr>
              <a:t>Proyecto</a:t>
            </a:r>
            <a:r>
              <a:rPr lang="es-ES" sz="2200" spc="114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lang="es-ES" sz="2200" spc="1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10" dirty="0">
                <a:solidFill>
                  <a:srgbClr val="333333"/>
                </a:solidFill>
                <a:latin typeface="Microsoft Sans Serif"/>
                <a:cs typeface="Microsoft Sans Serif"/>
              </a:rPr>
              <a:t>investigación</a:t>
            </a:r>
            <a:r>
              <a:rPr lang="es-ES" sz="2200" spc="114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-90" dirty="0">
                <a:solidFill>
                  <a:srgbClr val="333333"/>
                </a:solidFill>
                <a:latin typeface="Microsoft Sans Serif"/>
                <a:cs typeface="Microsoft Sans Serif"/>
              </a:rPr>
              <a:t>UGR.</a:t>
            </a:r>
            <a:endParaRPr lang="es-ES" sz="2200" dirty="0">
              <a:latin typeface="Microsoft Sans Serif"/>
              <a:cs typeface="Microsoft Sans Serif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9105CCF7-16E9-CFCE-A4FE-C149BB810021}"/>
              </a:ext>
            </a:extLst>
          </p:cNvPr>
          <p:cNvSpPr txBox="1"/>
          <p:nvPr/>
        </p:nvSpPr>
        <p:spPr>
          <a:xfrm>
            <a:off x="6661150" y="3652955"/>
            <a:ext cx="2438400" cy="1746632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220"/>
              </a:spcBef>
            </a:pPr>
            <a:r>
              <a:rPr sz="2200" spc="50" dirty="0">
                <a:solidFill>
                  <a:srgbClr val="333333"/>
                </a:solidFill>
                <a:latin typeface="Microsoft Sans Serif"/>
                <a:cs typeface="Microsoft Sans Serif"/>
              </a:rPr>
              <a:t>Infraestructura</a:t>
            </a:r>
            <a:r>
              <a:rPr sz="2200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45" dirty="0">
                <a:solidFill>
                  <a:srgbClr val="333333"/>
                </a:solidFill>
                <a:latin typeface="Microsoft Sans Serif"/>
                <a:cs typeface="Microsoft Sans Serif"/>
              </a:rPr>
              <a:t>IoT: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endParaRPr lang="es-ES" sz="2200" spc="-55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 marL="355600" marR="5080" indent="-342900">
              <a:lnSpc>
                <a:spcPts val="2630"/>
              </a:lnSpc>
              <a:spcBef>
                <a:spcPts val="220"/>
              </a:spcBef>
              <a:buFont typeface="Arial" panose="020B0604020202020204" pitchFamily="34" charset="0"/>
              <a:buChar char="•"/>
            </a:pP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Cámaras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80" dirty="0">
                <a:solidFill>
                  <a:srgbClr val="333333"/>
                </a:solidFill>
                <a:latin typeface="Microsoft Sans Serif"/>
                <a:cs typeface="Microsoft Sans Serif"/>
              </a:rPr>
              <a:t>LPR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(tráfico),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endParaRPr lang="es-ES" sz="2200" spc="-55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 marL="355600" marR="5080" indent="-342900">
              <a:lnSpc>
                <a:spcPts val="2630"/>
              </a:lnSpc>
              <a:spcBef>
                <a:spcPts val="220"/>
              </a:spcBef>
              <a:buFont typeface="Arial" panose="020B0604020202020204" pitchFamily="34" charset="0"/>
              <a:buChar char="•"/>
            </a:pP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unidad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móvil (contaminación).</a:t>
            </a:r>
            <a:endParaRPr sz="220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96" y="703080"/>
            <a:ext cx="7762231" cy="668068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400935" marR="5080" indent="-2388870">
              <a:lnSpc>
                <a:spcPts val="4880"/>
              </a:lnSpc>
              <a:spcBef>
                <a:spcPts val="715"/>
              </a:spcBef>
            </a:pPr>
            <a:r>
              <a:rPr sz="3600" dirty="0"/>
              <a:t>El</a:t>
            </a:r>
            <a:r>
              <a:rPr sz="3600" spc="210" dirty="0"/>
              <a:t> </a:t>
            </a:r>
            <a:r>
              <a:rPr sz="3600" spc="105" dirty="0"/>
              <a:t>Desafío</a:t>
            </a:r>
            <a:r>
              <a:rPr sz="3600" spc="210" dirty="0"/>
              <a:t> </a:t>
            </a:r>
            <a:r>
              <a:rPr sz="3600" spc="185" dirty="0"/>
              <a:t>de</a:t>
            </a:r>
            <a:r>
              <a:rPr sz="3600" spc="210" dirty="0"/>
              <a:t> </a:t>
            </a:r>
            <a:r>
              <a:rPr sz="3600" spc="55" dirty="0"/>
              <a:t>los</a:t>
            </a:r>
            <a:r>
              <a:rPr lang="es-ES" sz="3600" spc="215" dirty="0"/>
              <a:t> Datos</a:t>
            </a:r>
            <a:r>
              <a:rPr lang="es-ES" sz="3600" spc="150" dirty="0"/>
              <a:t> </a:t>
            </a:r>
            <a:r>
              <a:rPr sz="3600" spc="160" dirty="0"/>
              <a:t>Faltantes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41214" y="5251530"/>
            <a:ext cx="8103447" cy="437299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0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Problema:</a:t>
            </a:r>
            <a:r>
              <a:rPr sz="2200" spc="1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300" b="1" spc="-80" dirty="0">
                <a:solidFill>
                  <a:srgbClr val="0056B3"/>
                </a:solidFill>
                <a:latin typeface="Arial"/>
                <a:cs typeface="Arial"/>
              </a:rPr>
              <a:t>Datos</a:t>
            </a:r>
            <a:r>
              <a:rPr sz="2300" b="1" spc="10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z="2300" b="1" spc="-70" dirty="0">
                <a:solidFill>
                  <a:srgbClr val="0056B3"/>
                </a:solidFill>
                <a:latin typeface="Arial"/>
                <a:cs typeface="Arial"/>
              </a:rPr>
              <a:t>Faltantes</a:t>
            </a:r>
            <a:r>
              <a:rPr sz="2300" b="1" spc="75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(missing</a:t>
            </a:r>
            <a:r>
              <a:rPr sz="2200" spc="1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data).</a:t>
            </a:r>
            <a:endParaRPr lang="es-ES" sz="2200" spc="-10" dirty="0">
              <a:solidFill>
                <a:srgbClr val="333333"/>
              </a:solidFill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258299" y="6619873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714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171449" y="0"/>
                </a:lnTo>
                <a:lnTo>
                  <a:pt x="1714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DB484F0-1C25-8C58-8BED-94766A606918}"/>
              </a:ext>
            </a:extLst>
          </p:cNvPr>
          <p:cNvSpPr txBox="1"/>
          <p:nvPr/>
        </p:nvSpPr>
        <p:spPr>
          <a:xfrm>
            <a:off x="841214" y="1682670"/>
            <a:ext cx="795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El dataset original está constituido por dos series temporales multivariantes.</a:t>
            </a: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4F7697F9-F91D-09AE-E052-A68E2504C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73413"/>
              </p:ext>
            </p:extLst>
          </p:nvPr>
        </p:nvGraphicFramePr>
        <p:xfrm>
          <a:off x="704426" y="2138999"/>
          <a:ext cx="810344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47">
                  <a:extLst>
                    <a:ext uri="{9D8B030D-6E8A-4147-A177-3AD203B41FA5}">
                      <a16:colId xmlns:a16="http://schemas.microsoft.com/office/drawing/2014/main" val="3235780697"/>
                    </a:ext>
                  </a:extLst>
                </a:gridCol>
                <a:gridCol w="1835931">
                  <a:extLst>
                    <a:ext uri="{9D8B030D-6E8A-4147-A177-3AD203B41FA5}">
                      <a16:colId xmlns:a16="http://schemas.microsoft.com/office/drawing/2014/main" val="845933476"/>
                    </a:ext>
                  </a:extLst>
                </a:gridCol>
                <a:gridCol w="1048292">
                  <a:extLst>
                    <a:ext uri="{9D8B030D-6E8A-4147-A177-3AD203B41FA5}">
                      <a16:colId xmlns:a16="http://schemas.microsoft.com/office/drawing/2014/main" val="1590853686"/>
                    </a:ext>
                  </a:extLst>
                </a:gridCol>
                <a:gridCol w="1348756">
                  <a:extLst>
                    <a:ext uri="{9D8B030D-6E8A-4147-A177-3AD203B41FA5}">
                      <a16:colId xmlns:a16="http://schemas.microsoft.com/office/drawing/2014/main" val="233942164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025631781"/>
                    </a:ext>
                  </a:extLst>
                </a:gridCol>
                <a:gridCol w="1253421">
                  <a:extLst>
                    <a:ext uri="{9D8B030D-6E8A-4147-A177-3AD203B41FA5}">
                      <a16:colId xmlns:a16="http://schemas.microsoft.com/office/drawing/2014/main" val="3869085358"/>
                    </a:ext>
                  </a:extLst>
                </a:gridCol>
              </a:tblGrid>
              <a:tr h="870495">
                <a:tc>
                  <a:txBody>
                    <a:bodyPr/>
                    <a:lstStyle/>
                    <a:p>
                      <a:r>
                        <a:rPr lang="es-ES" dirty="0"/>
                        <a:t>Periodo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Filas x Columnas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Datos Totales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Datos Obtenidos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Datos Faltantes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Porcentaje Datos faltantes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573162"/>
                  </a:ext>
                </a:extLst>
              </a:tr>
              <a:tr h="870495">
                <a:tc>
                  <a:txBody>
                    <a:bodyPr/>
                    <a:lstStyle/>
                    <a:p>
                      <a:r>
                        <a:rPr lang="es-ES" dirty="0"/>
                        <a:t>1er: 18/01/2023-14/03/2023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1332x114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194742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151848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42894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28.3%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29473"/>
                  </a:ext>
                </a:extLst>
              </a:tr>
              <a:tr h="870495">
                <a:tc>
                  <a:txBody>
                    <a:bodyPr/>
                    <a:lstStyle/>
                    <a:p>
                      <a:r>
                        <a:rPr lang="es-ES" dirty="0"/>
                        <a:t>2do: 07/06/2023-26/06/2023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480x114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70400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54720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15680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28.7%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1620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BE80173-208B-C377-81C7-5D9EC247B3CD}"/>
              </a:ext>
            </a:extLst>
          </p:cNvPr>
          <p:cNvSpPr txBox="1"/>
          <p:nvPr/>
        </p:nvSpPr>
        <p:spPr>
          <a:xfrm>
            <a:off x="1250950" y="551017"/>
            <a:ext cx="685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Las 15 variables con mayor incidencia de valores faltantes en el Periodo 1</a:t>
            </a:r>
          </a:p>
        </p:txBody>
      </p:sp>
      <p:pic>
        <p:nvPicPr>
          <p:cNvPr id="12" name="Imagen 11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8E5C3659-6BF3-E750-9366-333E1AB9F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454" y="1333500"/>
            <a:ext cx="8639391" cy="507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67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509921" cy="6934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Diana">
            <a:extLst>
              <a:ext uri="{FF2B5EF4-FFF2-40B4-BE49-F238E27FC236}">
                <a16:creationId xmlns:a16="http://schemas.microsoft.com/office/drawing/2014/main" id="{76566501-03ED-BFAF-FC66-5CD14580E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99150" y="5284755"/>
            <a:ext cx="935105" cy="93510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65150" y="3289560"/>
            <a:ext cx="4616549" cy="293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R="5080" algn="l" rtl="0">
              <a:lnSpc>
                <a:spcPct val="90000"/>
              </a:lnSpc>
              <a:spcBef>
                <a:spcPts val="325"/>
              </a:spcBef>
            </a:pPr>
            <a:r>
              <a:rPr lang="en-US" b="1" kern="1200" spc="-11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Principal:</a:t>
            </a:r>
            <a:r>
              <a:rPr lang="en-US" b="1" kern="1200" spc="-7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 </a:t>
            </a:r>
            <a:r>
              <a:rPr lang="en-US" kern="1200" spc="-7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Estudio de Modelos Transformer para imputar</a:t>
            </a:r>
            <a:r>
              <a:rPr lang="en-US" kern="1200" spc="-4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datos</a:t>
            </a:r>
            <a:r>
              <a:rPr lang="en-US" kern="1200" spc="-4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spc="-145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IoT.</a:t>
            </a:r>
          </a:p>
          <a:p>
            <a:pPr marR="5080" algn="l" rtl="0">
              <a:lnSpc>
                <a:spcPct val="90000"/>
              </a:lnSpc>
              <a:spcBef>
                <a:spcPts val="325"/>
              </a:spcBef>
            </a:pPr>
            <a:endParaRPr lang="en-US" kern="1200" spc="-145" dirty="0">
              <a:solidFill>
                <a:schemeClr val="tx1"/>
              </a:solidFill>
              <a:latin typeface="Microsoft Sans Serif" panose="020B0604020202020204" pitchFamily="34" charset="0"/>
              <a:ea typeface="+mn-ea"/>
              <a:cs typeface="Microsoft Sans Serif" panose="020B0604020202020204" pitchFamily="34" charset="0"/>
            </a:endParaRPr>
          </a:p>
          <a:p>
            <a:pPr marR="5080" algn="l" rtl="0">
              <a:lnSpc>
                <a:spcPct val="90000"/>
              </a:lnSpc>
              <a:spcBef>
                <a:spcPts val="325"/>
              </a:spcBef>
            </a:pPr>
            <a:r>
              <a:rPr lang="en-US" b="1" kern="1200" spc="-7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Específicos:</a:t>
            </a:r>
          </a:p>
          <a:p>
            <a:pPr marR="5080" algn="l" rtl="0">
              <a:lnSpc>
                <a:spcPct val="90000"/>
              </a:lnSpc>
              <a:spcBef>
                <a:spcPts val="325"/>
              </a:spcBef>
            </a:pPr>
            <a:endParaRPr lang="en-US" kern="1200" dirty="0">
              <a:solidFill>
                <a:schemeClr val="tx1"/>
              </a:solidFill>
              <a:latin typeface="Microsoft Sans Serif" panose="020B0604020202020204" pitchFamily="34" charset="0"/>
              <a:ea typeface="+mn-ea"/>
              <a:cs typeface="Microsoft Sans Serif" panose="020B0604020202020204" pitchFamily="34" charset="0"/>
            </a:endParaRPr>
          </a:p>
          <a:p>
            <a:pPr marL="434975" indent="-228600" algn="l" rtl="0">
              <a:lnSpc>
                <a:spcPct val="90000"/>
              </a:lnSpc>
              <a:spcBef>
                <a:spcPts val="1430"/>
              </a:spcBef>
              <a:buFont typeface="Arial" panose="020B0604020202020204" pitchFamily="34" charset="0"/>
              <a:buChar char="•"/>
              <a:tabLst>
                <a:tab pos="434975" algn="l"/>
              </a:tabLst>
            </a:pPr>
            <a:r>
              <a:rPr lang="en-US" kern="1200" spc="-1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Análisis del Estado del Arte. </a:t>
            </a:r>
          </a:p>
          <a:p>
            <a:pPr marL="434975" indent="-228600" algn="l" rtl="0">
              <a:lnSpc>
                <a:spcPct val="90000"/>
              </a:lnSpc>
              <a:spcBef>
                <a:spcPts val="1430"/>
              </a:spcBef>
              <a:buFont typeface="Arial" panose="020B0604020202020204" pitchFamily="34" charset="0"/>
              <a:buChar char="•"/>
              <a:tabLst>
                <a:tab pos="434975" algn="l"/>
              </a:tabLst>
            </a:pP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Fundamentación Teórica (Matemáticas – ML/DL)</a:t>
            </a:r>
          </a:p>
          <a:p>
            <a:pPr marL="434975" indent="-228600" algn="l" rtl="0">
              <a:lnSpc>
                <a:spcPct val="90000"/>
              </a:lnSpc>
              <a:spcBef>
                <a:spcPts val="585"/>
              </a:spcBef>
              <a:buFont typeface="Arial" panose="020B0604020202020204" pitchFamily="34" charset="0"/>
              <a:buChar char="•"/>
              <a:tabLst>
                <a:tab pos="434975" algn="l"/>
              </a:tabLst>
            </a:pP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Desarrollo</a:t>
            </a:r>
            <a:r>
              <a:rPr lang="en-US" kern="1200" spc="1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spc="6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del</a:t>
            </a:r>
            <a:r>
              <a:rPr lang="en-US" kern="1200" spc="1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Pipeline</a:t>
            </a:r>
            <a:r>
              <a:rPr lang="en-US" kern="1200" spc="1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y</a:t>
            </a:r>
            <a:r>
              <a:rPr lang="en-US" kern="1200" spc="1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Paquete</a:t>
            </a:r>
            <a:r>
              <a:rPr lang="en-US" kern="1200" spc="1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spc="-1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Python.</a:t>
            </a:r>
            <a:endParaRPr lang="en-US" kern="1200" dirty="0">
              <a:solidFill>
                <a:schemeClr val="tx1"/>
              </a:solidFill>
              <a:latin typeface="Microsoft Sans Serif" panose="020B0604020202020204" pitchFamily="34" charset="0"/>
              <a:ea typeface="+mn-ea"/>
              <a:cs typeface="Microsoft Sans Serif" panose="020B0604020202020204" pitchFamily="34" charset="0"/>
            </a:endParaRPr>
          </a:p>
          <a:p>
            <a:pPr marL="434975" indent="-228600" algn="l" rtl="0">
              <a:lnSpc>
                <a:spcPct val="90000"/>
              </a:lnSpc>
              <a:spcBef>
                <a:spcPts val="585"/>
              </a:spcBef>
              <a:buFont typeface="Arial" panose="020B0604020202020204" pitchFamily="34" charset="0"/>
              <a:buChar char="•"/>
              <a:tabLst>
                <a:tab pos="434975" algn="l"/>
              </a:tabLst>
            </a:pP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Evaluación</a:t>
            </a:r>
            <a:r>
              <a:rPr lang="en-US" kern="1200" spc="-5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spc="6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de</a:t>
            </a:r>
            <a:r>
              <a:rPr lang="en-US" kern="120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 </a:t>
            </a:r>
            <a:r>
              <a:rPr lang="en-US" kern="1200" spc="40" dirty="0">
                <a:solidFill>
                  <a:schemeClr val="tx1"/>
                </a:solidFill>
                <a:latin typeface="Microsoft Sans Serif" panose="020B0604020202020204" pitchFamily="34" charset="0"/>
                <a:ea typeface="+mn-ea"/>
                <a:cs typeface="Microsoft Sans Serif" panose="020B0604020202020204" pitchFamily="34" charset="0"/>
              </a:rPr>
              <a:t>Rendimiento.</a:t>
            </a:r>
            <a:endParaRPr lang="en-US" kern="1200" dirty="0">
              <a:solidFill>
                <a:schemeClr val="tx1"/>
              </a:solidFill>
              <a:latin typeface="Microsoft Sans Serif" panose="020B0604020202020204" pitchFamily="34" charset="0"/>
              <a:ea typeface="+mn-ea"/>
              <a:cs typeface="Microsoft Sans Serif" panose="020B0604020202020204" pitchFamily="34" charset="0"/>
            </a:endParaRPr>
          </a:p>
        </p:txBody>
      </p:sp>
      <p:pic>
        <p:nvPicPr>
          <p:cNvPr id="11" name="Graphic 10" descr="Diana">
            <a:extLst>
              <a:ext uri="{FF2B5EF4-FFF2-40B4-BE49-F238E27FC236}">
                <a16:creationId xmlns:a16="http://schemas.microsoft.com/office/drawing/2014/main" id="{4830A103-0984-4D3E-90FE-B20EA5FA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99" y="1428678"/>
            <a:ext cx="4076844" cy="407684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xfrm>
            <a:off x="6718061" y="6426976"/>
            <a:ext cx="2140268" cy="3691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 rtl="0">
              <a:spcAft>
                <a:spcPts val="600"/>
              </a:spcAft>
            </a:pPr>
            <a:fld id="{81D60167-4931-47E6-BA6A-407CBD079E47}" type="slidenum">
              <a:rPr lang="en-US" sz="1200" kern="1200" spc="-5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algn="r" rtl="0">
                <a:spcAft>
                  <a:spcPts val="600"/>
                </a:spcAft>
              </a:pPr>
              <a:t>6</a:t>
            </a:fld>
            <a:endParaRPr lang="en-US" sz="1200" kern="1200" spc="-5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58299" y="6619873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714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171449" y="0"/>
                </a:lnTo>
                <a:lnTo>
                  <a:pt x="1714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2418B0-1FFA-029D-39A3-52156696F037}"/>
              </a:ext>
            </a:extLst>
          </p:cNvPr>
          <p:cNvSpPr txBox="1"/>
          <p:nvPr/>
        </p:nvSpPr>
        <p:spPr>
          <a:xfrm>
            <a:off x="565150" y="1638301"/>
            <a:ext cx="4616549" cy="129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50"/>
              </a:spcBef>
            </a:pPr>
            <a:r>
              <a:rPr lang="es-ES" sz="18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Pregunta de investigación:</a:t>
            </a:r>
          </a:p>
          <a:p>
            <a:pPr marL="12700">
              <a:lnSpc>
                <a:spcPct val="100000"/>
              </a:lnSpc>
              <a:spcBef>
                <a:spcPts val="650"/>
              </a:spcBef>
            </a:pPr>
            <a:r>
              <a:rPr lang="es-ES" sz="18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¿En qué medida los métodos de imputación pueden recuperar eficazmente los valores faltantes? ¿Y Transformer?</a:t>
            </a:r>
            <a:endParaRPr lang="es-ES" sz="1800" dirty="0">
              <a:latin typeface="Microsoft Sans Serif"/>
              <a:cs typeface="Microsoft Sans Serif"/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1E476370-FDFB-B7FD-023E-48D7F2D7C92F}"/>
              </a:ext>
            </a:extLst>
          </p:cNvPr>
          <p:cNvSpPr txBox="1">
            <a:spLocks/>
          </p:cNvSpPr>
          <p:nvPr/>
        </p:nvSpPr>
        <p:spPr>
          <a:xfrm>
            <a:off x="2093537" y="600738"/>
            <a:ext cx="5322845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14"/>
              </a:spcBef>
            </a:pPr>
            <a:r>
              <a:rPr lang="es-ES" sz="3200" spc="15" dirty="0"/>
              <a:t>Objetivos del Trabajo</a:t>
            </a:r>
            <a:endParaRPr lang="es-ES" sz="3200" spc="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31950" y="723900"/>
            <a:ext cx="6172199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s-ES" sz="3200" spc="50" dirty="0"/>
              <a:t>El Problema de la Imputación</a:t>
            </a:r>
            <a:endParaRPr sz="3200" spc="50" dirty="0"/>
          </a:p>
        </p:txBody>
      </p:sp>
      <p:sp>
        <p:nvSpPr>
          <p:cNvPr id="8" name="object 8"/>
          <p:cNvSpPr/>
          <p:nvPr/>
        </p:nvSpPr>
        <p:spPr>
          <a:xfrm>
            <a:off x="9258299" y="6619873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714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171449" y="0"/>
                </a:lnTo>
                <a:lnTo>
                  <a:pt x="1714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1760">
              <a:lnSpc>
                <a:spcPts val="1120"/>
              </a:lnSpc>
            </a:pPr>
            <a:fld id="{81D60167-4931-47E6-BA6A-407CBD079E47}" type="slidenum">
              <a:rPr spc="-50" dirty="0"/>
              <a:t>7</a:t>
            </a:fld>
            <a:endParaRPr spc="-5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A7007AA-8240-1640-96C8-F7982D9805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904" y="1519304"/>
            <a:ext cx="4214290" cy="507189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" name="Imagen 11" descr="Forma&#10;&#10;El contenido generado por IA puede ser incorrecto.">
            <a:extLst>
              <a:ext uri="{FF2B5EF4-FFF2-40B4-BE49-F238E27FC236}">
                <a16:creationId xmlns:a16="http://schemas.microsoft.com/office/drawing/2014/main" id="{80939A15-500B-B7F2-485A-5560757D2C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85" y="3690518"/>
            <a:ext cx="970403" cy="369332"/>
          </a:xfrm>
          <a:prstGeom prst="rect">
            <a:avLst/>
          </a:prstGeom>
        </p:spPr>
      </p:pic>
      <p:pic>
        <p:nvPicPr>
          <p:cNvPr id="14" name="Imagen 13" descr="Forma&#10;&#10;El contenido generado por IA puede ser incorrecto.">
            <a:extLst>
              <a:ext uri="{FF2B5EF4-FFF2-40B4-BE49-F238E27FC236}">
                <a16:creationId xmlns:a16="http://schemas.microsoft.com/office/drawing/2014/main" id="{2994C987-A133-E74C-10FD-83A074D376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85" y="5204889"/>
            <a:ext cx="667226" cy="304800"/>
          </a:xfrm>
          <a:prstGeom prst="rect">
            <a:avLst/>
          </a:prstGeom>
        </p:spPr>
      </p:pic>
      <p:pic>
        <p:nvPicPr>
          <p:cNvPr id="16" name="Imagen 15" descr="Forma&#10;&#10;El contenido generado por IA puede ser incorrecto.">
            <a:extLst>
              <a:ext uri="{FF2B5EF4-FFF2-40B4-BE49-F238E27FC236}">
                <a16:creationId xmlns:a16="http://schemas.microsoft.com/office/drawing/2014/main" id="{C628DAD4-0038-1BDC-B1A1-83F6D6FEC8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682" y="4409326"/>
            <a:ext cx="649431" cy="236772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19375600-B0BA-6932-67EE-CE0F14E0D1EA}"/>
              </a:ext>
            </a:extLst>
          </p:cNvPr>
          <p:cNvSpPr txBox="1"/>
          <p:nvPr/>
        </p:nvSpPr>
        <p:spPr>
          <a:xfrm>
            <a:off x="1898796" y="5230230"/>
            <a:ext cx="5893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Tensor de orden tres con los valores imputados 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5B5BE0E-5DE8-A00E-0661-38B7D2BE68D4}"/>
              </a:ext>
            </a:extLst>
          </p:cNvPr>
          <p:cNvSpPr txBox="1"/>
          <p:nvPr/>
        </p:nvSpPr>
        <p:spPr>
          <a:xfrm>
            <a:off x="1999721" y="3612225"/>
            <a:ext cx="5436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Tensor de orden tres con los valores faltantes: naturales y artificiales</a:t>
            </a:r>
          </a:p>
        </p:txBody>
      </p:sp>
      <p:pic>
        <p:nvPicPr>
          <p:cNvPr id="21" name="Imagen 20" descr="Forma&#10;&#10;El contenido generado por IA puede ser incorrecto.">
            <a:extLst>
              <a:ext uri="{FF2B5EF4-FFF2-40B4-BE49-F238E27FC236}">
                <a16:creationId xmlns:a16="http://schemas.microsoft.com/office/drawing/2014/main" id="{8006FE00-0A50-A67D-03B6-3C11E627FC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70" y="2295138"/>
            <a:ext cx="667226" cy="369332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373E4678-8E8A-C79E-F8BD-6A1D679A3C84}"/>
              </a:ext>
            </a:extLst>
          </p:cNvPr>
          <p:cNvSpPr txBox="1"/>
          <p:nvPr/>
        </p:nvSpPr>
        <p:spPr>
          <a:xfrm>
            <a:off x="2105189" y="2216516"/>
            <a:ext cx="4840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Tensor de orden tres con los valores observados y los faltantes.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21805AB-E7D8-E005-00F0-BD1EAC25C9D1}"/>
              </a:ext>
            </a:extLst>
          </p:cNvPr>
          <p:cNvSpPr txBox="1"/>
          <p:nvPr/>
        </p:nvSpPr>
        <p:spPr>
          <a:xfrm>
            <a:off x="604742" y="3052870"/>
            <a:ext cx="7019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Al eliminar deliberadamente un porcentaje de valores observados: 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01E1637-9445-0D5A-71FD-EF29E900719A}"/>
              </a:ext>
            </a:extLst>
          </p:cNvPr>
          <p:cNvSpPr txBox="1"/>
          <p:nvPr/>
        </p:nvSpPr>
        <p:spPr>
          <a:xfrm>
            <a:off x="1999721" y="4281991"/>
            <a:ext cx="50333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Máscara binaria que indica con 1s donde se eliminaron valores artificialmente y 0s donde hay valores observados o faltantes naturales.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C786BD2-3653-4D8B-E084-B120CB07F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2950" y="2616215"/>
            <a:ext cx="4972050" cy="398053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451909A-38BD-3977-FECD-D9394D06B523}"/>
              </a:ext>
            </a:extLst>
          </p:cNvPr>
          <p:cNvSpPr txBox="1"/>
          <p:nvPr/>
        </p:nvSpPr>
        <p:spPr>
          <a:xfrm>
            <a:off x="946150" y="1638300"/>
            <a:ext cx="78556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 eliminación artificial permite comparar los valores imputados con su valor verdadero (ground truth) mediante diversas métricas de error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DBF83DEC-0C5F-D8BD-9C35-B8DC6702C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0985" y="608587"/>
            <a:ext cx="8915400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s-ES" sz="3200" spc="50" dirty="0"/>
              <a:t>El Problema de la Imputación: Evaluación.</a:t>
            </a:r>
            <a:endParaRPr sz="3200" spc="5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E36AF3E4-FAFC-197C-5E69-E979573FD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70" y="3413790"/>
            <a:ext cx="6430534" cy="707092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7DAD493E-3469-88A5-0F4A-2CA5D747B1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63" y="4178638"/>
            <a:ext cx="6324600" cy="727300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68135ED4-B6D6-853B-FB90-07E421A201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583" y="5033981"/>
            <a:ext cx="6262881" cy="689371"/>
          </a:xfrm>
          <a:prstGeom prst="rect">
            <a:avLst/>
          </a:prstGeom>
        </p:spPr>
      </p:pic>
      <p:sp>
        <p:nvSpPr>
          <p:cNvPr id="34" name="CuadroTexto 33">
            <a:extLst>
              <a:ext uri="{FF2B5EF4-FFF2-40B4-BE49-F238E27FC236}">
                <a16:creationId xmlns:a16="http://schemas.microsoft.com/office/drawing/2014/main" id="{2AFA26C7-6A61-CAA5-6B43-917705000AE3}"/>
              </a:ext>
            </a:extLst>
          </p:cNvPr>
          <p:cNvSpPr txBox="1"/>
          <p:nvPr/>
        </p:nvSpPr>
        <p:spPr>
          <a:xfrm>
            <a:off x="662255" y="4114106"/>
            <a:ext cx="546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43" name="Imagen 42" descr="Forma&#10;&#10;El contenido generado por IA puede ser incorrecto.">
            <a:extLst>
              <a:ext uri="{FF2B5EF4-FFF2-40B4-BE49-F238E27FC236}">
                <a16:creationId xmlns:a16="http://schemas.microsoft.com/office/drawing/2014/main" id="{20A84500-1537-F163-C112-57EAD80EA6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63" y="5892151"/>
            <a:ext cx="1762330" cy="24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77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D2468A-A8DA-4624-AFBC-FEA1308FC4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7750" y="1638300"/>
            <a:ext cx="4470400" cy="546100"/>
          </a:xfrm>
          <a:prstGeom prst="rect">
            <a:avLst/>
          </a:prstGeom>
        </p:spPr>
      </p:pic>
      <p:sp>
        <p:nvSpPr>
          <p:cNvPr id="20" name="object 2">
            <a:extLst>
              <a:ext uri="{FF2B5EF4-FFF2-40B4-BE49-F238E27FC236}">
                <a16:creationId xmlns:a16="http://schemas.microsoft.com/office/drawing/2014/main" id="{60575185-E1DE-6612-5115-4A1A052A3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6900" y="495300"/>
            <a:ext cx="7512050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s-ES" sz="3200" spc="50" dirty="0"/>
              <a:t>Taxonomía de Métodos de Imputación</a:t>
            </a:r>
            <a:endParaRPr sz="3200" spc="5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97AEC7F-C66D-9F9B-593A-D6A582B9A098}"/>
              </a:ext>
            </a:extLst>
          </p:cNvPr>
          <p:cNvSpPr txBox="1"/>
          <p:nvPr/>
        </p:nvSpPr>
        <p:spPr>
          <a:xfrm>
            <a:off x="1082842" y="3019926"/>
            <a:ext cx="672130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Estacionarios (</a:t>
            </a:r>
            <a:r>
              <a:rPr lang="es-ES" b="1" dirty="0"/>
              <a:t>Media, Mediana</a:t>
            </a:r>
            <a:r>
              <a:rPr lang="es-E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Con Información Local (</a:t>
            </a:r>
            <a:r>
              <a:rPr lang="es-ES" b="1" dirty="0"/>
              <a:t>Ffill, Bfill, Linear</a:t>
            </a:r>
            <a:r>
              <a:rPr lang="es-E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Modelos: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4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8E4F631-FBDE-0EFA-0F48-549509FFC2B3}"/>
              </a:ext>
            </a:extLst>
          </p:cNvPr>
          <p:cNvSpPr txBox="1"/>
          <p:nvPr/>
        </p:nvSpPr>
        <p:spPr>
          <a:xfrm>
            <a:off x="1860550" y="4000500"/>
            <a:ext cx="426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Regresión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Autoregresivos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Basados en Matrices: Hankel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DL: Transformers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953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1DD32D47-B441-6451-BE57-D9DD2C23ED41}"/>
              </a:ext>
            </a:extLst>
          </p:cNvPr>
          <p:cNvSpPr txBox="1">
            <a:spLocks/>
          </p:cNvSpPr>
          <p:nvPr/>
        </p:nvSpPr>
        <p:spPr>
          <a:xfrm>
            <a:off x="1555750" y="393852"/>
            <a:ext cx="6705600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14"/>
              </a:spcBef>
            </a:pPr>
            <a:r>
              <a:rPr lang="es-ES" sz="3200" spc="50" dirty="0"/>
              <a:t>Taxonomía. Estacionarios</a:t>
            </a:r>
          </a:p>
        </p:txBody>
      </p:sp>
      <p:pic>
        <p:nvPicPr>
          <p:cNvPr id="7" name="Imagen 6" descr="Forma&#10;&#10;El contenido generado por IA puede ser incorrecto.">
            <a:extLst>
              <a:ext uri="{FF2B5EF4-FFF2-40B4-BE49-F238E27FC236}">
                <a16:creationId xmlns:a16="http://schemas.microsoft.com/office/drawing/2014/main" id="{9CD0C602-14BF-6495-B378-BEC8DD8E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0" y="1768642"/>
            <a:ext cx="4204164" cy="963632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F0433D5-DA40-4A4C-B721-21BF0585DE0D}"/>
              </a:ext>
            </a:extLst>
          </p:cNvPr>
          <p:cNvSpPr txBox="1"/>
          <p:nvPr/>
        </p:nvSpPr>
        <p:spPr>
          <a:xfrm>
            <a:off x="1155032" y="1768642"/>
            <a:ext cx="1364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Media</a:t>
            </a:r>
            <a:r>
              <a:rPr lang="es-ES" dirty="0"/>
              <a:t>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739377F-E18F-4198-FC24-7A9D32595967}"/>
              </a:ext>
            </a:extLst>
          </p:cNvPr>
          <p:cNvSpPr txBox="1"/>
          <p:nvPr/>
        </p:nvSpPr>
        <p:spPr>
          <a:xfrm>
            <a:off x="1155032" y="4067590"/>
            <a:ext cx="175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Mediana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1481887-ADE6-F2BC-CBE7-F566294CD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1" y="4264374"/>
            <a:ext cx="3276600" cy="33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62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4249AC-7E71-8BEA-DFC1-8A901CA036A5}"/>
              </a:ext>
            </a:extLst>
          </p:cNvPr>
          <p:cNvSpPr txBox="1"/>
          <p:nvPr/>
        </p:nvSpPr>
        <p:spPr>
          <a:xfrm>
            <a:off x="374763" y="3842654"/>
            <a:ext cx="3248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dirty="0"/>
              <a:t>Backward Fill o NOCB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E8F5506C-BD1F-E33E-E7D5-6AA4313BD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37" y="4572130"/>
            <a:ext cx="5597693" cy="77209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1CFB601-A6C3-D9C3-F60B-DA4785A9C2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0" y="5842868"/>
            <a:ext cx="4759492" cy="23943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00511DC-42CF-6402-B241-A936784FFF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9" r="27153"/>
          <a:stretch>
            <a:fillRect/>
          </a:stretch>
        </p:blipFill>
        <p:spPr>
          <a:xfrm>
            <a:off x="6297256" y="4248887"/>
            <a:ext cx="2971800" cy="2190676"/>
          </a:xfrm>
          <a:prstGeom prst="rect">
            <a:avLst/>
          </a:prstGeom>
        </p:spPr>
      </p:pic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6E9E8885-A255-9E4C-8FC1-393151DFF7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0" y="1619153"/>
            <a:ext cx="5597695" cy="77209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EC63A-B9E0-7B7F-330E-C50B3FFE0E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58" y="2946420"/>
            <a:ext cx="4935703" cy="24588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41A5882-F72C-CD60-E047-71131E9CDFD6}"/>
              </a:ext>
            </a:extLst>
          </p:cNvPr>
          <p:cNvSpPr txBox="1"/>
          <p:nvPr/>
        </p:nvSpPr>
        <p:spPr>
          <a:xfrm>
            <a:off x="520637" y="906186"/>
            <a:ext cx="2956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dirty="0"/>
              <a:t>Forward Fill o LOCF</a:t>
            </a:r>
          </a:p>
        </p:txBody>
      </p:sp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72615CB2-FF06-58D7-DCA7-EE03551B7F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1" t="-1189" r="28416" b="1189"/>
          <a:stretch>
            <a:fillRect/>
          </a:stretch>
        </p:blipFill>
        <p:spPr>
          <a:xfrm>
            <a:off x="6297256" y="1251635"/>
            <a:ext cx="2971800" cy="2253565"/>
          </a:xfrm>
          <a:prstGeom prst="rect">
            <a:avLst/>
          </a:prstGeom>
        </p:spPr>
      </p:pic>
      <p:sp>
        <p:nvSpPr>
          <p:cNvPr id="14" name="object 2">
            <a:extLst>
              <a:ext uri="{FF2B5EF4-FFF2-40B4-BE49-F238E27FC236}">
                <a16:creationId xmlns:a16="http://schemas.microsoft.com/office/drawing/2014/main" id="{B9F71914-C399-FB37-9932-E52F7AE9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55750" y="393852"/>
            <a:ext cx="6705600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s-ES" sz="3200" spc="50" dirty="0"/>
              <a:t>Taxonomía. Información Local</a:t>
            </a:r>
            <a:endParaRPr sz="3200" spc="50" dirty="0"/>
          </a:p>
        </p:txBody>
      </p:sp>
    </p:spTree>
    <p:extLst>
      <p:ext uri="{BB962C8B-B14F-4D97-AF65-F5344CB8AC3E}">
        <p14:creationId xmlns:p14="http://schemas.microsoft.com/office/powerpoint/2010/main" val="2554254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8CFBB6B8-FFD9-5B2F-69C6-F5746B5D8D71}"/>
              </a:ext>
            </a:extLst>
          </p:cNvPr>
          <p:cNvSpPr txBox="1">
            <a:spLocks/>
          </p:cNvSpPr>
          <p:nvPr/>
        </p:nvSpPr>
        <p:spPr>
          <a:xfrm>
            <a:off x="1555750" y="393852"/>
            <a:ext cx="6705600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14"/>
              </a:spcBef>
            </a:pPr>
            <a:r>
              <a:rPr lang="es-ES" sz="3200" spc="50" dirty="0"/>
              <a:t>Taxonomía. Interpolación Lineal</a:t>
            </a:r>
          </a:p>
        </p:txBody>
      </p:sp>
      <p:pic>
        <p:nvPicPr>
          <p:cNvPr id="6" name="Imagen 5" descr="Forma&#10;&#10;El contenido generado por IA puede ser incorrecto.">
            <a:extLst>
              <a:ext uri="{FF2B5EF4-FFF2-40B4-BE49-F238E27FC236}">
                <a16:creationId xmlns:a16="http://schemas.microsoft.com/office/drawing/2014/main" id="{C0E9190C-978C-D330-D9A4-49B8CF89B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51" y="1733086"/>
            <a:ext cx="5257800" cy="948624"/>
          </a:xfrm>
          <a:prstGeom prst="rect">
            <a:avLst/>
          </a:prstGeom>
        </p:spPr>
      </p:pic>
      <p:pic>
        <p:nvPicPr>
          <p:cNvPr id="8" name="Imagen 7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F7A32C4-D047-1CD7-9CC0-2897EE098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8750" y="3162300"/>
            <a:ext cx="2870200" cy="287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546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66330F66-25B1-936A-BCBF-C0A7DB829A14}"/>
              </a:ext>
            </a:extLst>
          </p:cNvPr>
          <p:cNvSpPr txBox="1">
            <a:spLocks/>
          </p:cNvSpPr>
          <p:nvPr/>
        </p:nvSpPr>
        <p:spPr>
          <a:xfrm>
            <a:off x="1555750" y="393852"/>
            <a:ext cx="6705600" cy="999632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>
            <a:lvl1pPr>
              <a:defRPr sz="4500" b="0" i="0">
                <a:solidFill>
                  <a:srgbClr val="0056B3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14"/>
              </a:spcBef>
            </a:pPr>
            <a:r>
              <a:rPr lang="es-ES" sz="3200" spc="50" dirty="0"/>
              <a:t>Taxonomía. Basados en Matrices: Hankel Imputation</a:t>
            </a:r>
          </a:p>
        </p:txBody>
      </p:sp>
      <p:pic>
        <p:nvPicPr>
          <p:cNvPr id="7" name="Imagen 6" descr="Forma&#10;&#10;El contenido generado por IA puede ser incorrecto.">
            <a:extLst>
              <a:ext uri="{FF2B5EF4-FFF2-40B4-BE49-F238E27FC236}">
                <a16:creationId xmlns:a16="http://schemas.microsoft.com/office/drawing/2014/main" id="{85ECF4B4-5AAF-2F8E-0C97-34C30EE04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413" y="2667448"/>
            <a:ext cx="6705600" cy="1599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8AA321C-EA10-D412-5A27-92279108DA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413" y="5067300"/>
            <a:ext cx="6320924" cy="425375"/>
          </a:xfrm>
          <a:prstGeom prst="rect">
            <a:avLst/>
          </a:prstGeom>
        </p:spPr>
      </p:pic>
      <p:pic>
        <p:nvPicPr>
          <p:cNvPr id="3" name="Imagen 2" descr="Forma&#10;&#10;El contenido generado por IA puede ser incorrecto.">
            <a:extLst>
              <a:ext uri="{FF2B5EF4-FFF2-40B4-BE49-F238E27FC236}">
                <a16:creationId xmlns:a16="http://schemas.microsoft.com/office/drawing/2014/main" id="{9C216489-88CB-E15C-7B7F-88973C1EF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550" y="1748380"/>
            <a:ext cx="2592001" cy="358548"/>
          </a:xfrm>
          <a:prstGeom prst="rect">
            <a:avLst/>
          </a:prstGeom>
        </p:spPr>
      </p:pic>
      <p:pic>
        <p:nvPicPr>
          <p:cNvPr id="6" name="Imagen 5" descr="Forma&#10;&#10;El contenido generado por IA puede ser incorrecto.">
            <a:extLst>
              <a:ext uri="{FF2B5EF4-FFF2-40B4-BE49-F238E27FC236}">
                <a16:creationId xmlns:a16="http://schemas.microsoft.com/office/drawing/2014/main" id="{1D0B4ACD-479E-7933-D7F0-B280FA595B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5550" y="4359907"/>
            <a:ext cx="1677722" cy="213623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58595E37-FB31-7A9F-2F5D-A54D8E1BEC7E}"/>
              </a:ext>
            </a:extLst>
          </p:cNvPr>
          <p:cNvSpPr txBox="1"/>
          <p:nvPr/>
        </p:nvSpPr>
        <p:spPr>
          <a:xfrm>
            <a:off x="536875" y="175333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Serie Temporal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5FE7E9B-1302-1891-F974-6DCD9ADEF47E}"/>
              </a:ext>
            </a:extLst>
          </p:cNvPr>
          <p:cNvSpPr txBox="1"/>
          <p:nvPr/>
        </p:nvSpPr>
        <p:spPr>
          <a:xfrm>
            <a:off x="1250265" y="5900948"/>
            <a:ext cx="8003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: Norma nuclear, suma valores singulares</a:t>
            </a:r>
          </a:p>
        </p:txBody>
      </p:sp>
      <p:pic>
        <p:nvPicPr>
          <p:cNvPr id="13" name="Imagen 12" descr="Forma&#10;&#10;El contenido generado por IA puede ser incorrecto.">
            <a:extLst>
              <a:ext uri="{FF2B5EF4-FFF2-40B4-BE49-F238E27FC236}">
                <a16:creationId xmlns:a16="http://schemas.microsoft.com/office/drawing/2014/main" id="{C6E953F0-CD0F-3B00-BC4E-08CB81909A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07" y="5923891"/>
            <a:ext cx="729658" cy="36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108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8949" y="331981"/>
            <a:ext cx="8653643" cy="1251433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472055" marR="5080" indent="-2459990" algn="l">
              <a:lnSpc>
                <a:spcPts val="4880"/>
              </a:lnSpc>
              <a:spcBef>
                <a:spcPts val="715"/>
              </a:spcBef>
            </a:pPr>
            <a:r>
              <a:rPr lang="es-ES" sz="3200" spc="204" dirty="0"/>
              <a:t>Del Machine Learning al Deep Learning</a:t>
            </a:r>
            <a:br>
              <a:rPr lang="es-ES" sz="3200" spc="204" dirty="0"/>
            </a:b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5518150" y="2164348"/>
            <a:ext cx="2590800" cy="380232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2000" b="1" spc="-75" dirty="0">
                <a:solidFill>
                  <a:srgbClr val="0056B3"/>
                </a:solidFill>
                <a:latin typeface="Arial"/>
                <a:cs typeface="Arial"/>
              </a:rPr>
              <a:t>Perceptrón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258299" y="6619871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714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171449" y="0"/>
                </a:lnTo>
                <a:lnTo>
                  <a:pt x="1714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9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44A1928-1699-F3D1-A329-CA0FBD79DFED}"/>
              </a:ext>
            </a:extLst>
          </p:cNvPr>
          <p:cNvSpPr txBox="1"/>
          <p:nvPr/>
        </p:nvSpPr>
        <p:spPr>
          <a:xfrm>
            <a:off x="5137150" y="5038891"/>
            <a:ext cx="254779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spc="-135" dirty="0">
                <a:solidFill>
                  <a:srgbClr val="0056B3"/>
                </a:solidFill>
                <a:latin typeface="Arial"/>
                <a:cs typeface="Arial"/>
              </a:rPr>
              <a:t>Otros modelos:</a:t>
            </a:r>
          </a:p>
          <a:p>
            <a:endParaRPr lang="es-ES" sz="2000" b="1" spc="-135" dirty="0">
              <a:solidFill>
                <a:srgbClr val="0056B3"/>
              </a:solidFill>
              <a:latin typeface="Arial"/>
              <a:cs typeface="Arial"/>
            </a:endParaRPr>
          </a:p>
          <a:p>
            <a:r>
              <a:rPr lang="es-ES" sz="2000" b="1" spc="-135" dirty="0">
                <a:solidFill>
                  <a:srgbClr val="0056B3"/>
                </a:solidFill>
                <a:latin typeface="Arial"/>
                <a:cs typeface="Arial"/>
              </a:rPr>
              <a:t>RNN (LSTM), GRU</a:t>
            </a:r>
            <a:endParaRPr lang="es-ES" sz="2000" dirty="0">
              <a:latin typeface="Arial"/>
              <a:cs typeface="Arial"/>
            </a:endParaRPr>
          </a:p>
        </p:txBody>
      </p:sp>
      <p:pic>
        <p:nvPicPr>
          <p:cNvPr id="17" name="Imagen 16" descr="Diagrama&#10;&#10;El contenido generado por IA puede ser incorrecto.">
            <a:extLst>
              <a:ext uri="{FF2B5EF4-FFF2-40B4-BE49-F238E27FC236}">
                <a16:creationId xmlns:a16="http://schemas.microsoft.com/office/drawing/2014/main" id="{241C876D-BFA4-5F62-8053-4E9166CD85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56" y="1583414"/>
            <a:ext cx="4651698" cy="175578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C3D4593-A717-5F35-D5B4-2DBA0C2337F4}"/>
              </a:ext>
            </a:extLst>
          </p:cNvPr>
          <p:cNvSpPr txBox="1"/>
          <p:nvPr/>
        </p:nvSpPr>
        <p:spPr>
          <a:xfrm>
            <a:off x="5137150" y="3855086"/>
            <a:ext cx="3980308" cy="71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116799"/>
              </a:lnSpc>
            </a:pPr>
            <a:r>
              <a:rPr lang="es-ES" sz="1800" b="1" spc="-100" dirty="0">
                <a:solidFill>
                  <a:srgbClr val="0056B3"/>
                </a:solidFill>
                <a:latin typeface="Arial"/>
                <a:cs typeface="Arial"/>
              </a:rPr>
              <a:t>MLP</a:t>
            </a:r>
            <a:r>
              <a:rPr lang="es-ES" b="1" spc="-100" dirty="0">
                <a:solidFill>
                  <a:srgbClr val="0056B3"/>
                </a:solidFill>
                <a:latin typeface="Arial"/>
                <a:cs typeface="Arial"/>
              </a:rPr>
              <a:t>: Perceptrón Multicapa</a:t>
            </a:r>
            <a:endParaRPr lang="es-ES" sz="1800" b="1" spc="-100" dirty="0">
              <a:solidFill>
                <a:srgbClr val="0056B3"/>
              </a:solidFill>
              <a:latin typeface="Arial"/>
              <a:cs typeface="Arial"/>
            </a:endParaRPr>
          </a:p>
          <a:p>
            <a:pPr marL="12700" marR="5080">
              <a:lnSpc>
                <a:spcPct val="116799"/>
              </a:lnSpc>
            </a:pPr>
            <a:r>
              <a:rPr lang="es-ES" sz="1800" b="1" spc="-100" dirty="0">
                <a:solidFill>
                  <a:srgbClr val="0056B3"/>
                </a:solidFill>
                <a:latin typeface="Arial"/>
                <a:cs typeface="Arial"/>
              </a:rPr>
              <a:t>FFNN:</a:t>
            </a:r>
            <a:r>
              <a:rPr lang="es-ES" sz="1800" b="1" spc="-110" dirty="0">
                <a:solidFill>
                  <a:srgbClr val="0056B3"/>
                </a:solidFill>
                <a:latin typeface="Arial"/>
                <a:cs typeface="Arial"/>
              </a:rPr>
              <a:t> Feed Forward Neural Network</a:t>
            </a:r>
            <a:endParaRPr lang="es-ES" sz="1800" dirty="0">
              <a:latin typeface="Arial"/>
              <a:cs typeface="Arial"/>
            </a:endParaRPr>
          </a:p>
        </p:txBody>
      </p:sp>
      <p:pic>
        <p:nvPicPr>
          <p:cNvPr id="21" name="Imagen 20" descr="Diagrama&#10;&#10;El contenido generado por IA puede ser incorrecto.">
            <a:extLst>
              <a:ext uri="{FF2B5EF4-FFF2-40B4-BE49-F238E27FC236}">
                <a16:creationId xmlns:a16="http://schemas.microsoft.com/office/drawing/2014/main" id="{E3F78D56-1385-BD8F-3C9C-1A2DD0D464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00" y="3444931"/>
            <a:ext cx="3980308" cy="28923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56579" y="384498"/>
            <a:ext cx="4233640" cy="6214959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4306" y="334743"/>
            <a:ext cx="6209665" cy="634917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57860" marR="5080" indent="-645795">
              <a:lnSpc>
                <a:spcPts val="4950"/>
              </a:lnSpc>
              <a:spcBef>
                <a:spcPts val="655"/>
              </a:spcBef>
            </a:pPr>
            <a:r>
              <a:rPr lang="es-ES" sz="2400" spc="50" dirty="0"/>
              <a:t>Arquitectura del </a:t>
            </a:r>
            <a:r>
              <a:rPr sz="2400" spc="175" dirty="0"/>
              <a:t>Transformer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4D7256E-859A-E718-2951-AFCD5D22BD3D}"/>
              </a:ext>
            </a:extLst>
          </p:cNvPr>
          <p:cNvSpPr txBox="1"/>
          <p:nvPr/>
        </p:nvSpPr>
        <p:spPr>
          <a:xfrm>
            <a:off x="522081" y="1339628"/>
            <a:ext cx="3928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De “Attention is All You Need”, 2017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15381FA-AD4D-FAFD-C8EB-C0B6D69E6D90}"/>
              </a:ext>
            </a:extLst>
          </p:cNvPr>
          <p:cNvSpPr txBox="1"/>
          <p:nvPr/>
        </p:nvSpPr>
        <p:spPr>
          <a:xfrm>
            <a:off x="487712" y="2056104"/>
            <a:ext cx="39261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Conocido por su aplicación al campo </a:t>
            </a:r>
          </a:p>
          <a:p>
            <a:r>
              <a:rPr lang="es-ES" sz="1600" dirty="0"/>
              <a:t>Del NLP.</a:t>
            </a:r>
          </a:p>
          <a:p>
            <a:endParaRPr lang="es-ES" sz="1600" dirty="0"/>
          </a:p>
        </p:txBody>
      </p:sp>
      <p:pic>
        <p:nvPicPr>
          <p:cNvPr id="15" name="Imagen 14" descr="Diagrama&#10;&#10;El contenido generado por IA puede ser incorrecto.">
            <a:extLst>
              <a:ext uri="{FF2B5EF4-FFF2-40B4-BE49-F238E27FC236}">
                <a16:creationId xmlns:a16="http://schemas.microsoft.com/office/drawing/2014/main" id="{7C162391-3123-175D-E185-445AC8E18E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99" b="95134" l="9963" r="89944">
                        <a14:foregroundMark x1="57169" y1="67114" x2="70298" y2="67785"/>
                        <a14:foregroundMark x1="55587" y1="56040" x2="80074" y2="53020"/>
                        <a14:foregroundMark x1="56331" y1="30201" x2="71508" y2="30872"/>
                        <a14:foregroundMark x1="56797" y1="39094" x2="64153" y2="39765"/>
                        <a14:foregroundMark x1="14618" y1="30872" x2="31006" y2="31711"/>
                        <a14:foregroundMark x1="22812" y1="30201" x2="29330" y2="30201"/>
                        <a14:foregroundMark x1="12570" y1="39094" x2="28492" y2="39765"/>
                        <a14:foregroundMark x1="28492" y1="39765" x2="31006" y2="39094"/>
                        <a14:foregroundMark x1="13873" y1="47148" x2="31006" y2="47987"/>
                        <a14:foregroundMark x1="12570" y1="67114" x2="28957" y2="67785"/>
                        <a14:foregroundMark x1="17505" y1="58221" x2="29330" y2="58893"/>
                        <a14:foregroundMark x1="41620" y1="31711" x2="44507" y2="39094"/>
                        <a14:foregroundMark x1="33892" y1="25000" x2="49721" y2="25000"/>
                        <a14:foregroundMark x1="49721" y1="25000" x2="51862" y2="28020"/>
                        <a14:foregroundMark x1="38734" y1="30201" x2="46834" y2="56376"/>
                        <a14:foregroundMark x1="46834" y1="56376" x2="49814" y2="61242"/>
                        <a14:foregroundMark x1="39572" y1="27349" x2="60428" y2="46477"/>
                        <a14:foregroundMark x1="39572" y1="30201" x2="59218" y2="50839"/>
                        <a14:foregroundMark x1="41620" y1="34564" x2="59218" y2="65604"/>
                        <a14:foregroundMark x1="40037" y1="43456" x2="52235" y2="62081"/>
                        <a14:foregroundMark x1="52235" y1="62081" x2="52700" y2="63423"/>
                        <a14:foregroundMark x1="46182" y1="64094" x2="54749" y2="71477"/>
                        <a14:foregroundMark x1="41620" y1="46477" x2="50652" y2="75839"/>
                        <a14:foregroundMark x1="37151" y1="23658" x2="53631" y2="24832"/>
                        <a14:foregroundMark x1="53631" y1="24832" x2="53911" y2="25000"/>
                        <a14:foregroundMark x1="27281" y1="23658" x2="43575" y2="21309"/>
                        <a14:foregroundMark x1="43575" y1="21309" x2="44134" y2="21309"/>
                        <a14:foregroundMark x1="23277" y1="29530" x2="36778" y2="27349"/>
                        <a14:foregroundMark x1="53911" y1="25000" x2="69553" y2="25000"/>
                        <a14:foregroundMark x1="69553" y1="25000" x2="78864" y2="48490"/>
                        <a14:foregroundMark x1="78864" y1="48490" x2="78399" y2="76510"/>
                        <a14:foregroundMark x1="78399" y1="76510" x2="61825" y2="78691"/>
                        <a14:foregroundMark x1="61825" y1="78691" x2="54283" y2="71477"/>
                        <a14:foregroundMark x1="66574" y1="29530" x2="79702" y2="25000"/>
                        <a14:foregroundMark x1="11359" y1="64933" x2="33054" y2="65604"/>
                        <a14:foregroundMark x1="18715" y1="93624" x2="23650" y2="95134"/>
                        <a14:foregroundMark x1="19181" y1="93624" x2="24488" y2="91443"/>
                        <a14:foregroundMark x1="19178" y1="92243" x2="26536" y2="94295"/>
                        <a14:foregroundMark x1="22439" y1="86913" x2="21601" y2="75839"/>
                        <a14:foregroundMark x1="22812" y1="82550" x2="22439" y2="73658"/>
                        <a14:foregroundMark x1="23650" y1="92114" x2="22812" y2="78188"/>
                        <a14:foregroundMark x1="23277" y1="82550" x2="25698" y2="69966"/>
                        <a14:foregroundMark x1="21601" y1="90604" x2="23277" y2="76678"/>
                        <a14:foregroundMark x1="23277" y1="84060" x2="23277" y2="74497"/>
                        <a14:foregroundMark x1="23650" y1="75839" x2="23277" y2="90604"/>
                        <a14:foregroundMark x1="23650" y1="85570" x2="22812" y2="84060"/>
                        <a14:foregroundMark x1="22812" y1="85570" x2="23277" y2="92114"/>
                        <a14:backgroundMark x1="45717" y1="76678" x2="40782" y2="55201"/>
                        <a14:backgroundMark x1="17877" y1="98993" x2="20112" y2="99497"/>
                        <a14:backgroundMark x1="16853" y1="91107" x2="18156" y2="936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643" y="3816047"/>
            <a:ext cx="4587961" cy="2546019"/>
          </a:xfrm>
          <a:prstGeom prst="rect">
            <a:avLst/>
          </a:prstGeom>
        </p:spPr>
      </p:pic>
      <p:sp>
        <p:nvSpPr>
          <p:cNvPr id="16" name="object 4">
            <a:extLst>
              <a:ext uri="{FF2B5EF4-FFF2-40B4-BE49-F238E27FC236}">
                <a16:creationId xmlns:a16="http://schemas.microsoft.com/office/drawing/2014/main" id="{0258AACB-145C-AB9B-5EDA-9A4D5E2A7009}"/>
              </a:ext>
            </a:extLst>
          </p:cNvPr>
          <p:cNvSpPr txBox="1"/>
          <p:nvPr/>
        </p:nvSpPr>
        <p:spPr>
          <a:xfrm>
            <a:off x="519462" y="2977659"/>
            <a:ext cx="6759012" cy="6451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345690">
              <a:lnSpc>
                <a:spcPct val="116799"/>
              </a:lnSpc>
              <a:spcBef>
                <a:spcPts val="100"/>
              </a:spcBef>
            </a:pPr>
            <a:r>
              <a:rPr b="1" spc="-110" dirty="0">
                <a:solidFill>
                  <a:srgbClr val="0056B3"/>
                </a:solidFill>
                <a:latin typeface="Arial"/>
                <a:cs typeface="Arial"/>
              </a:rPr>
              <a:t>Encoder:</a:t>
            </a:r>
            <a:r>
              <a:rPr lang="es-ES" b="1" spc="-7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Procesa</a:t>
            </a:r>
            <a:r>
              <a:rPr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dirty="0">
                <a:solidFill>
                  <a:srgbClr val="333333"/>
                </a:solidFill>
                <a:latin typeface="Microsoft Sans Serif"/>
                <a:cs typeface="Microsoft Sans Serif"/>
              </a:rPr>
              <a:t>secuencia</a:t>
            </a:r>
            <a:r>
              <a:rPr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entrada. </a:t>
            </a:r>
            <a:endParaRPr lang="es-ES" spc="-10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 marL="12700" marR="2345690">
              <a:lnSpc>
                <a:spcPct val="116799"/>
              </a:lnSpc>
              <a:spcBef>
                <a:spcPts val="100"/>
              </a:spcBef>
            </a:pPr>
            <a:r>
              <a:rPr b="1" spc="-95" dirty="0">
                <a:solidFill>
                  <a:srgbClr val="0056B3"/>
                </a:solidFill>
                <a:latin typeface="Arial"/>
                <a:cs typeface="Arial"/>
              </a:rPr>
              <a:t>Decoder:</a:t>
            </a:r>
            <a:r>
              <a:rPr b="1" spc="-6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Genera </a:t>
            </a:r>
            <a:r>
              <a:rPr dirty="0">
                <a:solidFill>
                  <a:srgbClr val="333333"/>
                </a:solidFill>
                <a:latin typeface="Microsoft Sans Serif"/>
                <a:cs typeface="Microsoft Sans Serif"/>
              </a:rPr>
              <a:t>secuencia</a:t>
            </a:r>
            <a:r>
              <a:rPr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salida</a:t>
            </a:r>
            <a:endParaRPr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0B1CAC9-5E10-A645-61B2-75C84951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13E8B94E-96D8-D56C-2360-D5CA238FC5E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56579" y="190500"/>
            <a:ext cx="4233640" cy="6214959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D56A0132-52BA-1F49-F9F1-1DBCFB8B0E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4306" y="334743"/>
            <a:ext cx="6209665" cy="634917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57860" marR="5080" indent="-645795">
              <a:lnSpc>
                <a:spcPts val="4950"/>
              </a:lnSpc>
              <a:spcBef>
                <a:spcPts val="655"/>
              </a:spcBef>
            </a:pPr>
            <a:r>
              <a:rPr lang="es-ES" sz="2400" spc="50" dirty="0"/>
              <a:t>Arquitectura del </a:t>
            </a:r>
            <a:r>
              <a:rPr sz="2400" spc="175" dirty="0"/>
              <a:t>Transformer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AE74ECC-FE8D-A419-74EB-054264B5EA6E}"/>
              </a:ext>
            </a:extLst>
          </p:cNvPr>
          <p:cNvSpPr txBox="1"/>
          <p:nvPr/>
        </p:nvSpPr>
        <p:spPr>
          <a:xfrm>
            <a:off x="641350" y="2628900"/>
            <a:ext cx="3733800" cy="1423723"/>
          </a:xfrm>
          <a:prstGeom prst="rect">
            <a:avLst/>
          </a:prstGeom>
          <a:solidFill>
            <a:srgbClr val="F9E2E2"/>
          </a:solidFill>
        </p:spPr>
        <p:txBody>
          <a:bodyPr wrap="square" rtlCol="0">
            <a:spAutoFit/>
          </a:bodyPr>
          <a:lstStyle/>
          <a:p>
            <a:pPr marL="12700" marR="5080">
              <a:lnSpc>
                <a:spcPct val="122200"/>
              </a:lnSpc>
              <a:spcBef>
                <a:spcPts val="95"/>
              </a:spcBef>
            </a:pPr>
            <a:r>
              <a:rPr lang="es-ES" b="1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Positional Encoding</a:t>
            </a:r>
            <a:r>
              <a:rPr lang="es-ES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: Provee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70" dirty="0">
                <a:solidFill>
                  <a:srgbClr val="333333"/>
                </a:solidFill>
                <a:latin typeface="Microsoft Sans Serif"/>
                <a:cs typeface="Microsoft Sans Serif"/>
              </a:rPr>
              <a:t>información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65" dirty="0">
                <a:solidFill>
                  <a:srgbClr val="333333"/>
                </a:solidFill>
                <a:latin typeface="Microsoft Sans Serif"/>
                <a:cs typeface="Microsoft Sans Serif"/>
              </a:rPr>
              <a:t>orden</a:t>
            </a:r>
            <a:r>
              <a:rPr lang="es-ES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dirty="0">
                <a:solidFill>
                  <a:srgbClr val="333333"/>
                </a:solidFill>
                <a:latin typeface="Microsoft Sans Serif"/>
                <a:cs typeface="Microsoft Sans Serif"/>
              </a:rPr>
              <a:t>y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posición.</a:t>
            </a:r>
          </a:p>
          <a:p>
            <a:pPr marL="12700" marR="5080">
              <a:lnSpc>
                <a:spcPct val="122200"/>
              </a:lnSpc>
              <a:spcBef>
                <a:spcPts val="95"/>
              </a:spcBef>
            </a:pPr>
            <a:r>
              <a:rPr lang="es-ES" spc="-125" dirty="0">
                <a:solidFill>
                  <a:srgbClr val="333333"/>
                </a:solidFill>
                <a:latin typeface="Microsoft Sans Serif"/>
                <a:cs typeface="Microsoft Sans Serif"/>
              </a:rPr>
              <a:t>Se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suma</a:t>
            </a:r>
            <a:r>
              <a:rPr lang="es-ES" spc="-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dirty="0">
                <a:solidFill>
                  <a:srgbClr val="333333"/>
                </a:solidFill>
                <a:latin typeface="Microsoft Sans Serif"/>
                <a:cs typeface="Microsoft Sans Serif"/>
              </a:rPr>
              <a:t>a</a:t>
            </a:r>
            <a:r>
              <a:rPr lang="es-ES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dirty="0">
                <a:solidFill>
                  <a:srgbClr val="333333"/>
                </a:solidFill>
                <a:latin typeface="Microsoft Sans Serif"/>
                <a:cs typeface="Microsoft Sans Serif"/>
              </a:rPr>
              <a:t>los</a:t>
            </a:r>
            <a:r>
              <a:rPr lang="es-ES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embeddings</a:t>
            </a:r>
            <a:r>
              <a:rPr lang="es-ES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lang="es-ES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entrada </a:t>
            </a:r>
            <a:r>
              <a:rPr lang="es-ES" b="1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(Input Embedding)</a:t>
            </a:r>
            <a:endParaRPr lang="es-ES" b="1" dirty="0">
              <a:latin typeface="Microsoft Sans Serif"/>
              <a:cs typeface="Microsoft Sans Serif"/>
            </a:endParaRPr>
          </a:p>
        </p:txBody>
      </p:sp>
      <p:cxnSp>
        <p:nvCxnSpPr>
          <p:cNvPr id="8" name="Conector curvado 7">
            <a:extLst>
              <a:ext uri="{FF2B5EF4-FFF2-40B4-BE49-F238E27FC236}">
                <a16:creationId xmlns:a16="http://schemas.microsoft.com/office/drawing/2014/main" id="{1E4F39B8-6866-8414-0E0D-85C703CBF246}"/>
              </a:ext>
            </a:extLst>
          </p:cNvPr>
          <p:cNvCxnSpPr>
            <a:cxnSpLocks/>
          </p:cNvCxnSpPr>
          <p:nvPr/>
        </p:nvCxnSpPr>
        <p:spPr>
          <a:xfrm>
            <a:off x="3460750" y="4052623"/>
            <a:ext cx="1447800" cy="1267354"/>
          </a:xfrm>
          <a:prstGeom prst="curved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70733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3BB9830-1B59-5D8A-2CDD-65932EE4F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B8B1B911-2B60-855A-16C5-877A31B02E6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34354" y="339892"/>
            <a:ext cx="4233640" cy="6214959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3C1AE6F3-7011-0391-29F9-0F2EA666AD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4306" y="334743"/>
            <a:ext cx="6209665" cy="634917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57860" marR="5080" indent="-645795">
              <a:lnSpc>
                <a:spcPts val="4950"/>
              </a:lnSpc>
              <a:spcBef>
                <a:spcPts val="655"/>
              </a:spcBef>
            </a:pPr>
            <a:r>
              <a:rPr lang="es-ES" sz="2400" spc="50" dirty="0"/>
              <a:t>Arquitectura del </a:t>
            </a:r>
            <a:r>
              <a:rPr sz="2400" spc="175" dirty="0"/>
              <a:t>Transformer</a:t>
            </a:r>
          </a:p>
        </p:txBody>
      </p:sp>
      <p:grpSp>
        <p:nvGrpSpPr>
          <p:cNvPr id="4" name="object 7">
            <a:extLst>
              <a:ext uri="{FF2B5EF4-FFF2-40B4-BE49-F238E27FC236}">
                <a16:creationId xmlns:a16="http://schemas.microsoft.com/office/drawing/2014/main" id="{8A8E6DF8-F946-4E95-E9DE-A0FD2B929074}"/>
              </a:ext>
            </a:extLst>
          </p:cNvPr>
          <p:cNvGrpSpPr/>
          <p:nvPr/>
        </p:nvGrpSpPr>
        <p:grpSpPr>
          <a:xfrm>
            <a:off x="286066" y="3403375"/>
            <a:ext cx="4495800" cy="1183537"/>
            <a:chOff x="588263" y="4075427"/>
            <a:chExt cx="8054361" cy="1088011"/>
          </a:xfrm>
          <a:solidFill>
            <a:srgbClr val="FDDFB9"/>
          </a:solidFill>
        </p:grpSpPr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D61C0325-C8ED-9554-A290-25A8B50112F5}"/>
                </a:ext>
              </a:extLst>
            </p:cNvPr>
            <p:cNvSpPr/>
            <p:nvPr/>
          </p:nvSpPr>
          <p:spPr>
            <a:xfrm>
              <a:off x="588263" y="4123944"/>
              <a:ext cx="8054361" cy="1039494"/>
            </a:xfrm>
            <a:custGeom>
              <a:avLst/>
              <a:gdLst/>
              <a:ahLst/>
              <a:cxnLst/>
              <a:rect l="l" t="t" r="r" b="b"/>
              <a:pathLst>
                <a:path w="8327390" h="1039495">
                  <a:moveTo>
                    <a:pt x="8327135" y="1039367"/>
                  </a:moveTo>
                  <a:lnTo>
                    <a:pt x="0" y="1039367"/>
                  </a:lnTo>
                  <a:lnTo>
                    <a:pt x="0" y="0"/>
                  </a:lnTo>
                  <a:lnTo>
                    <a:pt x="8327135" y="0"/>
                  </a:lnTo>
                  <a:lnTo>
                    <a:pt x="8327135" y="38480"/>
                  </a:lnTo>
                  <a:lnTo>
                    <a:pt x="70595" y="38480"/>
                  </a:lnTo>
                  <a:lnTo>
                    <a:pt x="63860" y="41270"/>
                  </a:lnTo>
                  <a:lnTo>
                    <a:pt x="52700" y="52429"/>
                  </a:lnTo>
                  <a:lnTo>
                    <a:pt x="49910" y="59164"/>
                  </a:lnTo>
                  <a:lnTo>
                    <a:pt x="49910" y="960771"/>
                  </a:lnTo>
                  <a:lnTo>
                    <a:pt x="52700" y="967506"/>
                  </a:lnTo>
                  <a:lnTo>
                    <a:pt x="63860" y="978665"/>
                  </a:lnTo>
                  <a:lnTo>
                    <a:pt x="70595" y="981455"/>
                  </a:lnTo>
                  <a:lnTo>
                    <a:pt x="8327135" y="981455"/>
                  </a:lnTo>
                  <a:lnTo>
                    <a:pt x="8327135" y="1039367"/>
                  </a:lnTo>
                  <a:close/>
                </a:path>
                <a:path w="8327390" h="1039495">
                  <a:moveTo>
                    <a:pt x="8327135" y="981455"/>
                  </a:moveTo>
                  <a:lnTo>
                    <a:pt x="8258825" y="981455"/>
                  </a:lnTo>
                  <a:lnTo>
                    <a:pt x="8265560" y="978665"/>
                  </a:lnTo>
                  <a:lnTo>
                    <a:pt x="8276720" y="967506"/>
                  </a:lnTo>
                  <a:lnTo>
                    <a:pt x="8279510" y="960771"/>
                  </a:lnTo>
                  <a:lnTo>
                    <a:pt x="8279510" y="59164"/>
                  </a:lnTo>
                  <a:lnTo>
                    <a:pt x="8276720" y="52429"/>
                  </a:lnTo>
                  <a:lnTo>
                    <a:pt x="8265560" y="41270"/>
                  </a:lnTo>
                  <a:lnTo>
                    <a:pt x="8258825" y="38480"/>
                  </a:lnTo>
                  <a:lnTo>
                    <a:pt x="8327135" y="38480"/>
                  </a:lnTo>
                  <a:lnTo>
                    <a:pt x="8327135" y="981455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E8D26381-8F80-362F-12DD-8A69DC24B65A}"/>
                </a:ext>
              </a:extLst>
            </p:cNvPr>
            <p:cNvSpPr/>
            <p:nvPr/>
          </p:nvSpPr>
          <p:spPr>
            <a:xfrm>
              <a:off x="628646" y="4075427"/>
              <a:ext cx="7974930" cy="1039493"/>
            </a:xfrm>
            <a:custGeom>
              <a:avLst/>
              <a:gdLst/>
              <a:ahLst/>
              <a:cxnLst/>
              <a:rect l="l" t="t" r="r" b="b"/>
              <a:pathLst>
                <a:path w="8248650" h="962025">
                  <a:moveTo>
                    <a:pt x="8215600" y="962015"/>
                  </a:moveTo>
                  <a:lnTo>
                    <a:pt x="33047" y="962015"/>
                  </a:lnTo>
                  <a:lnTo>
                    <a:pt x="28187" y="961048"/>
                  </a:lnTo>
                  <a:lnTo>
                    <a:pt x="966" y="933830"/>
                  </a:lnTo>
                  <a:lnTo>
                    <a:pt x="0" y="928976"/>
                  </a:lnTo>
                  <a:lnTo>
                    <a:pt x="0" y="923924"/>
                  </a:lnTo>
                  <a:lnTo>
                    <a:pt x="0" y="33048"/>
                  </a:lnTo>
                  <a:lnTo>
                    <a:pt x="28187" y="967"/>
                  </a:lnTo>
                  <a:lnTo>
                    <a:pt x="33047" y="0"/>
                  </a:lnTo>
                  <a:lnTo>
                    <a:pt x="8215600" y="0"/>
                  </a:lnTo>
                  <a:lnTo>
                    <a:pt x="8247681" y="28184"/>
                  </a:lnTo>
                  <a:lnTo>
                    <a:pt x="8248648" y="33048"/>
                  </a:lnTo>
                  <a:lnTo>
                    <a:pt x="8248648" y="928976"/>
                  </a:lnTo>
                  <a:lnTo>
                    <a:pt x="8220460" y="961048"/>
                  </a:lnTo>
                  <a:lnTo>
                    <a:pt x="8215600" y="962015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3EA1CE3A-9000-2F43-83E2-39998F568C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23" y="3733910"/>
            <a:ext cx="4145519" cy="556789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50122DF7-8F5C-D38E-64BE-751B87B0CFDB}"/>
              </a:ext>
            </a:extLst>
          </p:cNvPr>
          <p:cNvSpPr txBox="1"/>
          <p:nvPr/>
        </p:nvSpPr>
        <p:spPr>
          <a:xfrm>
            <a:off x="244981" y="5664140"/>
            <a:ext cx="47780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* Apunte sobre la estabilidad numérica del softmax</a:t>
            </a:r>
          </a:p>
        </p:txBody>
      </p:sp>
      <p:pic>
        <p:nvPicPr>
          <p:cNvPr id="10" name="Imagen 9" descr="Forma&#10;&#10;El contenido generado por IA puede ser incorrecto.">
            <a:extLst>
              <a:ext uri="{FF2B5EF4-FFF2-40B4-BE49-F238E27FC236}">
                <a16:creationId xmlns:a16="http://schemas.microsoft.com/office/drawing/2014/main" id="{2809B188-E649-5578-332F-0E186D0FF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23" y="4744482"/>
            <a:ext cx="3810000" cy="574606"/>
          </a:xfrm>
          <a:prstGeom prst="rect">
            <a:avLst/>
          </a:prstGeom>
          <a:solidFill>
            <a:srgbClr val="FDDFB9"/>
          </a:solidFill>
        </p:spPr>
      </p:pic>
      <p:sp>
        <p:nvSpPr>
          <p:cNvPr id="11" name="object 5">
            <a:extLst>
              <a:ext uri="{FF2B5EF4-FFF2-40B4-BE49-F238E27FC236}">
                <a16:creationId xmlns:a16="http://schemas.microsoft.com/office/drawing/2014/main" id="{46E44868-7DCA-36A2-A282-01D1CE9730E1}"/>
              </a:ext>
            </a:extLst>
          </p:cNvPr>
          <p:cNvSpPr txBox="1"/>
          <p:nvPr/>
        </p:nvSpPr>
        <p:spPr>
          <a:xfrm>
            <a:off x="282891" y="1469760"/>
            <a:ext cx="5692459" cy="7939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434975" marR="5080">
              <a:lnSpc>
                <a:spcPct val="118400"/>
              </a:lnSpc>
              <a:spcBef>
                <a:spcPts val="110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Idea</a:t>
            </a:r>
            <a:r>
              <a:rPr sz="2200" spc="-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35" dirty="0">
                <a:solidFill>
                  <a:srgbClr val="333333"/>
                </a:solidFill>
                <a:latin typeface="Microsoft Sans Serif"/>
                <a:cs typeface="Microsoft Sans Serif"/>
              </a:rPr>
              <a:t>clave:</a:t>
            </a:r>
            <a:r>
              <a:rPr sz="2200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Scaled</a:t>
            </a:r>
            <a:r>
              <a:rPr sz="2200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80" dirty="0">
                <a:solidFill>
                  <a:srgbClr val="333333"/>
                </a:solidFill>
                <a:latin typeface="Microsoft Sans Serif"/>
                <a:cs typeface="Microsoft Sans Serif"/>
              </a:rPr>
              <a:t>Dot-</a:t>
            </a:r>
            <a:r>
              <a:rPr sz="2200" spc="70" dirty="0">
                <a:solidFill>
                  <a:srgbClr val="333333"/>
                </a:solidFill>
                <a:latin typeface="Microsoft Sans Serif"/>
                <a:cs typeface="Microsoft Sans Serif"/>
              </a:rPr>
              <a:t>Product</a:t>
            </a:r>
            <a:r>
              <a:rPr sz="2200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45" dirty="0">
                <a:solidFill>
                  <a:srgbClr val="333333"/>
                </a:solidFill>
                <a:latin typeface="Microsoft Sans Serif"/>
                <a:cs typeface="Microsoft Sans Serif"/>
              </a:rPr>
              <a:t>Attention.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Genera</a:t>
            </a:r>
            <a:r>
              <a:rPr sz="2200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300" b="1" spc="-90" dirty="0">
                <a:solidFill>
                  <a:srgbClr val="0056B3"/>
                </a:solidFill>
                <a:latin typeface="Arial"/>
                <a:cs typeface="Arial"/>
              </a:rPr>
              <a:t>Q</a:t>
            </a:r>
            <a:r>
              <a:rPr sz="2300" b="1" spc="-11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z="22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(Query),</a:t>
            </a:r>
            <a:r>
              <a:rPr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300" b="1" spc="-204" dirty="0">
                <a:solidFill>
                  <a:srgbClr val="0056B3"/>
                </a:solidFill>
                <a:latin typeface="Arial"/>
                <a:cs typeface="Arial"/>
              </a:rPr>
              <a:t>K</a:t>
            </a:r>
            <a:r>
              <a:rPr sz="2300" b="1" spc="-11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z="2200" spc="-80" dirty="0">
                <a:solidFill>
                  <a:srgbClr val="333333"/>
                </a:solidFill>
                <a:latin typeface="Microsoft Sans Serif"/>
                <a:cs typeface="Microsoft Sans Serif"/>
              </a:rPr>
              <a:t>(Key),</a:t>
            </a:r>
            <a:r>
              <a:rPr sz="2200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300" b="1" spc="-85" dirty="0">
                <a:solidFill>
                  <a:srgbClr val="0056B3"/>
                </a:solidFill>
                <a:latin typeface="Arial"/>
                <a:cs typeface="Arial"/>
              </a:rPr>
              <a:t>V</a:t>
            </a:r>
            <a:r>
              <a:rPr sz="2300" b="1" spc="-11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(Value).</a:t>
            </a:r>
            <a:endParaRPr sz="2200" dirty="0">
              <a:latin typeface="Microsoft Sans Serif"/>
              <a:cs typeface="Microsoft Sans Serif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2D46192-110A-143F-C644-11DFD188D2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098" y="2763794"/>
            <a:ext cx="4495800" cy="246105"/>
          </a:xfrm>
          <a:prstGeom prst="rect">
            <a:avLst/>
          </a:prstGeom>
          <a:solidFill>
            <a:srgbClr val="FDDFB9"/>
          </a:solidFill>
        </p:spPr>
      </p:pic>
    </p:spTree>
    <p:extLst>
      <p:ext uri="{BB962C8B-B14F-4D97-AF65-F5344CB8AC3E}">
        <p14:creationId xmlns:p14="http://schemas.microsoft.com/office/powerpoint/2010/main" val="42235084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BF0B8B7-528F-B186-796F-7C0BDBB7D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28068EA6-FA05-6179-2CFE-C40DD82FE51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56579" y="190500"/>
            <a:ext cx="4233640" cy="6214959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2C9D7D99-DCE5-971E-816A-511F6FD6C5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4306" y="334743"/>
            <a:ext cx="6209665" cy="634917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57860" marR="5080" indent="-645795">
              <a:lnSpc>
                <a:spcPts val="4950"/>
              </a:lnSpc>
              <a:spcBef>
                <a:spcPts val="655"/>
              </a:spcBef>
            </a:pPr>
            <a:r>
              <a:rPr lang="es-ES" sz="2400" spc="50" dirty="0"/>
              <a:t>Arquitectura del </a:t>
            </a:r>
            <a:r>
              <a:rPr sz="2400" spc="175" dirty="0"/>
              <a:t>Transformer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A9A3961-003F-12C3-8023-EF016CA1C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20" y="2905686"/>
            <a:ext cx="4495372" cy="265194"/>
          </a:xfrm>
          <a:prstGeom prst="rect">
            <a:avLst/>
          </a:prstGeom>
          <a:solidFill>
            <a:srgbClr val="C2E8F7"/>
          </a:solidFill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EAAFD9D-5B0C-135E-69CC-106C9A04E4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49" y="5340819"/>
            <a:ext cx="4876800" cy="226442"/>
          </a:xfrm>
          <a:prstGeom prst="rect">
            <a:avLst/>
          </a:prstGeom>
          <a:solidFill>
            <a:srgbClr val="F4F4C2"/>
          </a:solidFill>
        </p:spPr>
      </p:pic>
      <p:pic>
        <p:nvPicPr>
          <p:cNvPr id="14" name="Imagen 13" descr="Forma&#10;&#10;El contenido generado por IA puede ser incorrecto.">
            <a:extLst>
              <a:ext uri="{FF2B5EF4-FFF2-40B4-BE49-F238E27FC236}">
                <a16:creationId xmlns:a16="http://schemas.microsoft.com/office/drawing/2014/main" id="{899FF8E5-4993-6B89-E661-7B887BDC57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49" y="3996656"/>
            <a:ext cx="4131191" cy="583958"/>
          </a:xfrm>
          <a:prstGeom prst="rect">
            <a:avLst/>
          </a:prstGeom>
          <a:solidFill>
            <a:srgbClr val="F3F3C1"/>
          </a:solidFill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63B3A5C1-8B00-6E9E-3CC3-75FCE3984CCE}"/>
              </a:ext>
            </a:extLst>
          </p:cNvPr>
          <p:cNvSpPr txBox="1"/>
          <p:nvPr/>
        </p:nvSpPr>
        <p:spPr>
          <a:xfrm>
            <a:off x="184150" y="1600470"/>
            <a:ext cx="55626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 spc="-110" dirty="0">
                <a:solidFill>
                  <a:srgbClr val="0056B3"/>
                </a:solidFill>
                <a:latin typeface="Arial"/>
                <a:cs typeface="Arial"/>
              </a:rPr>
              <a:t>Conexiones</a:t>
            </a:r>
            <a:r>
              <a:rPr lang="es-ES" sz="1800" b="1" spc="-25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lang="es-ES" sz="1800" b="1" spc="-120" dirty="0">
                <a:solidFill>
                  <a:srgbClr val="0056B3"/>
                </a:solidFill>
                <a:latin typeface="Arial"/>
                <a:cs typeface="Arial"/>
              </a:rPr>
              <a:t>Residuales:</a:t>
            </a:r>
            <a:r>
              <a:rPr lang="es-ES" sz="1800" b="1" spc="-5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Facilitan </a:t>
            </a:r>
            <a:r>
              <a:rPr lang="es-ES" sz="1800" spc="65" dirty="0">
                <a:solidFill>
                  <a:srgbClr val="333333"/>
                </a:solidFill>
                <a:latin typeface="Microsoft Sans Serif"/>
                <a:cs typeface="Microsoft Sans Serif"/>
              </a:rPr>
              <a:t>flujo</a:t>
            </a:r>
            <a:r>
              <a:rPr lang="es-ES" sz="1800" spc="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gradientes. </a:t>
            </a:r>
          </a:p>
          <a:p>
            <a:r>
              <a:rPr lang="es-ES" sz="1800" b="1" spc="-60" dirty="0">
                <a:solidFill>
                  <a:srgbClr val="0056B3"/>
                </a:solidFill>
                <a:latin typeface="Arial"/>
                <a:cs typeface="Arial"/>
              </a:rPr>
              <a:t>Normalización</a:t>
            </a:r>
            <a:r>
              <a:rPr lang="es-ES" sz="1800" b="1" spc="-85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lang="es-ES" sz="1800" b="1" dirty="0">
                <a:solidFill>
                  <a:srgbClr val="0056B3"/>
                </a:solidFill>
                <a:latin typeface="Arial"/>
                <a:cs typeface="Arial"/>
              </a:rPr>
              <a:t>de</a:t>
            </a:r>
            <a:r>
              <a:rPr lang="es-ES" sz="1800" b="1" spc="-80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lang="es-ES" sz="1800" b="1" spc="-165" dirty="0">
                <a:solidFill>
                  <a:srgbClr val="0056B3"/>
                </a:solidFill>
                <a:latin typeface="Arial"/>
                <a:cs typeface="Arial"/>
              </a:rPr>
              <a:t>Capas:</a:t>
            </a:r>
            <a:r>
              <a:rPr lang="es-ES" sz="1800" b="1" spc="-105" dirty="0">
                <a:solidFill>
                  <a:srgbClr val="0056B3"/>
                </a:solidFill>
                <a:latin typeface="Arial"/>
                <a:cs typeface="Arial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Estabiliza</a:t>
            </a:r>
            <a:r>
              <a:rPr lang="es-ES" sz="1800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entrenamiento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94133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/>
          <p:nvPr/>
        </p:nvSpPr>
        <p:spPr>
          <a:xfrm>
            <a:off x="9182099" y="6619868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19</a:t>
            </a: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534622C3-1F75-D4D3-CE3B-1E1C73B840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4728" y="723900"/>
            <a:ext cx="8402844" cy="1276119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57860" marR="5080" indent="-645795">
              <a:lnSpc>
                <a:spcPts val="4950"/>
              </a:lnSpc>
              <a:spcBef>
                <a:spcPts val="655"/>
              </a:spcBef>
            </a:pPr>
            <a:r>
              <a:rPr lang="es-ES" sz="2400" spc="175" dirty="0"/>
              <a:t>PyPOTS: Una biblioteca de Python para trabajar con Series Temporales Parcialmente Observadas</a:t>
            </a:r>
            <a:endParaRPr sz="2400" spc="175" dirty="0"/>
          </a:p>
        </p:txBody>
      </p:sp>
      <p:pic>
        <p:nvPicPr>
          <p:cNvPr id="22" name="Imagen 21" descr="Diagrama&#10;&#10;El contenido generado por IA puede ser incorrecto.">
            <a:extLst>
              <a:ext uri="{FF2B5EF4-FFF2-40B4-BE49-F238E27FC236}">
                <a16:creationId xmlns:a16="http://schemas.microsoft.com/office/drawing/2014/main" id="{9AC2359E-45CF-A573-CFE6-0C66517D73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9505" y="3771900"/>
            <a:ext cx="2107176" cy="2057400"/>
          </a:xfrm>
          <a:prstGeom prst="rect">
            <a:avLst/>
          </a:prstGeom>
        </p:spPr>
      </p:pic>
      <p:pic>
        <p:nvPicPr>
          <p:cNvPr id="26" name="Imagen 25" descr="Texto&#10;&#10;El contenido generado por IA puede ser incorrecto.">
            <a:extLst>
              <a:ext uri="{FF2B5EF4-FFF2-40B4-BE49-F238E27FC236}">
                <a16:creationId xmlns:a16="http://schemas.microsoft.com/office/drawing/2014/main" id="{6E6C662C-4992-1F10-0D79-F88DC13F1B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" r="3163"/>
          <a:stretch>
            <a:fillRect/>
          </a:stretch>
        </p:blipFill>
        <p:spPr>
          <a:xfrm>
            <a:off x="797892" y="2400300"/>
            <a:ext cx="4663265" cy="3681525"/>
          </a:xfrm>
          <a:prstGeom prst="rect">
            <a:avLst/>
          </a:prstGeom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880F4FC7-2BC0-3C75-129F-3006D5406127}"/>
              </a:ext>
            </a:extLst>
          </p:cNvPr>
          <p:cNvSpPr txBox="1"/>
          <p:nvPr/>
        </p:nvSpPr>
        <p:spPr>
          <a:xfrm>
            <a:off x="5685615" y="2662989"/>
            <a:ext cx="29995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Implementa Transformer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Implementa SAITS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Basada en PyTorch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Interfaz de usuario gráfica, Diagrama&#10;&#10;El contenido generado por IA puede ser incorrecto.">
            <a:extLst>
              <a:ext uri="{FF2B5EF4-FFF2-40B4-BE49-F238E27FC236}">
                <a16:creationId xmlns:a16="http://schemas.microsoft.com/office/drawing/2014/main" id="{FEA88A3E-55A2-B7CC-FB3E-C472C5E75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835" y="2072878"/>
            <a:ext cx="5522231" cy="4115124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1622" y="388895"/>
            <a:ext cx="8949055" cy="128477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869565" marR="5080" indent="-2538730">
              <a:lnSpc>
                <a:spcPts val="4880"/>
              </a:lnSpc>
              <a:spcBef>
                <a:spcPts val="715"/>
              </a:spcBef>
            </a:pPr>
            <a:r>
              <a:rPr sz="3200" spc="-125" dirty="0"/>
              <a:t>SAITS:</a:t>
            </a:r>
            <a:r>
              <a:rPr sz="3200" spc="50" dirty="0"/>
              <a:t> </a:t>
            </a:r>
            <a:r>
              <a:rPr sz="3200" spc="105" dirty="0"/>
              <a:t>Self-</a:t>
            </a:r>
            <a:r>
              <a:rPr sz="3200" spc="325" dirty="0"/>
              <a:t>Attention</a:t>
            </a:r>
            <a:r>
              <a:rPr lang="es-ES" sz="3200" spc="325" dirty="0"/>
              <a:t> Based Imputation</a:t>
            </a:r>
            <a:r>
              <a:rPr sz="3200" spc="50" dirty="0"/>
              <a:t> </a:t>
            </a:r>
            <a:r>
              <a:rPr sz="3200" spc="165" dirty="0"/>
              <a:t>for </a:t>
            </a:r>
            <a:r>
              <a:rPr sz="3200" spc="185" dirty="0"/>
              <a:t>Time</a:t>
            </a:r>
            <a:r>
              <a:rPr sz="3200" spc="204" dirty="0"/>
              <a:t> </a:t>
            </a:r>
            <a:r>
              <a:rPr sz="3200" spc="-10" dirty="0"/>
              <a:t>Series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330201" y="2552700"/>
            <a:ext cx="3511549" cy="215071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8450" marR="5080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de </a:t>
            </a:r>
            <a:r>
              <a:rPr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DL</a:t>
            </a: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especializado</a:t>
            </a: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6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9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imputación</a:t>
            </a:r>
            <a:r>
              <a:rPr lang="es-ES" sz="1600" spc="9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6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series</a:t>
            </a: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1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temporales. </a:t>
            </a:r>
            <a:endParaRPr lang="es-ES" sz="1600" spc="-1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8450" marR="5080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s-ES" sz="1600" spc="-1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8450" marR="5080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Adaptaciones</a:t>
            </a:r>
            <a:r>
              <a:rPr sz="1600" spc="114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clav</a:t>
            </a:r>
            <a:r>
              <a:rPr lang="es-ES"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e:</a:t>
            </a:r>
          </a:p>
          <a:p>
            <a:pPr marL="298450" marR="5080" lvl="2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s-ES" sz="1600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8450" marR="5080" lvl="3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DMSA</a:t>
            </a:r>
            <a:r>
              <a:rPr sz="1600" spc="-6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(evita</a:t>
            </a:r>
            <a:r>
              <a:rPr sz="1600" spc="-6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auto-</a:t>
            </a:r>
            <a:r>
              <a:rPr sz="1600" spc="-1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atención).</a:t>
            </a: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8450" marR="5080" lvl="2" indent="-285750">
              <a:lnSpc>
                <a:spcPct val="1222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sz="1600" spc="-3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sz="1600" spc="-5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5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Conjunta</a:t>
            </a:r>
            <a:r>
              <a:rPr sz="1600" spc="-5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9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(MIT,</a:t>
            </a:r>
            <a:r>
              <a:rPr sz="1600" spc="-5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ORT).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182099" y="6619868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474CDEC-2ED6-4D55-81E6-83C8060D7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Interfaz de usuario gráfica, Diagrama&#10;&#10;El contenido generado por IA puede ser incorrecto.">
            <a:extLst>
              <a:ext uri="{FF2B5EF4-FFF2-40B4-BE49-F238E27FC236}">
                <a16:creationId xmlns:a16="http://schemas.microsoft.com/office/drawing/2014/main" id="{DB8FEE96-6D7B-43E4-7839-ABA1AF0DE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597" y="2387650"/>
            <a:ext cx="5922327" cy="4413272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CF651D8E-53DA-AF63-2C5D-3B70161862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1622" y="388895"/>
            <a:ext cx="8949055" cy="128477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869565" marR="5080" indent="-2538730">
              <a:lnSpc>
                <a:spcPts val="4880"/>
              </a:lnSpc>
              <a:spcBef>
                <a:spcPts val="715"/>
              </a:spcBef>
            </a:pPr>
            <a:r>
              <a:rPr sz="3200" spc="-125" dirty="0"/>
              <a:t>SAITS:</a:t>
            </a:r>
            <a:r>
              <a:rPr sz="3200" spc="50" dirty="0"/>
              <a:t> </a:t>
            </a:r>
            <a:r>
              <a:rPr sz="3200" spc="105" dirty="0"/>
              <a:t>Self-</a:t>
            </a:r>
            <a:r>
              <a:rPr sz="3200" spc="325" dirty="0"/>
              <a:t>Attention</a:t>
            </a:r>
            <a:r>
              <a:rPr lang="es-ES" sz="3200" spc="325" dirty="0"/>
              <a:t> Based Imputation</a:t>
            </a:r>
            <a:r>
              <a:rPr sz="3200" spc="50" dirty="0"/>
              <a:t> </a:t>
            </a:r>
            <a:r>
              <a:rPr sz="3200" spc="165" dirty="0"/>
              <a:t>for </a:t>
            </a:r>
            <a:r>
              <a:rPr sz="3200" spc="185" dirty="0"/>
              <a:t>Time</a:t>
            </a:r>
            <a:r>
              <a:rPr sz="3200" spc="204" dirty="0"/>
              <a:t> </a:t>
            </a:r>
            <a:r>
              <a:rPr sz="3200" spc="-10" dirty="0"/>
              <a:t>Series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A7ED9C0-967D-30A8-4BDB-98A85D709B23}"/>
              </a:ext>
            </a:extLst>
          </p:cNvPr>
          <p:cNvSpPr/>
          <p:nvPr/>
        </p:nvSpPr>
        <p:spPr>
          <a:xfrm>
            <a:off x="9182099" y="6619868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2EBF55E-84AE-48BD-64AF-7C0A6632AD4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20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A64E92B-9B1C-C517-EA37-65C1734D7C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50" y="1825891"/>
            <a:ext cx="8001000" cy="6301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</p:pic>
      <p:pic>
        <p:nvPicPr>
          <p:cNvPr id="6" name="Imagen 5" descr="Forma&#10;&#10;El contenido generado por IA puede ser incorrecto.">
            <a:extLst>
              <a:ext uri="{FF2B5EF4-FFF2-40B4-BE49-F238E27FC236}">
                <a16:creationId xmlns:a16="http://schemas.microsoft.com/office/drawing/2014/main" id="{4AFA42E4-DBB5-F550-33A9-F2A31E2DE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50" y="3123119"/>
            <a:ext cx="3434263" cy="68796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174167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ECFA123-6258-0E45-8493-2657F349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Interfaz de usuario gráfica, Diagrama&#10;&#10;El contenido generado por IA puede ser incorrecto.">
            <a:extLst>
              <a:ext uri="{FF2B5EF4-FFF2-40B4-BE49-F238E27FC236}">
                <a16:creationId xmlns:a16="http://schemas.microsoft.com/office/drawing/2014/main" id="{3CDFB344-A495-CD9D-CE08-F19D9806C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1" y="1942227"/>
            <a:ext cx="5890818" cy="4389792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C2C4D52-B5AD-E879-93DB-7115BD915B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1622" y="388895"/>
            <a:ext cx="8949055" cy="128477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869565" marR="5080" indent="-2538730">
              <a:lnSpc>
                <a:spcPts val="4880"/>
              </a:lnSpc>
              <a:spcBef>
                <a:spcPts val="715"/>
              </a:spcBef>
            </a:pPr>
            <a:r>
              <a:rPr sz="3200" spc="-125" dirty="0"/>
              <a:t>SAITS:</a:t>
            </a:r>
            <a:r>
              <a:rPr sz="3200" spc="50" dirty="0"/>
              <a:t> </a:t>
            </a:r>
            <a:r>
              <a:rPr sz="3200" spc="105" dirty="0"/>
              <a:t>Self-</a:t>
            </a:r>
            <a:r>
              <a:rPr sz="3200" spc="325" dirty="0"/>
              <a:t>Attention</a:t>
            </a:r>
            <a:r>
              <a:rPr lang="es-ES" sz="3200" spc="325" dirty="0"/>
              <a:t> Based Imputation</a:t>
            </a:r>
            <a:r>
              <a:rPr sz="3200" spc="50" dirty="0"/>
              <a:t> </a:t>
            </a:r>
            <a:r>
              <a:rPr sz="3200" spc="165" dirty="0"/>
              <a:t>for </a:t>
            </a:r>
            <a:r>
              <a:rPr sz="3200" spc="185" dirty="0"/>
              <a:t>Time</a:t>
            </a:r>
            <a:r>
              <a:rPr sz="3200" spc="204" dirty="0"/>
              <a:t> </a:t>
            </a:r>
            <a:r>
              <a:rPr sz="3200" spc="-10" dirty="0"/>
              <a:t>Series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0DA42FF-E5B1-46A2-5D4F-01F4BC557F0F}"/>
              </a:ext>
            </a:extLst>
          </p:cNvPr>
          <p:cNvSpPr/>
          <p:nvPr/>
        </p:nvSpPr>
        <p:spPr>
          <a:xfrm>
            <a:off x="9182099" y="6619868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B33D02-9C66-3A6F-4201-9F34488959F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20</a:t>
            </a:r>
          </a:p>
        </p:txBody>
      </p:sp>
      <p:pic>
        <p:nvPicPr>
          <p:cNvPr id="4" name="Imagen 3" descr="Forma&#10;&#10;El contenido generado por IA puede ser incorrecto.">
            <a:extLst>
              <a:ext uri="{FF2B5EF4-FFF2-40B4-BE49-F238E27FC236}">
                <a16:creationId xmlns:a16="http://schemas.microsoft.com/office/drawing/2014/main" id="{BFE57D31-ED2E-F22B-B2C3-4AEB223A23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1" y="2626689"/>
            <a:ext cx="1938072" cy="21811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2432729-DAB2-E71A-2723-447784A149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51" y="3865385"/>
            <a:ext cx="3355822" cy="2327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1A374995-062B-EFDE-3031-F674A221D4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47" y="5038641"/>
            <a:ext cx="3144864" cy="232743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F2FB5B4-2C5C-35E6-0846-FF957B1A45FF}"/>
              </a:ext>
            </a:extLst>
          </p:cNvPr>
          <p:cNvSpPr txBox="1"/>
          <p:nvPr/>
        </p:nvSpPr>
        <p:spPr>
          <a:xfrm>
            <a:off x="492607" y="2103995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1st DMSA block: X1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15FB4E8-DA3F-DDE0-8393-7F7FE8BD15EA}"/>
              </a:ext>
            </a:extLst>
          </p:cNvPr>
          <p:cNvSpPr txBox="1"/>
          <p:nvPr/>
        </p:nvSpPr>
        <p:spPr>
          <a:xfrm>
            <a:off x="544487" y="3208526"/>
            <a:ext cx="2313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2nd DMSA block: X2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4298A53-30A5-CEE7-B2DE-ADFEA0D5ED8B}"/>
              </a:ext>
            </a:extLst>
          </p:cNvPr>
          <p:cNvSpPr txBox="1"/>
          <p:nvPr/>
        </p:nvSpPr>
        <p:spPr>
          <a:xfrm>
            <a:off x="503693" y="4379656"/>
            <a:ext cx="348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Weighted combination block: X3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205DCE3-B472-31B1-78A1-6A31949A3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47" y="5684233"/>
            <a:ext cx="3208887" cy="29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062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78159" y="571500"/>
            <a:ext cx="8555981" cy="650499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1641475" marR="5080" indent="-1629410">
              <a:lnSpc>
                <a:spcPts val="4880"/>
              </a:lnSpc>
              <a:spcBef>
                <a:spcPts val="715"/>
              </a:spcBef>
            </a:pPr>
            <a:r>
              <a:rPr sz="3000" spc="260" dirty="0"/>
              <a:t>Entorno</a:t>
            </a:r>
            <a:r>
              <a:rPr sz="3000" spc="135" dirty="0"/>
              <a:t> </a:t>
            </a:r>
            <a:r>
              <a:rPr sz="3000" spc="250" dirty="0"/>
              <a:t>Experimental</a:t>
            </a:r>
            <a:r>
              <a:rPr sz="3000" spc="135" dirty="0"/>
              <a:t> </a:t>
            </a:r>
            <a:r>
              <a:rPr sz="3000" spc="-50" dirty="0"/>
              <a:t>y </a:t>
            </a:r>
            <a:r>
              <a:rPr sz="3000" spc="204" dirty="0"/>
              <a:t>Flujo</a:t>
            </a:r>
            <a:r>
              <a:rPr sz="3000" spc="200" dirty="0"/>
              <a:t> </a:t>
            </a:r>
            <a:r>
              <a:rPr sz="3000" spc="185" dirty="0"/>
              <a:t>de</a:t>
            </a:r>
            <a:r>
              <a:rPr sz="3000" spc="215" dirty="0"/>
              <a:t> </a:t>
            </a:r>
            <a:r>
              <a:rPr sz="3000" spc="95" dirty="0"/>
              <a:t>Trabajo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74" y="3428992"/>
            <a:ext cx="85724" cy="8570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56319" y="3187046"/>
            <a:ext cx="8225780" cy="8106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2200"/>
              </a:lnSpc>
              <a:spcBef>
                <a:spcPts val="95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Paquete</a:t>
            </a:r>
            <a:r>
              <a:rPr sz="2200" spc="2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Python:</a:t>
            </a:r>
            <a:r>
              <a:rPr sz="2200" spc="2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pampaneira_imputation.</a:t>
            </a:r>
            <a:r>
              <a:rPr sz="2200" spc="55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endParaRPr lang="es-ES" sz="2200" spc="550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 marL="12700" marR="5080">
              <a:lnSpc>
                <a:spcPct val="122200"/>
              </a:lnSpc>
              <a:spcBef>
                <a:spcPts val="95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Flujo</a:t>
            </a:r>
            <a:r>
              <a:rPr lang="es-ES"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 de Trabajo:</a:t>
            </a:r>
            <a:r>
              <a:rPr sz="2200" spc="17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Jupyter</a:t>
            </a:r>
            <a:r>
              <a:rPr sz="2200" spc="18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Notebook</a:t>
            </a:r>
            <a:r>
              <a:rPr lang="es-ES"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– Notebook_imputation.ipynb</a:t>
            </a:r>
            <a:endParaRPr sz="2200" dirty="0">
              <a:latin typeface="Microsoft Sans Serif"/>
              <a:cs typeface="Microsoft Sans Serif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74" y="3838567"/>
            <a:ext cx="85724" cy="8570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403350" y="4152900"/>
            <a:ext cx="7315200" cy="121315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267335" marR="5080" indent="-255270">
              <a:lnSpc>
                <a:spcPts val="1730"/>
              </a:lnSpc>
              <a:spcBef>
                <a:spcPts val="180"/>
              </a:spcBef>
              <a:buAutoNum type="arabicPeriod"/>
              <a:tabLst>
                <a:tab pos="270510" algn="l"/>
              </a:tabLst>
            </a:pPr>
            <a:r>
              <a:rPr spc="-3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Preprocesamiento</a:t>
            </a:r>
            <a:r>
              <a:rPr spc="-15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5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(escalado,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5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ventaneo,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60" dirty="0">
                <a:solidFill>
                  <a:schemeClr val="tx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faltantes </a:t>
            </a:r>
            <a:r>
              <a:rPr spc="-10" dirty="0">
                <a:solidFill>
                  <a:schemeClr val="tx1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artificiales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).</a:t>
            </a:r>
            <a:endParaRPr dirty="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67970" indent="-25527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67970" algn="l"/>
              </a:tabLst>
            </a:pPr>
            <a:r>
              <a:rPr spc="-35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Aplicación</a:t>
            </a:r>
            <a:r>
              <a:rPr spc="-7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de</a:t>
            </a:r>
            <a:r>
              <a:rPr spc="-7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métodos.</a:t>
            </a:r>
            <a:endParaRPr dirty="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67970" indent="-255270">
              <a:lnSpc>
                <a:spcPct val="100000"/>
              </a:lnSpc>
              <a:spcBef>
                <a:spcPts val="420"/>
              </a:spcBef>
              <a:buAutoNum type="arabicPeriod"/>
              <a:tabLst>
                <a:tab pos="267970" algn="l"/>
              </a:tabLst>
            </a:pPr>
            <a:r>
              <a:rPr spc="-25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Evaluación</a:t>
            </a:r>
            <a:r>
              <a:rPr spc="-5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spc="-3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cuantitativa</a:t>
            </a:r>
            <a:endParaRPr lang="es-ES" spc="-45" dirty="0">
              <a:solidFill>
                <a:srgbClr val="333333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67970" indent="-255270">
              <a:lnSpc>
                <a:spcPct val="100000"/>
              </a:lnSpc>
              <a:spcBef>
                <a:spcPts val="420"/>
              </a:spcBef>
              <a:buAutoNum type="arabicPeriod"/>
              <a:tabLst>
                <a:tab pos="267970" algn="l"/>
              </a:tabLst>
            </a:pPr>
            <a:r>
              <a:rPr lang="es-ES"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V</a:t>
            </a:r>
            <a:r>
              <a:rPr spc="-10" dirty="0">
                <a:solidFill>
                  <a:srgbClr val="333333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isualización.</a:t>
            </a:r>
            <a:endParaRPr dirty="0"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182099" y="6619867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77218" y="499362"/>
            <a:ext cx="6525895" cy="13335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681990">
              <a:lnSpc>
                <a:spcPts val="5140"/>
              </a:lnSpc>
              <a:spcBef>
                <a:spcPts val="114"/>
              </a:spcBef>
            </a:pPr>
            <a:r>
              <a:rPr dirty="0"/>
              <a:t>5.8.</a:t>
            </a:r>
            <a:r>
              <a:rPr spc="55" dirty="0"/>
              <a:t> </a:t>
            </a:r>
            <a:r>
              <a:rPr spc="165" dirty="0"/>
              <a:t>Evaluación</a:t>
            </a:r>
            <a:r>
              <a:rPr spc="55" dirty="0"/>
              <a:t> </a:t>
            </a:r>
            <a:r>
              <a:rPr spc="185" dirty="0"/>
              <a:t>del</a:t>
            </a:r>
          </a:p>
          <a:p>
            <a:pPr marL="12700">
              <a:lnSpc>
                <a:spcPts val="5140"/>
              </a:lnSpc>
            </a:pPr>
            <a:r>
              <a:rPr spc="254" dirty="0"/>
              <a:t>Rendimiento:</a:t>
            </a:r>
            <a:r>
              <a:rPr spc="225" dirty="0"/>
              <a:t> </a:t>
            </a:r>
            <a:r>
              <a:rPr spc="200" dirty="0"/>
              <a:t>Periodo</a:t>
            </a:r>
            <a:r>
              <a:rPr spc="229" dirty="0"/>
              <a:t> </a:t>
            </a:r>
            <a:r>
              <a:rPr spc="-1125" dirty="0"/>
              <a:t>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17550" y="2158623"/>
            <a:ext cx="5278755" cy="384078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400" b="1" spc="-110" dirty="0">
                <a:solidFill>
                  <a:srgbClr val="333333"/>
                </a:solidFill>
                <a:latin typeface="Arial"/>
                <a:cs typeface="Arial"/>
              </a:rPr>
              <a:t>Cuadro</a:t>
            </a:r>
            <a:r>
              <a:rPr sz="240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400" b="1" spc="-240" dirty="0">
                <a:solidFill>
                  <a:srgbClr val="333333"/>
                </a:solidFill>
                <a:latin typeface="Arial"/>
                <a:cs typeface="Arial"/>
              </a:rPr>
              <a:t>2:</a:t>
            </a:r>
            <a:r>
              <a:rPr sz="240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400" b="1" spc="-114" dirty="0">
                <a:solidFill>
                  <a:srgbClr val="333333"/>
                </a:solidFill>
                <a:latin typeface="Arial"/>
                <a:cs typeface="Arial"/>
              </a:rPr>
              <a:t>Resultados</a:t>
            </a:r>
            <a:r>
              <a:rPr sz="240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33"/>
                </a:solidFill>
                <a:latin typeface="Arial"/>
                <a:cs typeface="Arial"/>
              </a:rPr>
              <a:t>-</a:t>
            </a:r>
            <a:r>
              <a:rPr sz="240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400" b="1" spc="-80" dirty="0">
                <a:solidFill>
                  <a:srgbClr val="333333"/>
                </a:solidFill>
                <a:latin typeface="Arial"/>
                <a:cs typeface="Arial"/>
              </a:rPr>
              <a:t>Periodo</a:t>
            </a:r>
            <a:r>
              <a:rPr sz="240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400" b="1" spc="-685" dirty="0">
                <a:solidFill>
                  <a:srgbClr val="333333"/>
                </a:solidFill>
                <a:latin typeface="Arial"/>
                <a:cs typeface="Arial"/>
              </a:rPr>
              <a:t>1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3945" y="5271591"/>
            <a:ext cx="7081520" cy="87947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320"/>
              </a:spcBef>
            </a:pPr>
            <a:r>
              <a:rPr sz="2850" b="1" spc="-165" dirty="0">
                <a:solidFill>
                  <a:srgbClr val="333333"/>
                </a:solidFill>
                <a:latin typeface="Arial"/>
                <a:cs typeface="Arial"/>
              </a:rPr>
              <a:t>Clave:</a:t>
            </a:r>
            <a:r>
              <a:rPr sz="2850" b="1" spc="-7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750" spc="-190" dirty="0">
                <a:solidFill>
                  <a:srgbClr val="333333"/>
                </a:solidFill>
                <a:latin typeface="Arial MT"/>
                <a:cs typeface="Arial MT"/>
              </a:rPr>
              <a:t>SAITS</a:t>
            </a:r>
            <a:r>
              <a:rPr sz="2750" spc="-5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y</a:t>
            </a:r>
            <a:r>
              <a:rPr sz="2750" spc="-45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Transformer:</a:t>
            </a:r>
            <a:r>
              <a:rPr sz="2750" spc="-45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Menores</a:t>
            </a:r>
            <a:r>
              <a:rPr sz="2750" spc="-45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spc="-10" dirty="0">
                <a:solidFill>
                  <a:srgbClr val="333333"/>
                </a:solidFill>
                <a:latin typeface="Arial MT"/>
                <a:cs typeface="Arial MT"/>
              </a:rPr>
              <a:t>errores, </a:t>
            </a:r>
            <a:r>
              <a:rPr sz="2750" spc="114" dirty="0">
                <a:solidFill>
                  <a:srgbClr val="333333"/>
                </a:solidFill>
                <a:latin typeface="Arial MT"/>
                <a:cs typeface="Arial MT"/>
              </a:rPr>
              <a:t>rendimiento</a:t>
            </a:r>
            <a:r>
              <a:rPr sz="2750" spc="-1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spc="-10" dirty="0">
                <a:solidFill>
                  <a:srgbClr val="333333"/>
                </a:solidFill>
                <a:latin typeface="Arial MT"/>
                <a:cs typeface="Arial MT"/>
              </a:rPr>
              <a:t>superior.</a:t>
            </a:r>
            <a:endParaRPr sz="275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182099" y="6619866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25</a:t>
            </a: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447246F8-3C51-5C83-214B-6565E50FEC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790104"/>
              </p:ext>
            </p:extLst>
          </p:nvPr>
        </p:nvGraphicFramePr>
        <p:xfrm>
          <a:off x="571791" y="2908087"/>
          <a:ext cx="8161327" cy="18879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0166">
                  <a:extLst>
                    <a:ext uri="{9D8B030D-6E8A-4147-A177-3AD203B41FA5}">
                      <a16:colId xmlns:a16="http://schemas.microsoft.com/office/drawing/2014/main" val="263439616"/>
                    </a:ext>
                  </a:extLst>
                </a:gridCol>
                <a:gridCol w="916039">
                  <a:extLst>
                    <a:ext uri="{9D8B030D-6E8A-4147-A177-3AD203B41FA5}">
                      <a16:colId xmlns:a16="http://schemas.microsoft.com/office/drawing/2014/main" val="41169565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70022159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4469549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805553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53836120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749166273"/>
                    </a:ext>
                  </a:extLst>
                </a:gridCol>
                <a:gridCol w="1272122">
                  <a:extLst>
                    <a:ext uri="{9D8B030D-6E8A-4147-A177-3AD203B41FA5}">
                      <a16:colId xmlns:a16="http://schemas.microsoft.com/office/drawing/2014/main" val="600827536"/>
                    </a:ext>
                  </a:extLst>
                </a:gridCol>
              </a:tblGrid>
              <a:tr h="390426"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lang="es-ES" sz="1600" b="1" spc="-265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Métrica 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R="69850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29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</a:t>
                      </a:r>
                      <a:r>
                        <a:rPr lang="es-ES" sz="1600" b="1" spc="-29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iian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16637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2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s-ES" sz="1600" b="1" spc="-2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ean 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Ffill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Bfill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3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s-ES" sz="1600" b="1" spc="-3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ransformer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tc>
                  <a:txBody>
                    <a:bodyPr/>
                    <a:lstStyle/>
                    <a:p>
                      <a:pPr marL="22288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1600" b="1" spc="-10" dirty="0">
                          <a:solidFill>
                            <a:srgbClr val="0056B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Saits</a:t>
                      </a:r>
                      <a:endParaRPr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3020" marB="0"/>
                </a:tc>
                <a:extLst>
                  <a:ext uri="{0D108BD9-81ED-4DB2-BD59-A6C34878D82A}">
                    <a16:rowId xmlns:a16="http://schemas.microsoft.com/office/drawing/2014/main" val="2097772989"/>
                  </a:ext>
                </a:extLst>
              </a:tr>
              <a:tr h="37194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2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RMSE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3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1,13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3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1,05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1303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0,87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1,06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1,0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5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0,6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5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0,6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4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extLst>
                  <a:ext uri="{0D108BD9-81ED-4DB2-BD59-A6C34878D82A}">
                    <a16:rowId xmlns:a16="http://schemas.microsoft.com/office/drawing/2014/main" val="734350512"/>
                  </a:ext>
                </a:extLst>
              </a:tr>
              <a:tr h="3768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MSE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1,2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9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7335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7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1,12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4732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10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4478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2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0,40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extLst>
                  <a:ext uri="{0D108BD9-81ED-4DB2-BD59-A6C34878D82A}">
                    <a16:rowId xmlns:a16="http://schemas.microsoft.com/office/drawing/2014/main" val="2787434136"/>
                  </a:ext>
                </a:extLst>
              </a:tr>
              <a:tr h="37194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MAE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0,69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10489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0,73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4414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2890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0,3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4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tc>
                  <a:txBody>
                    <a:bodyPr/>
                    <a:lstStyle/>
                    <a:p>
                      <a:pPr marL="15430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0,3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3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42545" marB="0"/>
                </a:tc>
                <a:extLst>
                  <a:ext uri="{0D108BD9-81ED-4DB2-BD59-A6C34878D82A}">
                    <a16:rowId xmlns:a16="http://schemas.microsoft.com/office/drawing/2014/main" val="1650349938"/>
                  </a:ext>
                </a:extLst>
              </a:tr>
              <a:tr h="37680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MRE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2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0,93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0858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0,98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23189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0,62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0,74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2763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</a:t>
                      </a:r>
                      <a:r>
                        <a:rPr lang="es-ES"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6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0,44</a:t>
                      </a:r>
                      <a:endParaRPr sz="1600" dirty="0">
                        <a:latin typeface="Arial MT"/>
                        <a:cs typeface="Arial MT"/>
                      </a:endParaRPr>
                    </a:p>
                  </a:txBody>
                  <a:tcPr marL="0" marR="0" marT="52069" marB="0"/>
                </a:tc>
                <a:extLst>
                  <a:ext uri="{0D108BD9-81ED-4DB2-BD59-A6C34878D82A}">
                    <a16:rowId xmlns:a16="http://schemas.microsoft.com/office/drawing/2014/main" val="85139869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276224" y="3276591"/>
          <a:ext cx="8943975" cy="23450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1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3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3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3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66090"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265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Métr…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R="69850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29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Med…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2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Mean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1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Linear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1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Ffill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1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Bfill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31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Tran…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185"/>
                        </a:spcBef>
                      </a:pPr>
                      <a:r>
                        <a:rPr sz="2400" b="1" spc="-10" dirty="0">
                          <a:solidFill>
                            <a:srgbClr val="0056B3"/>
                          </a:solidFill>
                          <a:latin typeface="Tahoma"/>
                          <a:cs typeface="Tahoma"/>
                        </a:rPr>
                        <a:t>Saits</a:t>
                      </a:r>
                      <a:endParaRPr sz="2400">
                        <a:latin typeface="Tahoma"/>
                        <a:cs typeface="Tahoma"/>
                      </a:endParaRPr>
                    </a:p>
                  </a:txBody>
                  <a:tcPr marL="0" marR="0" marT="2349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61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2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RMSE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28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1,1103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1,0609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0,9252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1,0754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6850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8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1,1018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938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0,7361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0,7345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MSE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1,2329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6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1,1255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0,8559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5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1,1565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R="161925" algn="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1,2140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0,5419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0,5395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61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MAE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0,7177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0,7637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0,4915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0,5836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0,58…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6839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0,40…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0,3962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25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MRE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0,9161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0,9747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0,6273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0,7470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2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0,75…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0,5167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sz="2250" spc="-10" dirty="0">
                          <a:solidFill>
                            <a:srgbClr val="333333"/>
                          </a:solidFill>
                          <a:latin typeface="Arial MT"/>
                          <a:cs typeface="Arial MT"/>
                        </a:rPr>
                        <a:t>0,5057</a:t>
                      </a:r>
                      <a:endParaRPr sz="2250">
                        <a:latin typeface="Arial MT"/>
                        <a:cs typeface="Arial MT"/>
                      </a:endParaRPr>
                    </a:p>
                  </a:txBody>
                  <a:tcPr marL="0" marR="0" marT="42545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192510" y="499362"/>
            <a:ext cx="7094855" cy="196215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967105">
              <a:lnSpc>
                <a:spcPts val="5140"/>
              </a:lnSpc>
              <a:spcBef>
                <a:spcPts val="114"/>
              </a:spcBef>
            </a:pPr>
            <a:r>
              <a:rPr dirty="0"/>
              <a:t>5.8.</a:t>
            </a:r>
            <a:r>
              <a:rPr spc="55" dirty="0"/>
              <a:t> </a:t>
            </a:r>
            <a:r>
              <a:rPr spc="165" dirty="0"/>
              <a:t>Evaluación</a:t>
            </a:r>
            <a:r>
              <a:rPr spc="55" dirty="0"/>
              <a:t> </a:t>
            </a:r>
            <a:r>
              <a:rPr spc="185" dirty="0"/>
              <a:t>del</a:t>
            </a:r>
          </a:p>
          <a:p>
            <a:pPr marL="2560955" marR="5080" indent="-2548890">
              <a:lnSpc>
                <a:spcPts val="4950"/>
              </a:lnSpc>
              <a:spcBef>
                <a:spcPts val="280"/>
              </a:spcBef>
            </a:pPr>
            <a:r>
              <a:rPr spc="254" dirty="0"/>
              <a:t>Rendimiento:</a:t>
            </a:r>
            <a:r>
              <a:rPr spc="155" dirty="0"/>
              <a:t> </a:t>
            </a:r>
            <a:r>
              <a:rPr spc="200" dirty="0"/>
              <a:t>Periodo</a:t>
            </a:r>
            <a:r>
              <a:rPr spc="155" dirty="0"/>
              <a:t> </a:t>
            </a:r>
            <a:r>
              <a:rPr dirty="0"/>
              <a:t>2</a:t>
            </a:r>
            <a:r>
              <a:rPr spc="155" dirty="0"/>
              <a:t> </a:t>
            </a:r>
            <a:r>
              <a:rPr spc="-50" dirty="0"/>
              <a:t>y </a:t>
            </a:r>
            <a:r>
              <a:rPr spc="260" dirty="0"/>
              <a:t>Beijing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3945" y="2614116"/>
            <a:ext cx="5343525" cy="4622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850" b="1" spc="-110" dirty="0">
                <a:solidFill>
                  <a:srgbClr val="333333"/>
                </a:solidFill>
                <a:latin typeface="Arial"/>
                <a:cs typeface="Arial"/>
              </a:rPr>
              <a:t>Cuadro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240" dirty="0">
                <a:solidFill>
                  <a:srgbClr val="333333"/>
                </a:solidFill>
                <a:latin typeface="Arial"/>
                <a:cs typeface="Arial"/>
              </a:rPr>
              <a:t>3: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114" dirty="0">
                <a:solidFill>
                  <a:srgbClr val="333333"/>
                </a:solidFill>
                <a:latin typeface="Arial"/>
                <a:cs typeface="Arial"/>
              </a:rPr>
              <a:t>Resultados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dirty="0">
                <a:solidFill>
                  <a:srgbClr val="333333"/>
                </a:solidFill>
                <a:latin typeface="Arial"/>
                <a:cs typeface="Arial"/>
              </a:rPr>
              <a:t>-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80" dirty="0">
                <a:solidFill>
                  <a:srgbClr val="333333"/>
                </a:solidFill>
                <a:latin typeface="Arial"/>
                <a:cs typeface="Arial"/>
              </a:rPr>
              <a:t>Periodo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50" dirty="0">
                <a:solidFill>
                  <a:srgbClr val="333333"/>
                </a:solidFill>
                <a:latin typeface="Arial"/>
                <a:cs typeface="Arial"/>
              </a:rPr>
              <a:t>2</a:t>
            </a:r>
            <a:endParaRPr sz="285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3945" y="5911279"/>
            <a:ext cx="8436610" cy="85915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3220"/>
              </a:lnSpc>
              <a:spcBef>
                <a:spcPts val="300"/>
              </a:spcBef>
            </a:pP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Validación</a:t>
            </a:r>
            <a:r>
              <a:rPr sz="2750" spc="13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Dataset</a:t>
            </a:r>
            <a:r>
              <a:rPr sz="2750" spc="135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Air-</a:t>
            </a:r>
            <a:r>
              <a:rPr sz="2750" spc="45" dirty="0">
                <a:solidFill>
                  <a:srgbClr val="333333"/>
                </a:solidFill>
                <a:latin typeface="Arial MT"/>
                <a:cs typeface="Arial MT"/>
              </a:rPr>
              <a:t>Quality</a:t>
            </a:r>
            <a:r>
              <a:rPr sz="2750" spc="135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dirty="0">
                <a:solidFill>
                  <a:srgbClr val="333333"/>
                </a:solidFill>
                <a:latin typeface="Arial MT"/>
                <a:cs typeface="Arial MT"/>
              </a:rPr>
              <a:t>(Beijing):</a:t>
            </a:r>
            <a:r>
              <a:rPr sz="2750" spc="14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2750" spc="40" dirty="0">
                <a:solidFill>
                  <a:srgbClr val="333333"/>
                </a:solidFill>
                <a:latin typeface="Arial MT"/>
                <a:cs typeface="Arial MT"/>
              </a:rPr>
              <a:t>Superioridad </a:t>
            </a:r>
            <a:r>
              <a:rPr sz="2750" spc="45" dirty="0">
                <a:solidFill>
                  <a:srgbClr val="333333"/>
                </a:solidFill>
                <a:latin typeface="Arial MT"/>
                <a:cs typeface="Arial MT"/>
              </a:rPr>
              <a:t>confirmada.</a:t>
            </a:r>
            <a:endParaRPr sz="275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182099" y="6619865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55699" y="2147187"/>
            <a:ext cx="7968615" cy="714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/>
              <a:t>5.8.</a:t>
            </a:r>
            <a:r>
              <a:rPr spc="110" dirty="0"/>
              <a:t> </a:t>
            </a:r>
            <a:r>
              <a:rPr spc="190" dirty="0"/>
              <a:t>Discusión</a:t>
            </a:r>
            <a:r>
              <a:rPr spc="110" dirty="0"/>
              <a:t> </a:t>
            </a:r>
            <a:r>
              <a:rPr spc="185" dirty="0"/>
              <a:t>de</a:t>
            </a:r>
            <a:r>
              <a:rPr spc="110" dirty="0"/>
              <a:t> </a:t>
            </a:r>
            <a:r>
              <a:rPr spc="135" dirty="0"/>
              <a:t>Resultados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74" y="3190866"/>
            <a:ext cx="85724" cy="8570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56319" y="2948921"/>
            <a:ext cx="6309995" cy="1663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617855">
              <a:lnSpc>
                <a:spcPct val="122200"/>
              </a:lnSpc>
              <a:spcBef>
                <a:spcPts val="95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DL</a:t>
            </a:r>
            <a:r>
              <a:rPr sz="2200" spc="-4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30" dirty="0">
                <a:solidFill>
                  <a:srgbClr val="333333"/>
                </a:solidFill>
                <a:latin typeface="Microsoft Sans Serif"/>
                <a:cs typeface="Microsoft Sans Serif"/>
              </a:rPr>
              <a:t>(SAITS/Transformer)</a:t>
            </a:r>
            <a:r>
              <a:rPr sz="2200" spc="-3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claramente</a:t>
            </a:r>
            <a:r>
              <a:rPr sz="2200" spc="-3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superior. </a:t>
            </a:r>
            <a:r>
              <a:rPr sz="2200" spc="-145" dirty="0">
                <a:solidFill>
                  <a:srgbClr val="333333"/>
                </a:solidFill>
                <a:latin typeface="Microsoft Sans Serif"/>
                <a:cs typeface="Microsoft Sans Serif"/>
              </a:rPr>
              <a:t>SAITS</a:t>
            </a:r>
            <a:r>
              <a:rPr sz="22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lidera</a:t>
            </a:r>
            <a:r>
              <a:rPr sz="22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en</a:t>
            </a:r>
            <a:r>
              <a:rPr sz="22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precisión.</a:t>
            </a:r>
            <a:endParaRPr sz="2200">
              <a:latin typeface="Microsoft Sans Serif"/>
              <a:cs typeface="Microsoft Sans Serif"/>
            </a:endParaRPr>
          </a:p>
          <a:p>
            <a:pPr marL="12700" marR="5080">
              <a:lnSpc>
                <a:spcPts val="3229"/>
              </a:lnSpc>
              <a:spcBef>
                <a:spcPts val="90"/>
              </a:spcBef>
            </a:pP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Interpolación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Lineal: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Mejor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110" dirty="0">
                <a:solidFill>
                  <a:srgbClr val="333333"/>
                </a:solidFill>
                <a:latin typeface="Microsoft Sans Serif"/>
                <a:cs typeface="Microsoft Sans Serif"/>
              </a:rPr>
              <a:t>método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simple.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Robustez</a:t>
            </a:r>
            <a:r>
              <a:rPr sz="2200" spc="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5" dirty="0">
                <a:solidFill>
                  <a:srgbClr val="333333"/>
                </a:solidFill>
                <a:latin typeface="Microsoft Sans Serif"/>
                <a:cs typeface="Microsoft Sans Serif"/>
              </a:rPr>
              <a:t>frente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faltantes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y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45" dirty="0">
                <a:solidFill>
                  <a:srgbClr val="333333"/>
                </a:solidFill>
                <a:latin typeface="Microsoft Sans Serif"/>
                <a:cs typeface="Microsoft Sans Serif"/>
              </a:rPr>
              <a:t>patrones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complejos.</a:t>
            </a:r>
            <a:endParaRPr sz="2200">
              <a:latin typeface="Microsoft Sans Serif"/>
              <a:cs typeface="Microsoft Sans Serif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8174" y="3600441"/>
            <a:ext cx="85724" cy="8570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8174" y="4010016"/>
            <a:ext cx="85724" cy="8570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38174" y="4419591"/>
            <a:ext cx="85724" cy="8570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9182099" y="6619865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9092" y="1398569"/>
            <a:ext cx="8794115" cy="50718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200" spc="-70" dirty="0"/>
              <a:t>7.2.</a:t>
            </a:r>
            <a:r>
              <a:rPr sz="3200" spc="65" dirty="0"/>
              <a:t> </a:t>
            </a:r>
            <a:r>
              <a:rPr sz="3200" spc="340" dirty="0"/>
              <a:t>Cumplimiento</a:t>
            </a:r>
            <a:r>
              <a:rPr sz="3200" spc="65" dirty="0"/>
              <a:t> </a:t>
            </a:r>
            <a:r>
              <a:rPr sz="3200" spc="185" dirty="0"/>
              <a:t>de</a:t>
            </a:r>
            <a:r>
              <a:rPr sz="3200" spc="70" dirty="0"/>
              <a:t> </a:t>
            </a:r>
            <a:r>
              <a:rPr sz="3200" spc="185" dirty="0"/>
              <a:t>Objetivos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74" y="3590915"/>
            <a:ext cx="85724" cy="8570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8174" y="4000490"/>
            <a:ext cx="85724" cy="8570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8174" y="4410065"/>
            <a:ext cx="85724" cy="8570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8174" y="4819640"/>
            <a:ext cx="85724" cy="8570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38174" y="5229215"/>
            <a:ext cx="85724" cy="8570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38174" y="2628900"/>
            <a:ext cx="5792470" cy="351711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982980">
              <a:lnSpc>
                <a:spcPct val="140400"/>
              </a:lnSpc>
              <a:spcBef>
                <a:spcPts val="95"/>
              </a:spcBef>
            </a:pPr>
            <a:r>
              <a:rPr sz="2850" b="1" spc="-55" dirty="0">
                <a:solidFill>
                  <a:srgbClr val="333333"/>
                </a:solidFill>
                <a:latin typeface="Arial"/>
                <a:cs typeface="Arial"/>
              </a:rPr>
              <a:t>Objetivo</a:t>
            </a:r>
            <a:r>
              <a:rPr sz="2850" b="1" spc="-8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110" dirty="0">
                <a:solidFill>
                  <a:srgbClr val="333333"/>
                </a:solidFill>
                <a:latin typeface="Arial"/>
                <a:cs typeface="Arial"/>
              </a:rPr>
              <a:t>Principal:</a:t>
            </a:r>
            <a:endParaRPr lang="es-ES" sz="2850" b="1" spc="-60" dirty="0">
              <a:solidFill>
                <a:srgbClr val="333333"/>
              </a:solidFill>
              <a:latin typeface="Arial"/>
              <a:cs typeface="Arial"/>
            </a:endParaRPr>
          </a:p>
          <a:p>
            <a:pPr marL="12700" marR="982980">
              <a:lnSpc>
                <a:spcPct val="140400"/>
              </a:lnSpc>
              <a:spcBef>
                <a:spcPts val="95"/>
              </a:spcBef>
            </a:pPr>
            <a:r>
              <a:rPr sz="2850" b="1" spc="-90" dirty="0">
                <a:solidFill>
                  <a:srgbClr val="333333"/>
                </a:solidFill>
                <a:latin typeface="Arial"/>
                <a:cs typeface="Arial"/>
              </a:rPr>
              <a:t>Objetivos</a:t>
            </a:r>
            <a:r>
              <a:rPr sz="2850" b="1" spc="-4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850" b="1" spc="-65" dirty="0">
                <a:solidFill>
                  <a:srgbClr val="333333"/>
                </a:solidFill>
                <a:latin typeface="Arial"/>
                <a:cs typeface="Arial"/>
              </a:rPr>
              <a:t>Específicos</a:t>
            </a:r>
            <a:r>
              <a:rPr lang="es-ES" sz="2850" b="1" spc="-65" dirty="0">
                <a:solidFill>
                  <a:srgbClr val="333333"/>
                </a:solidFill>
                <a:latin typeface="Arial"/>
                <a:cs typeface="Arial"/>
              </a:rPr>
              <a:t>:</a:t>
            </a:r>
            <a:endParaRPr lang="es-ES" sz="2850" b="1" dirty="0">
              <a:latin typeface="Arial"/>
              <a:cs typeface="Arial"/>
            </a:endParaRPr>
          </a:p>
          <a:p>
            <a:pPr marL="12700" marR="982980">
              <a:lnSpc>
                <a:spcPct val="140400"/>
              </a:lnSpc>
              <a:spcBef>
                <a:spcPts val="95"/>
              </a:spcBef>
            </a:pPr>
            <a:r>
              <a:rPr lang="es-ES" sz="2200" spc="70" dirty="0">
                <a:solidFill>
                  <a:srgbClr val="333333"/>
                </a:solidFill>
                <a:latin typeface="Microsoft Sans Serif"/>
                <a:cs typeface="Microsoft Sans Serif"/>
              </a:rPr>
              <a:t>Fundamentación</a:t>
            </a:r>
            <a:r>
              <a:rPr lang="es-ES" sz="2200" spc="-6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-25" dirty="0">
                <a:solidFill>
                  <a:srgbClr val="333333"/>
                </a:solidFill>
                <a:latin typeface="Microsoft Sans Serif"/>
                <a:cs typeface="Microsoft Sans Serif"/>
              </a:rPr>
              <a:t>Teórica</a:t>
            </a:r>
            <a:r>
              <a:rPr lang="es-ES" sz="2200" spc="-5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550" spc="-665" dirty="0">
                <a:solidFill>
                  <a:srgbClr val="333333"/>
                </a:solidFill>
                <a:latin typeface="MingLiU_HKSCS-ExtB"/>
                <a:cs typeface="MingLiU_HKSCS-ExtB"/>
              </a:rPr>
              <a:t> </a:t>
            </a:r>
            <a:r>
              <a:rPr lang="es-ES"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Estado</a:t>
            </a:r>
            <a:r>
              <a:rPr lang="es-ES" sz="2200" spc="-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del</a:t>
            </a:r>
            <a:r>
              <a:rPr lang="es-ES" sz="2200" spc="-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Arte</a:t>
            </a:r>
            <a:r>
              <a:rPr lang="es-ES" sz="2200" spc="-4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endParaRPr lang="es-ES" sz="2550" dirty="0">
              <a:latin typeface="MingLiU_HKSCS-ExtB"/>
              <a:cs typeface="MingLiU_HKSCS-ExtB"/>
            </a:endParaRPr>
          </a:p>
          <a:p>
            <a:pPr marL="434975" marR="5080">
              <a:lnSpc>
                <a:spcPct val="105400"/>
              </a:lnSpc>
            </a:pP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Modelo</a:t>
            </a: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Vanguardia</a:t>
            </a:r>
            <a:r>
              <a:rPr sz="2200" spc="9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30" dirty="0">
                <a:solidFill>
                  <a:srgbClr val="333333"/>
                </a:solidFill>
                <a:latin typeface="Microsoft Sans Serif"/>
                <a:cs typeface="Microsoft Sans Serif"/>
              </a:rPr>
              <a:t>(SAITS)</a:t>
            </a: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aplicado</a:t>
            </a:r>
            <a:r>
              <a:rPr sz="2200" spc="9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550" spc="-670" dirty="0">
                <a:solidFill>
                  <a:srgbClr val="333333"/>
                </a:solidFill>
                <a:latin typeface="MingLiU_HKSCS-ExtB"/>
                <a:cs typeface="MingLiU_HKSCS-ExtB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Paquete</a:t>
            </a:r>
            <a:r>
              <a:rPr sz="2200" spc="1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15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Software</a:t>
            </a:r>
            <a:r>
              <a:rPr sz="2200" spc="15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desarrollad</a:t>
            </a:r>
            <a:r>
              <a:rPr lang="es-ES"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o</a:t>
            </a:r>
            <a:r>
              <a:rPr sz="2200" spc="14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Evaluación</a:t>
            </a:r>
            <a:r>
              <a:rPr sz="22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Desempeño</a:t>
            </a:r>
            <a:r>
              <a:rPr sz="22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endParaRPr sz="2550" dirty="0">
              <a:latin typeface="MingLiU_HKSCS-ExtB"/>
              <a:cs typeface="MingLiU_HKSCS-ExtB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182099" y="6619865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42527" y="876300"/>
            <a:ext cx="4627245" cy="714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95" dirty="0"/>
              <a:t>7.3.</a:t>
            </a:r>
            <a:r>
              <a:rPr spc="-204" dirty="0"/>
              <a:t> </a:t>
            </a:r>
            <a:r>
              <a:rPr spc="225" dirty="0"/>
              <a:t>Limitaciones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8174" y="2981315"/>
            <a:ext cx="85724" cy="8570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56319" y="2739370"/>
            <a:ext cx="5951220" cy="2073275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Alcance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datos.</a:t>
            </a:r>
            <a:endParaRPr sz="2200" dirty="0">
              <a:latin typeface="Microsoft Sans Serif"/>
              <a:cs typeface="Microsoft Sans Serif"/>
            </a:endParaRPr>
          </a:p>
          <a:p>
            <a:pPr marL="12700" marR="47625">
              <a:lnSpc>
                <a:spcPts val="3220"/>
              </a:lnSpc>
              <a:spcBef>
                <a:spcPts val="209"/>
              </a:spcBef>
            </a:pPr>
            <a:r>
              <a:rPr sz="2200" spc="45" dirty="0">
                <a:solidFill>
                  <a:srgbClr val="333333"/>
                </a:solidFill>
                <a:latin typeface="Microsoft Sans Serif"/>
                <a:cs typeface="Microsoft Sans Serif"/>
              </a:rPr>
              <a:t>Hiperparámetros</a:t>
            </a:r>
            <a:r>
              <a:rPr sz="2200" spc="-4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no</a:t>
            </a:r>
            <a:r>
              <a:rPr sz="2200" spc="-4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optimizados</a:t>
            </a:r>
            <a:r>
              <a:rPr sz="2200" spc="-4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</a:t>
            </a:r>
            <a:r>
              <a:rPr sz="2200" spc="-3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fondo.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Patrones</a:t>
            </a:r>
            <a:r>
              <a:rPr sz="2200" spc="1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1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faltantes</a:t>
            </a:r>
            <a:r>
              <a:rPr sz="2200" spc="1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artificiales</a:t>
            </a:r>
            <a:r>
              <a:rPr sz="2200" spc="1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simplificados. </a:t>
            </a:r>
            <a:r>
              <a:rPr sz="2200" spc="90" dirty="0">
                <a:solidFill>
                  <a:srgbClr val="333333"/>
                </a:solidFill>
                <a:latin typeface="Microsoft Sans Serif"/>
                <a:cs typeface="Microsoft Sans Serif"/>
              </a:rPr>
              <a:t>Impacto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en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tareas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posteriores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85" dirty="0">
                <a:solidFill>
                  <a:srgbClr val="333333"/>
                </a:solidFill>
                <a:latin typeface="Microsoft Sans Serif"/>
                <a:cs typeface="Microsoft Sans Serif"/>
              </a:rPr>
              <a:t>no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evaluado.</a:t>
            </a:r>
            <a:endParaRPr sz="220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390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Comparativa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80" dirty="0">
                <a:solidFill>
                  <a:srgbClr val="333333"/>
                </a:solidFill>
                <a:latin typeface="Microsoft Sans Serif"/>
                <a:cs typeface="Microsoft Sans Serif"/>
              </a:rPr>
              <a:t>limitada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</a:t>
            </a:r>
            <a:r>
              <a:rPr sz="22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DL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y</a:t>
            </a:r>
            <a:r>
              <a:rPr sz="22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75" dirty="0">
                <a:solidFill>
                  <a:srgbClr val="333333"/>
                </a:solidFill>
                <a:latin typeface="Microsoft Sans Serif"/>
                <a:cs typeface="Microsoft Sans Serif"/>
              </a:rPr>
              <a:t>métodos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 simples.</a:t>
            </a:r>
            <a:endParaRPr sz="2200" dirty="0">
              <a:latin typeface="Microsoft Sans Serif"/>
              <a:cs typeface="Microsoft Sans Serif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8174" y="3390890"/>
            <a:ext cx="85724" cy="8570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8174" y="3800465"/>
            <a:ext cx="85724" cy="8570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38174" y="4210040"/>
            <a:ext cx="85724" cy="8570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38174" y="4619615"/>
            <a:ext cx="85724" cy="8570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9182099" y="6619864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120"/>
              </a:lnSpc>
            </a:pPr>
            <a:r>
              <a:rPr spc="-25" dirty="0"/>
              <a:t>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63004" y="251712"/>
            <a:ext cx="7753984" cy="720069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3197860" marR="5080" indent="-3185795">
              <a:lnSpc>
                <a:spcPts val="4880"/>
              </a:lnSpc>
              <a:spcBef>
                <a:spcPts val="715"/>
              </a:spcBef>
            </a:pPr>
            <a:r>
              <a:rPr dirty="0"/>
              <a:t>7.4.</a:t>
            </a:r>
            <a:r>
              <a:rPr spc="-10" dirty="0"/>
              <a:t> </a:t>
            </a:r>
            <a:r>
              <a:rPr spc="275" dirty="0"/>
              <a:t>Futuro</a:t>
            </a:r>
            <a:endParaRPr spc="165" dirty="0"/>
          </a:p>
        </p:txBody>
      </p:sp>
      <p:sp>
        <p:nvSpPr>
          <p:cNvPr id="3" name="object 3"/>
          <p:cNvSpPr txBox="1"/>
          <p:nvPr/>
        </p:nvSpPr>
        <p:spPr>
          <a:xfrm>
            <a:off x="1022350" y="2247900"/>
            <a:ext cx="6207125" cy="2743442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365885" algn="ctr">
              <a:lnSpc>
                <a:spcPct val="100000"/>
              </a:lnSpc>
              <a:spcBef>
                <a:spcPts val="1889"/>
              </a:spcBef>
            </a:pPr>
            <a:r>
              <a:rPr sz="3450" spc="-30" dirty="0">
                <a:solidFill>
                  <a:srgbClr val="0056B3"/>
                </a:solidFill>
                <a:latin typeface="Lucida Sans Unicode"/>
                <a:cs typeface="Lucida Sans Unicode"/>
              </a:rPr>
              <a:t>Trabajo</a:t>
            </a:r>
            <a:r>
              <a:rPr sz="3450" spc="-210" dirty="0">
                <a:solidFill>
                  <a:srgbClr val="0056B3"/>
                </a:solidFill>
                <a:latin typeface="Lucida Sans Unicode"/>
                <a:cs typeface="Lucida Sans Unicode"/>
              </a:rPr>
              <a:t> </a:t>
            </a:r>
            <a:r>
              <a:rPr sz="3450" spc="-10" dirty="0">
                <a:solidFill>
                  <a:srgbClr val="0056B3"/>
                </a:solidFill>
                <a:latin typeface="Lucida Sans Unicode"/>
                <a:cs typeface="Lucida Sans Unicode"/>
              </a:rPr>
              <a:t>Futuro:</a:t>
            </a:r>
            <a:endParaRPr sz="3450" dirty="0">
              <a:latin typeface="Lucida Sans Unicode"/>
              <a:cs typeface="Lucida Sans Unicode"/>
            </a:endParaRPr>
          </a:p>
          <a:p>
            <a:pPr marL="12700" marR="1632585">
              <a:lnSpc>
                <a:spcPct val="122200"/>
              </a:lnSpc>
              <a:spcBef>
                <a:spcPts val="575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Mejora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modelos</a:t>
            </a:r>
            <a:r>
              <a:rPr sz="2200" spc="-1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Transformer. </a:t>
            </a:r>
            <a:r>
              <a:rPr sz="2200" spc="55" dirty="0">
                <a:solidFill>
                  <a:srgbClr val="333333"/>
                </a:solidFill>
                <a:latin typeface="Microsoft Sans Serif"/>
                <a:cs typeface="Microsoft Sans Serif"/>
              </a:rPr>
              <a:t>Integración</a:t>
            </a:r>
            <a:r>
              <a:rPr sz="2200" spc="-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con</a:t>
            </a:r>
            <a:r>
              <a:rPr sz="2200" spc="-6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análisis</a:t>
            </a:r>
            <a:r>
              <a:rPr sz="2200" spc="-7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posteriores.</a:t>
            </a:r>
            <a:endParaRPr lang="es-ES" sz="2200" spc="-10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 marL="12700" marR="1632585">
              <a:lnSpc>
                <a:spcPct val="122200"/>
              </a:lnSpc>
              <a:spcBef>
                <a:spcPts val="575"/>
              </a:spcBef>
            </a:pP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Aplicación</a:t>
            </a:r>
            <a:r>
              <a:rPr sz="2200" spc="13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dirty="0">
                <a:solidFill>
                  <a:srgbClr val="333333"/>
                </a:solidFill>
                <a:latin typeface="Microsoft Sans Serif"/>
                <a:cs typeface="Microsoft Sans Serif"/>
              </a:rPr>
              <a:t>a</a:t>
            </a:r>
            <a:r>
              <a:rPr sz="2200" spc="13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sz="22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ODS.</a:t>
            </a:r>
            <a:endParaRPr lang="es-ES" sz="2200" spc="-20" dirty="0">
              <a:solidFill>
                <a:srgbClr val="333333"/>
              </a:solidFill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2120"/>
              </a:spcBef>
            </a:pPr>
            <a:endParaRPr lang="es-ES" sz="2000" dirty="0">
              <a:latin typeface="Microsoft Sans Serif"/>
              <a:cs typeface="Microsoft Sans Serif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0528" y="4232189"/>
            <a:ext cx="85724" cy="8570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0528" y="3263350"/>
            <a:ext cx="85724" cy="8570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0528" y="3746225"/>
            <a:ext cx="85724" cy="85705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9182099" y="6619864"/>
            <a:ext cx="247650" cy="228600"/>
          </a:xfrm>
          <a:custGeom>
            <a:avLst/>
            <a:gdLst/>
            <a:ahLst/>
            <a:cxnLst/>
            <a:rect l="l" t="t" r="r" b="b"/>
            <a:pathLst>
              <a:path w="247650" h="228600">
                <a:moveTo>
                  <a:pt x="247649" y="228599"/>
                </a:moveTo>
                <a:lnTo>
                  <a:pt x="0" y="228599"/>
                </a:lnTo>
                <a:lnTo>
                  <a:pt x="0" y="0"/>
                </a:lnTo>
                <a:lnTo>
                  <a:pt x="247649" y="0"/>
                </a:lnTo>
                <a:lnTo>
                  <a:pt x="247649" y="228599"/>
                </a:lnTo>
                <a:close/>
              </a:path>
            </a:pathLst>
          </a:custGeom>
          <a:solidFill>
            <a:srgbClr val="000000">
              <a:alpha val="3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221043" y="6635750"/>
            <a:ext cx="1739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25" dirty="0">
                <a:solidFill>
                  <a:srgbClr val="FFFFFF"/>
                </a:solidFill>
                <a:latin typeface="Arial MT"/>
                <a:cs typeface="Arial MT"/>
              </a:rPr>
              <a:t>30</a:t>
            </a:r>
            <a:endParaRPr sz="10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87A4DB-B600-96B9-A33B-D15EAF4A7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150" y="1342430"/>
            <a:ext cx="7081491" cy="1308050"/>
          </a:xfrm>
        </p:spPr>
        <p:txBody>
          <a:bodyPr/>
          <a:lstStyle/>
          <a:p>
            <a:pPr marL="1365885">
              <a:lnSpc>
                <a:spcPct val="100000"/>
              </a:lnSpc>
              <a:spcBef>
                <a:spcPts val="385"/>
              </a:spcBef>
            </a:pPr>
            <a:r>
              <a:rPr lang="es-ES" sz="4000" dirty="0">
                <a:latin typeface="Lucida Sans Unicode"/>
                <a:cs typeface="Lucida Sans Unicode"/>
              </a:rPr>
              <a:t>7.5. Conclusión</a:t>
            </a:r>
            <a:r>
              <a:rPr lang="es-ES" sz="4000" spc="90" dirty="0">
                <a:latin typeface="Lucida Sans Unicode"/>
                <a:cs typeface="Lucida Sans Unicode"/>
              </a:rPr>
              <a:t> </a:t>
            </a:r>
            <a:r>
              <a:rPr lang="es-ES" sz="4000" spc="-10" dirty="0">
                <a:latin typeface="Lucida Sans Unicode"/>
                <a:cs typeface="Lucida Sans Unicode"/>
              </a:rPr>
              <a:t>Final:</a:t>
            </a:r>
            <a:br>
              <a:rPr lang="es-ES" sz="6600" dirty="0">
                <a:latin typeface="Lucida Sans Unicode"/>
                <a:cs typeface="Lucida Sans Unicode"/>
              </a:rPr>
            </a:b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C1112B-14F3-FE0B-0798-04796C0551BE}"/>
              </a:ext>
            </a:extLst>
          </p:cNvPr>
          <p:cNvSpPr txBox="1"/>
          <p:nvPr/>
        </p:nvSpPr>
        <p:spPr>
          <a:xfrm>
            <a:off x="641350" y="3005435"/>
            <a:ext cx="56018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pc="-145" dirty="0">
                <a:solidFill>
                  <a:srgbClr val="333333"/>
                </a:solidFill>
                <a:latin typeface="Microsoft Sans Serif"/>
                <a:cs typeface="Microsoft Sans Serif"/>
              </a:rPr>
              <a:t>S</a:t>
            </a:r>
            <a:r>
              <a:rPr lang="es-ES" sz="1800" spc="-145" dirty="0">
                <a:solidFill>
                  <a:srgbClr val="333333"/>
                </a:solidFill>
                <a:latin typeface="Microsoft Sans Serif"/>
                <a:cs typeface="Microsoft Sans Serif"/>
              </a:rPr>
              <a:t>AITS</a:t>
            </a:r>
            <a:r>
              <a:rPr lang="es-ES" sz="18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(Transformers)</a:t>
            </a:r>
            <a:r>
              <a:rPr lang="es-ES" sz="18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superior </a:t>
            </a:r>
            <a:r>
              <a:rPr lang="es-ES" sz="18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en</a:t>
            </a:r>
            <a:r>
              <a:rPr lang="es-ES" sz="1800" spc="-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95" dirty="0">
                <a:solidFill>
                  <a:srgbClr val="333333"/>
                </a:solidFill>
                <a:latin typeface="Microsoft Sans Serif"/>
                <a:cs typeface="Microsoft Sans Serif"/>
              </a:rPr>
              <a:t>imputación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-125" dirty="0">
                <a:solidFill>
                  <a:srgbClr val="333333"/>
                </a:solidFill>
                <a:latin typeface="Microsoft Sans Serif"/>
                <a:cs typeface="Microsoft Sans Serif"/>
              </a:rPr>
              <a:t>IoT.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spc="-50" dirty="0">
                <a:solidFill>
                  <a:srgbClr val="333333"/>
                </a:solidFill>
                <a:latin typeface="Microsoft Sans Serif"/>
                <a:cs typeface="Microsoft Sans Serif"/>
              </a:rPr>
              <a:t>Bases</a:t>
            </a:r>
            <a:r>
              <a:rPr lang="es-ES" sz="1800" spc="-2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para</a:t>
            </a:r>
            <a:r>
              <a:rPr lang="es-ES" sz="18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45" dirty="0">
                <a:solidFill>
                  <a:srgbClr val="333333"/>
                </a:solidFill>
                <a:latin typeface="Microsoft Sans Serif"/>
                <a:cs typeface="Microsoft Sans Serif"/>
              </a:rPr>
              <a:t>calidad</a:t>
            </a:r>
            <a:r>
              <a:rPr lang="es-ES" sz="1800" spc="-2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60" dirty="0">
                <a:solidFill>
                  <a:srgbClr val="333333"/>
                </a:solidFill>
                <a:latin typeface="Microsoft Sans Serif"/>
                <a:cs typeface="Microsoft Sans Serif"/>
              </a:rPr>
              <a:t>de</a:t>
            </a:r>
            <a:r>
              <a:rPr lang="es-ES" sz="18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datos</a:t>
            </a:r>
            <a:r>
              <a:rPr lang="es-ES" sz="1800" spc="-25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dirty="0">
                <a:solidFill>
                  <a:srgbClr val="333333"/>
                </a:solidFill>
                <a:latin typeface="Microsoft Sans Serif"/>
                <a:cs typeface="Microsoft Sans Serif"/>
              </a:rPr>
              <a:t>y</a:t>
            </a:r>
            <a:r>
              <a:rPr lang="es-ES" sz="1800" spc="-20" dirty="0">
                <a:solidFill>
                  <a:srgbClr val="333333"/>
                </a:solidFill>
                <a:latin typeface="Microsoft Sans Serif"/>
                <a:cs typeface="Microsoft Sans Serif"/>
              </a:rPr>
              <a:t> </a:t>
            </a:r>
            <a:r>
              <a:rPr lang="es-ES" sz="1800" spc="-10" dirty="0">
                <a:solidFill>
                  <a:srgbClr val="333333"/>
                </a:solidFill>
                <a:latin typeface="Microsoft Sans Serif"/>
                <a:cs typeface="Microsoft Sans Serif"/>
              </a:rPr>
              <a:t>sostenibilidad.</a:t>
            </a:r>
            <a:br>
              <a:rPr lang="es-ES" sz="1800" dirty="0">
                <a:latin typeface="Microsoft Sans Serif"/>
                <a:cs typeface="Microsoft Sans Serif"/>
              </a:rPr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58344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67142-DD7E-7FEE-4EDC-1F9F096E8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1719" y="2036685"/>
            <a:ext cx="5187951" cy="1661993"/>
          </a:xfrm>
        </p:spPr>
        <p:txBody>
          <a:bodyPr/>
          <a:lstStyle/>
          <a:p>
            <a:r>
              <a:rPr lang="es-ES" sz="3600" spc="-90" dirty="0">
                <a:solidFill>
                  <a:srgbClr val="333333"/>
                </a:solidFill>
              </a:rPr>
              <a:t>¡Gracias</a:t>
            </a:r>
            <a:r>
              <a:rPr lang="es-ES" sz="3600" spc="-80" dirty="0">
                <a:solidFill>
                  <a:srgbClr val="333333"/>
                </a:solidFill>
              </a:rPr>
              <a:t> </a:t>
            </a:r>
            <a:r>
              <a:rPr lang="es-ES" sz="3600" spc="95" dirty="0">
                <a:solidFill>
                  <a:srgbClr val="333333"/>
                </a:solidFill>
              </a:rPr>
              <a:t>por</a:t>
            </a:r>
            <a:r>
              <a:rPr lang="es-ES" sz="3600" spc="-75" dirty="0">
                <a:solidFill>
                  <a:srgbClr val="333333"/>
                </a:solidFill>
              </a:rPr>
              <a:t> </a:t>
            </a:r>
            <a:r>
              <a:rPr lang="es-ES" sz="3600" dirty="0">
                <a:solidFill>
                  <a:srgbClr val="333333"/>
                </a:solidFill>
              </a:rPr>
              <a:t>su</a:t>
            </a:r>
            <a:r>
              <a:rPr lang="es-ES" sz="3600" spc="-75" dirty="0">
                <a:solidFill>
                  <a:srgbClr val="333333"/>
                </a:solidFill>
              </a:rPr>
              <a:t> </a:t>
            </a:r>
            <a:r>
              <a:rPr lang="es-ES" sz="3600" spc="40" dirty="0">
                <a:solidFill>
                  <a:srgbClr val="333333"/>
                </a:solidFill>
              </a:rPr>
              <a:t>atención!</a:t>
            </a:r>
            <a:br>
              <a:rPr lang="es-ES" sz="3600" dirty="0"/>
            </a:br>
            <a:endParaRPr lang="es-ES" sz="3600" dirty="0"/>
          </a:p>
        </p:txBody>
      </p:sp>
      <p:sp>
        <p:nvSpPr>
          <p:cNvPr id="6" name="object 10">
            <a:extLst>
              <a:ext uri="{FF2B5EF4-FFF2-40B4-BE49-F238E27FC236}">
                <a16:creationId xmlns:a16="http://schemas.microsoft.com/office/drawing/2014/main" id="{F7FBB6B7-5868-97C6-1CE3-BFCC1B35D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08350" y="3471126"/>
            <a:ext cx="3952231" cy="43986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spc="-10" dirty="0">
                <a:solidFill>
                  <a:srgbClr val="333333"/>
                </a:solidFill>
                <a:latin typeface="Arial MT"/>
                <a:cs typeface="Arial MT"/>
              </a:rPr>
              <a:t>¿Preguntas?</a:t>
            </a:r>
            <a:endParaRPr sz="275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1219842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1341</TotalTime>
  <Words>992</Words>
  <Application>Microsoft Macintosh PowerPoint</Application>
  <PresentationFormat>Personalizado</PresentationFormat>
  <Paragraphs>249</Paragraphs>
  <Slides>31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40" baseType="lpstr">
      <vt:lpstr>MingLiU_HKSCS-ExtB</vt:lpstr>
      <vt:lpstr>Aptos</vt:lpstr>
      <vt:lpstr>Arial</vt:lpstr>
      <vt:lpstr>Arial MT</vt:lpstr>
      <vt:lpstr>Lucida Sans Unicode</vt:lpstr>
      <vt:lpstr>Microsoft Sans Serif</vt:lpstr>
      <vt:lpstr>Tahoma</vt:lpstr>
      <vt:lpstr>Times New Roman</vt:lpstr>
      <vt:lpstr>Office Theme</vt:lpstr>
      <vt:lpstr>Imputación de Datos Faltantes de Variables Meteorológicas  y de Contaminación en Series Temporales Multivariantes IoT con Modelos Transformer</vt:lpstr>
      <vt:lpstr>Índice</vt:lpstr>
      <vt:lpstr>Introducción: Smart Poqueira</vt:lpstr>
      <vt:lpstr>El Desafío de los Datos Faltantes</vt:lpstr>
      <vt:lpstr>Presentación de PowerPoint</vt:lpstr>
      <vt:lpstr>Presentación de PowerPoint</vt:lpstr>
      <vt:lpstr>El Problema de la Imputación</vt:lpstr>
      <vt:lpstr>El Problema de la Imputación: Evaluación.</vt:lpstr>
      <vt:lpstr>Taxonomía de Métodos de Imputación</vt:lpstr>
      <vt:lpstr>Presentación de PowerPoint</vt:lpstr>
      <vt:lpstr>Taxonomía. Información Local</vt:lpstr>
      <vt:lpstr>Presentación de PowerPoint</vt:lpstr>
      <vt:lpstr>Presentación de PowerPoint</vt:lpstr>
      <vt:lpstr>Del Machine Learning al Deep Learning </vt:lpstr>
      <vt:lpstr>Arquitectura del Transformer</vt:lpstr>
      <vt:lpstr>Arquitectura del Transformer</vt:lpstr>
      <vt:lpstr>Arquitectura del Transformer</vt:lpstr>
      <vt:lpstr>Arquitectura del Transformer</vt:lpstr>
      <vt:lpstr>PyPOTS: Una biblioteca de Python para trabajar con Series Temporales Parcialmente Observadas</vt:lpstr>
      <vt:lpstr>SAITS: Self-Attention Based Imputation for Time Series</vt:lpstr>
      <vt:lpstr>SAITS: Self-Attention Based Imputation for Time Series</vt:lpstr>
      <vt:lpstr>SAITS: Self-Attention Based Imputation for Time Series</vt:lpstr>
      <vt:lpstr>Entorno Experimental y Flujo de Trabajo</vt:lpstr>
      <vt:lpstr>5.8. Evaluación del Rendimiento: Periodo 1</vt:lpstr>
      <vt:lpstr>5.8. Evaluación del Rendimiento: Periodo 2 y Beijing</vt:lpstr>
      <vt:lpstr>5.8. Discusión de Resultados</vt:lpstr>
      <vt:lpstr>7.2. Cumplimiento de Objetivos</vt:lpstr>
      <vt:lpstr>7.3. Limitaciones</vt:lpstr>
      <vt:lpstr>7.4. Futuro</vt:lpstr>
      <vt:lpstr>7.5. Conclusión Final: </vt:lpstr>
      <vt:lpstr>¡Gracias por su atención!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TFG: Imputación de Datos Faltantes con Modelos Transformer</dc:title>
  <cp:lastModifiedBy>RICARDO RUIZ FERNANDEZ DE ALBA</cp:lastModifiedBy>
  <cp:revision>9</cp:revision>
  <dcterms:created xsi:type="dcterms:W3CDTF">2025-06-09T11:22:56Z</dcterms:created>
  <dcterms:modified xsi:type="dcterms:W3CDTF">2025-06-14T15:50:55Z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2025-06-09T00:00:00Z</vt:filetime>
  </property>
  <property fmtid="{D5CDD505-2E9C-101B-9397-08002B2CF9AE}" pid="3" name="Creator">
    <vt:lpwstr>Mozilla/5.0 (Macintosh; Intel Mac OS X 10_15_7) AppleWebKit/537.36 (KHTML, like Gecko) Chrome/137.0.0.0 Safari/537.36</vt:lpwstr>
  </property>
  <property fmtid="{D5CDD505-2E9C-101B-9397-08002B2CF9AE}" pid="4" name="LastSaved">
    <vt:filetime>2025-06-09T00:00:00Z</vt:filetime>
  </property>
  <property fmtid="{D5CDD505-2E9C-101B-9397-08002B2CF9AE}" pid="5" name="Producer">
    <vt:lpwstr>Skia/PDF m137</vt:lpwstr>
  </property>
</Properties>
</file>