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handoutMasterIdLst>
    <p:handoutMasterId r:id="rId37"/>
  </p:handoutMasterIdLst>
  <p:sldIdLst>
    <p:sldId id="293" r:id="rId2"/>
    <p:sldId id="257" r:id="rId3"/>
    <p:sldId id="282" r:id="rId4"/>
    <p:sldId id="259" r:id="rId5"/>
    <p:sldId id="314" r:id="rId6"/>
    <p:sldId id="260" r:id="rId7"/>
    <p:sldId id="261" r:id="rId8"/>
    <p:sldId id="297" r:id="rId9"/>
    <p:sldId id="298" r:id="rId10"/>
    <p:sldId id="301" r:id="rId11"/>
    <p:sldId id="299" r:id="rId12"/>
    <p:sldId id="300" r:id="rId13"/>
    <p:sldId id="302" r:id="rId14"/>
    <p:sldId id="269" r:id="rId15"/>
    <p:sldId id="305" r:id="rId16"/>
    <p:sldId id="304" r:id="rId17"/>
    <p:sldId id="281" r:id="rId18"/>
    <p:sldId id="307" r:id="rId19"/>
    <p:sldId id="308" r:id="rId20"/>
    <p:sldId id="280" r:id="rId21"/>
    <p:sldId id="285" r:id="rId22"/>
    <p:sldId id="309" r:id="rId23"/>
    <p:sldId id="317" r:id="rId24"/>
    <p:sldId id="315" r:id="rId25"/>
    <p:sldId id="287" r:id="rId26"/>
    <p:sldId id="316" r:id="rId27"/>
    <p:sldId id="327" r:id="rId28"/>
    <p:sldId id="329" r:id="rId29"/>
    <p:sldId id="328" r:id="rId30"/>
    <p:sldId id="295" r:id="rId31"/>
    <p:sldId id="330" r:id="rId32"/>
    <p:sldId id="331" r:id="rId33"/>
    <p:sldId id="268" r:id="rId34"/>
    <p:sldId id="306" r:id="rId35"/>
  </p:sldIdLst>
  <p:sldSz cx="9512300" cy="6934200"/>
  <p:notesSz cx="9512300" cy="69342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3704A83-4D8C-A9F6-3450-1864791C7C00}" name="RICARDO RUIZ FERNANDEZ DE ALBA" initials="RR" userId="S::e.ricardoruiz@ms.ugr.es::49fd277d-2760-4a81-abd6-8532aa36ade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4F4C2"/>
    <a:srgbClr val="F9E3E2"/>
    <a:srgbClr val="B9D3BF"/>
    <a:srgbClr val="D6DCEA"/>
    <a:srgbClr val="FFDFB1"/>
    <a:srgbClr val="ABDCE4"/>
    <a:srgbClr val="D6FFD0"/>
    <a:srgbClr val="F3F3C1"/>
    <a:srgbClr val="FF9933"/>
    <a:srgbClr val="C2E8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4C1A8A3-306A-4EB7-A6B1-4F7E0EB9C5D6}" styleName="Estilo medio 3 - Énfasis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Estilo medio 3 - Énfasis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505E3EF-67EA-436B-97B2-0124C06EBD24}" styleName="Estilo medio 4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737"/>
    <p:restoredTop sz="71909"/>
  </p:normalViewPr>
  <p:slideViewPr>
    <p:cSldViewPr>
      <p:cViewPr varScale="1">
        <p:scale>
          <a:sx n="90" d="100"/>
          <a:sy n="90" d="100"/>
        </p:scale>
        <p:origin x="1512" y="200"/>
      </p:cViewPr>
      <p:guideLst>
        <p:guide orient="horz" pos="2880"/>
        <p:guide pos="2160"/>
      </p:guideLst>
    </p:cSldViewPr>
  </p:slideViewPr>
  <p:outlineViewPr>
    <p:cViewPr>
      <p:scale>
        <a:sx n="33" d="100"/>
        <a:sy n="33" d="100"/>
      </p:scale>
      <p:origin x="0" y="-3400"/>
    </p:cViewPr>
  </p:outlineViewPr>
  <p:notesTextViewPr>
    <p:cViewPr>
      <p:scale>
        <a:sx n="105" d="100"/>
        <a:sy n="105" d="100"/>
      </p:scale>
      <p:origin x="0" y="0"/>
    </p:cViewPr>
  </p:notesTextViewPr>
  <p:sorterViewPr>
    <p:cViewPr>
      <p:scale>
        <a:sx n="80" d="100"/>
        <a:sy n="80" d="100"/>
      </p:scale>
      <p:origin x="0" y="0"/>
    </p:cViewPr>
  </p:sorterViewPr>
  <p:notesViewPr>
    <p:cSldViewPr>
      <p:cViewPr varScale="1">
        <p:scale>
          <a:sx n="110" d="100"/>
          <a:sy n="110" d="100"/>
        </p:scale>
        <p:origin x="2592" y="1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804750-19B7-4AFE-B3D9-7C34A512001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57B820C-B5E8-4718-99BA-2731B6AEC693}">
      <dgm:prSet/>
      <dgm:spPr/>
      <dgm:t>
        <a:bodyPr/>
        <a:lstStyle/>
        <a:p>
          <a:pPr>
            <a:lnSpc>
              <a:spcPct val="100000"/>
            </a:lnSpc>
          </a:pPr>
          <a:r>
            <a:rPr lang="en-US" dirty="0"/>
            <a:t>I. Introducción y Caso de Estudio: Smart Poqueira.</a:t>
          </a:r>
        </a:p>
      </dgm:t>
    </dgm:pt>
    <dgm:pt modelId="{EC4B40DB-E086-43FA-9435-C98825C2B7D8}" type="parTrans" cxnId="{D4990E71-C325-40CA-BE6D-DECD18A6F3CF}">
      <dgm:prSet/>
      <dgm:spPr/>
      <dgm:t>
        <a:bodyPr/>
        <a:lstStyle/>
        <a:p>
          <a:endParaRPr lang="en-US"/>
        </a:p>
      </dgm:t>
    </dgm:pt>
    <dgm:pt modelId="{39ED19FA-1933-434E-AF7A-0E8FFAE58620}" type="sibTrans" cxnId="{D4990E71-C325-40CA-BE6D-DECD18A6F3CF}">
      <dgm:prSet/>
      <dgm:spPr/>
      <dgm:t>
        <a:bodyPr/>
        <a:lstStyle/>
        <a:p>
          <a:endParaRPr lang="en-US"/>
        </a:p>
      </dgm:t>
    </dgm:pt>
    <dgm:pt modelId="{652A7DDC-E94C-4BA7-9D22-3406B67D37E0}">
      <dgm:prSet/>
      <dgm:spPr/>
      <dgm:t>
        <a:bodyPr/>
        <a:lstStyle/>
        <a:p>
          <a:pPr>
            <a:lnSpc>
              <a:spcPct val="100000"/>
            </a:lnSpc>
          </a:pPr>
          <a:r>
            <a:rPr lang="en-US" dirty="0"/>
            <a:t>II. Estado del Arte. Formalización.</a:t>
          </a:r>
        </a:p>
      </dgm:t>
    </dgm:pt>
    <dgm:pt modelId="{EE105EBA-AABA-40FE-8E4E-CE10CAA1F5BA}" type="parTrans" cxnId="{E642A211-2714-4234-9B17-DA8876E48602}">
      <dgm:prSet/>
      <dgm:spPr/>
      <dgm:t>
        <a:bodyPr/>
        <a:lstStyle/>
        <a:p>
          <a:endParaRPr lang="en-US"/>
        </a:p>
      </dgm:t>
    </dgm:pt>
    <dgm:pt modelId="{9437D026-D2DE-423C-9174-7949E0EA48A4}" type="sibTrans" cxnId="{E642A211-2714-4234-9B17-DA8876E48602}">
      <dgm:prSet/>
      <dgm:spPr/>
      <dgm:t>
        <a:bodyPr/>
        <a:lstStyle/>
        <a:p>
          <a:endParaRPr lang="en-US"/>
        </a:p>
      </dgm:t>
    </dgm:pt>
    <dgm:pt modelId="{64B2BB52-7D1A-4F06-86E1-675C55FE5617}">
      <dgm:prSet/>
      <dgm:spPr/>
      <dgm:t>
        <a:bodyPr/>
        <a:lstStyle/>
        <a:p>
          <a:pPr>
            <a:lnSpc>
              <a:spcPct val="100000"/>
            </a:lnSpc>
          </a:pPr>
          <a:r>
            <a:rPr lang="en-US" dirty="0"/>
            <a:t>III. Arquitectura Transformer y SAITS.</a:t>
          </a:r>
        </a:p>
      </dgm:t>
    </dgm:pt>
    <dgm:pt modelId="{E4B73BA8-E8CF-4040-ACA4-B5733B3F090A}" type="parTrans" cxnId="{59A0111C-A4B5-4E21-B240-1B2FD5571191}">
      <dgm:prSet/>
      <dgm:spPr/>
      <dgm:t>
        <a:bodyPr/>
        <a:lstStyle/>
        <a:p>
          <a:endParaRPr lang="en-US"/>
        </a:p>
      </dgm:t>
    </dgm:pt>
    <dgm:pt modelId="{1FB82493-7A7B-4946-A574-70FE3D48020C}" type="sibTrans" cxnId="{59A0111C-A4B5-4E21-B240-1B2FD5571191}">
      <dgm:prSet/>
      <dgm:spPr/>
      <dgm:t>
        <a:bodyPr/>
        <a:lstStyle/>
        <a:p>
          <a:endParaRPr lang="en-US"/>
        </a:p>
      </dgm:t>
    </dgm:pt>
    <dgm:pt modelId="{61AAD36F-B927-4C03-BE00-A6D2A9E12FDB}">
      <dgm:prSet/>
      <dgm:spPr/>
      <dgm:t>
        <a:bodyPr/>
        <a:lstStyle/>
        <a:p>
          <a:pPr>
            <a:lnSpc>
              <a:spcPct val="100000"/>
            </a:lnSpc>
          </a:pPr>
          <a:r>
            <a:rPr lang="en-US" dirty="0"/>
            <a:t>V.  Resultados y Discusión.</a:t>
          </a:r>
        </a:p>
      </dgm:t>
    </dgm:pt>
    <dgm:pt modelId="{B2BE65FE-6DC1-42FD-B630-EDFF28D3103E}" type="parTrans" cxnId="{D6474869-D87E-47C7-9D4E-838AA7CEDDA1}">
      <dgm:prSet/>
      <dgm:spPr/>
      <dgm:t>
        <a:bodyPr/>
        <a:lstStyle/>
        <a:p>
          <a:endParaRPr lang="en-US"/>
        </a:p>
      </dgm:t>
    </dgm:pt>
    <dgm:pt modelId="{D4981EBB-BE5E-4D67-903D-CAE3B1B715C5}" type="sibTrans" cxnId="{D6474869-D87E-47C7-9D4E-838AA7CEDDA1}">
      <dgm:prSet/>
      <dgm:spPr/>
      <dgm:t>
        <a:bodyPr/>
        <a:lstStyle/>
        <a:p>
          <a:endParaRPr lang="en-US"/>
        </a:p>
      </dgm:t>
    </dgm:pt>
    <dgm:pt modelId="{383B6AEE-680D-4EA3-AC0E-9A24137D2FA6}">
      <dgm:prSet/>
      <dgm:spPr/>
      <dgm:t>
        <a:bodyPr/>
        <a:lstStyle/>
        <a:p>
          <a:pPr>
            <a:lnSpc>
              <a:spcPct val="100000"/>
            </a:lnSpc>
          </a:pPr>
          <a:r>
            <a:rPr lang="en-US" dirty="0"/>
            <a:t>VI. Conclusiones y Futuro.</a:t>
          </a:r>
        </a:p>
      </dgm:t>
    </dgm:pt>
    <dgm:pt modelId="{6717340C-A523-42AB-9DED-B18D57FC86CF}" type="parTrans" cxnId="{11233F7D-1751-4CB7-A30E-63123AB65F77}">
      <dgm:prSet/>
      <dgm:spPr/>
      <dgm:t>
        <a:bodyPr/>
        <a:lstStyle/>
        <a:p>
          <a:endParaRPr lang="en-US"/>
        </a:p>
      </dgm:t>
    </dgm:pt>
    <dgm:pt modelId="{7A01264D-6151-42A2-8346-14A9D319F6FE}" type="sibTrans" cxnId="{11233F7D-1751-4CB7-A30E-63123AB65F77}">
      <dgm:prSet/>
      <dgm:spPr/>
      <dgm:t>
        <a:bodyPr/>
        <a:lstStyle/>
        <a:p>
          <a:endParaRPr lang="en-US"/>
        </a:p>
      </dgm:t>
    </dgm:pt>
    <dgm:pt modelId="{28CB5A8F-5EB6-5543-B092-7CFE9EB90CFB}">
      <dgm:prSet/>
      <dgm:spPr/>
      <dgm:t>
        <a:bodyPr/>
        <a:lstStyle/>
        <a:p>
          <a:pPr>
            <a:lnSpc>
              <a:spcPct val="100000"/>
            </a:lnSpc>
          </a:pPr>
          <a:r>
            <a:rPr lang="es-ES" dirty="0"/>
            <a:t>IV:  Desarrollo de Software y Pipeline Integrado.</a:t>
          </a:r>
        </a:p>
      </dgm:t>
    </dgm:pt>
    <dgm:pt modelId="{E6F6DF44-840C-6E4F-B977-8D009E4A10C3}" type="parTrans" cxnId="{63CFFDF8-938A-1F40-B6E3-F0AEB167E0AC}">
      <dgm:prSet/>
      <dgm:spPr/>
      <dgm:t>
        <a:bodyPr/>
        <a:lstStyle/>
        <a:p>
          <a:endParaRPr lang="es-ES"/>
        </a:p>
      </dgm:t>
    </dgm:pt>
    <dgm:pt modelId="{CA539247-0D7A-CC48-8087-D5016A855F5F}" type="sibTrans" cxnId="{63CFFDF8-938A-1F40-B6E3-F0AEB167E0AC}">
      <dgm:prSet/>
      <dgm:spPr/>
      <dgm:t>
        <a:bodyPr/>
        <a:lstStyle/>
        <a:p>
          <a:endParaRPr lang="es-ES"/>
        </a:p>
      </dgm:t>
    </dgm:pt>
    <dgm:pt modelId="{03AC9644-CE3A-4B0A-923E-3D2DF82E2010}" type="pres">
      <dgm:prSet presAssocID="{90804750-19B7-4AFE-B3D9-7C34A5120010}" presName="root" presStyleCnt="0">
        <dgm:presLayoutVars>
          <dgm:dir/>
          <dgm:resizeHandles val="exact"/>
        </dgm:presLayoutVars>
      </dgm:prSet>
      <dgm:spPr/>
    </dgm:pt>
    <dgm:pt modelId="{3347C68A-8252-4A6B-8862-B47D49B69A50}" type="pres">
      <dgm:prSet presAssocID="{957B820C-B5E8-4718-99BA-2731B6AEC693}" presName="compNode" presStyleCnt="0"/>
      <dgm:spPr/>
    </dgm:pt>
    <dgm:pt modelId="{0F2DB207-E320-447A-B4A7-3A9300D441D1}" type="pres">
      <dgm:prSet presAssocID="{957B820C-B5E8-4718-99BA-2731B6AEC693}" presName="bgRect" presStyleLbl="bgShp" presStyleIdx="0" presStyleCnt="6"/>
      <dgm:spPr/>
    </dgm:pt>
    <dgm:pt modelId="{1C9967C1-2FEF-4AA5-9585-B341B8BAB325}" type="pres">
      <dgm:prSet presAssocID="{957B820C-B5E8-4718-99BA-2731B6AEC693}"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pper board"/>
        </a:ext>
      </dgm:extLst>
    </dgm:pt>
    <dgm:pt modelId="{C304D866-E6A1-47AA-8AAB-21CCD5804933}" type="pres">
      <dgm:prSet presAssocID="{957B820C-B5E8-4718-99BA-2731B6AEC693}" presName="spaceRect" presStyleCnt="0"/>
      <dgm:spPr/>
    </dgm:pt>
    <dgm:pt modelId="{8F2721DD-F594-4835-B7A5-B5CEE98045A1}" type="pres">
      <dgm:prSet presAssocID="{957B820C-B5E8-4718-99BA-2731B6AEC693}" presName="parTx" presStyleLbl="revTx" presStyleIdx="0" presStyleCnt="6">
        <dgm:presLayoutVars>
          <dgm:chMax val="0"/>
          <dgm:chPref val="0"/>
        </dgm:presLayoutVars>
      </dgm:prSet>
      <dgm:spPr/>
    </dgm:pt>
    <dgm:pt modelId="{E179E482-5E65-4416-87D1-6456A1F64730}" type="pres">
      <dgm:prSet presAssocID="{39ED19FA-1933-434E-AF7A-0E8FFAE58620}" presName="sibTrans" presStyleCnt="0"/>
      <dgm:spPr/>
    </dgm:pt>
    <dgm:pt modelId="{01F2A698-6E94-4584-8C53-C277717B43F2}" type="pres">
      <dgm:prSet presAssocID="{652A7DDC-E94C-4BA7-9D22-3406B67D37E0}" presName="compNode" presStyleCnt="0"/>
      <dgm:spPr/>
    </dgm:pt>
    <dgm:pt modelId="{3D9CB0D5-6AFB-40E7-A382-E2D29E5F7E08}" type="pres">
      <dgm:prSet presAssocID="{652A7DDC-E94C-4BA7-9D22-3406B67D37E0}" presName="bgRect" presStyleLbl="bgShp" presStyleIdx="1" presStyleCnt="6"/>
      <dgm:spPr/>
    </dgm:pt>
    <dgm:pt modelId="{D02B18CE-B8A5-48CC-BFC1-9D53B86C60E5}" type="pres">
      <dgm:prSet presAssocID="{652A7DDC-E94C-4BA7-9D22-3406B67D37E0}"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aleta"/>
        </a:ext>
      </dgm:extLst>
    </dgm:pt>
    <dgm:pt modelId="{2D9BC575-45EC-4708-AD80-DD86C797481C}" type="pres">
      <dgm:prSet presAssocID="{652A7DDC-E94C-4BA7-9D22-3406B67D37E0}" presName="spaceRect" presStyleCnt="0"/>
      <dgm:spPr/>
    </dgm:pt>
    <dgm:pt modelId="{5A8BE8FE-3A68-4ACF-84DF-9DEE546A4C39}" type="pres">
      <dgm:prSet presAssocID="{652A7DDC-E94C-4BA7-9D22-3406B67D37E0}" presName="parTx" presStyleLbl="revTx" presStyleIdx="1" presStyleCnt="6">
        <dgm:presLayoutVars>
          <dgm:chMax val="0"/>
          <dgm:chPref val="0"/>
        </dgm:presLayoutVars>
      </dgm:prSet>
      <dgm:spPr/>
    </dgm:pt>
    <dgm:pt modelId="{97783A67-95B7-4F9B-AF2E-EDC179F456A9}" type="pres">
      <dgm:prSet presAssocID="{9437D026-D2DE-423C-9174-7949E0EA48A4}" presName="sibTrans" presStyleCnt="0"/>
      <dgm:spPr/>
    </dgm:pt>
    <dgm:pt modelId="{1F170C15-CA12-4987-8038-882C58370E43}" type="pres">
      <dgm:prSet presAssocID="{64B2BB52-7D1A-4F06-86E1-675C55FE5617}" presName="compNode" presStyleCnt="0"/>
      <dgm:spPr/>
    </dgm:pt>
    <dgm:pt modelId="{596937AB-992C-4424-A258-E0824D3E5233}" type="pres">
      <dgm:prSet presAssocID="{64B2BB52-7D1A-4F06-86E1-675C55FE5617}" presName="bgRect" presStyleLbl="bgShp" presStyleIdx="2" presStyleCnt="6"/>
      <dgm:spPr/>
    </dgm:pt>
    <dgm:pt modelId="{C1353E0C-B4DE-46C2-9AE5-6D966B7BEAEC}" type="pres">
      <dgm:prSet presAssocID="{64B2BB52-7D1A-4F06-86E1-675C55FE5617}" presName="iconRect" presStyleLbl="node1" presStyleIdx="2" presStyleCnt="6"/>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Inteligencia artificial con relleno sólido"/>
        </a:ext>
      </dgm:extLst>
    </dgm:pt>
    <dgm:pt modelId="{BC357A05-9D1F-4489-8475-7F408F4B66C5}" type="pres">
      <dgm:prSet presAssocID="{64B2BB52-7D1A-4F06-86E1-675C55FE5617}" presName="spaceRect" presStyleCnt="0"/>
      <dgm:spPr/>
    </dgm:pt>
    <dgm:pt modelId="{50E7B540-2027-48C9-90B9-D7F39D3E5515}" type="pres">
      <dgm:prSet presAssocID="{64B2BB52-7D1A-4F06-86E1-675C55FE5617}" presName="parTx" presStyleLbl="revTx" presStyleIdx="2" presStyleCnt="6">
        <dgm:presLayoutVars>
          <dgm:chMax val="0"/>
          <dgm:chPref val="0"/>
        </dgm:presLayoutVars>
      </dgm:prSet>
      <dgm:spPr/>
    </dgm:pt>
    <dgm:pt modelId="{B28A263D-46E3-4E48-809B-87F8F17BEB17}" type="pres">
      <dgm:prSet presAssocID="{1FB82493-7A7B-4946-A574-70FE3D48020C}" presName="sibTrans" presStyleCnt="0"/>
      <dgm:spPr/>
    </dgm:pt>
    <dgm:pt modelId="{5C10E83E-837B-D748-9249-9D4293B8DC71}" type="pres">
      <dgm:prSet presAssocID="{28CB5A8F-5EB6-5543-B092-7CFE9EB90CFB}" presName="compNode" presStyleCnt="0"/>
      <dgm:spPr/>
    </dgm:pt>
    <dgm:pt modelId="{005D13AC-8BF2-9143-AB7C-EE36BE9FAAF2}" type="pres">
      <dgm:prSet presAssocID="{28CB5A8F-5EB6-5543-B092-7CFE9EB90CFB}" presName="bgRect" presStyleLbl="bgShp" presStyleIdx="3" presStyleCnt="6"/>
      <dgm:spPr/>
    </dgm:pt>
    <dgm:pt modelId="{22DA27D7-3345-5B44-AF31-7F5B67565713}" type="pres">
      <dgm:prSet presAssocID="{28CB5A8F-5EB6-5543-B092-7CFE9EB90CFB}" presName="iconRect" presStyleLbl="node1" presStyleIdx="3" presStyleCnt="6"/>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Cmd (terminal) con relleno sólido"/>
        </a:ext>
      </dgm:extLst>
    </dgm:pt>
    <dgm:pt modelId="{5D410B2A-016E-CB48-BAA1-9C3D1F91794D}" type="pres">
      <dgm:prSet presAssocID="{28CB5A8F-5EB6-5543-B092-7CFE9EB90CFB}" presName="spaceRect" presStyleCnt="0"/>
      <dgm:spPr/>
    </dgm:pt>
    <dgm:pt modelId="{100E16C7-41DD-EF40-8D57-5B1DFCD0D1F9}" type="pres">
      <dgm:prSet presAssocID="{28CB5A8F-5EB6-5543-B092-7CFE9EB90CFB}" presName="parTx" presStyleLbl="revTx" presStyleIdx="3" presStyleCnt="6">
        <dgm:presLayoutVars>
          <dgm:chMax val="0"/>
          <dgm:chPref val="0"/>
        </dgm:presLayoutVars>
      </dgm:prSet>
      <dgm:spPr/>
    </dgm:pt>
    <dgm:pt modelId="{04BF35BF-C71B-0541-9CB9-73BFB6D74FA7}" type="pres">
      <dgm:prSet presAssocID="{CA539247-0D7A-CC48-8087-D5016A855F5F}" presName="sibTrans" presStyleCnt="0"/>
      <dgm:spPr/>
    </dgm:pt>
    <dgm:pt modelId="{EDF25190-3E4A-45A1-B47C-68742BC3CFD2}" type="pres">
      <dgm:prSet presAssocID="{61AAD36F-B927-4C03-BE00-A6D2A9E12FDB}" presName="compNode" presStyleCnt="0"/>
      <dgm:spPr/>
    </dgm:pt>
    <dgm:pt modelId="{CCE2FF6F-7353-4D23-9233-723B3503CAA4}" type="pres">
      <dgm:prSet presAssocID="{61AAD36F-B927-4C03-BE00-A6D2A9E12FDB}" presName="bgRect" presStyleLbl="bgShp" presStyleIdx="4" presStyleCnt="6"/>
      <dgm:spPr/>
    </dgm:pt>
    <dgm:pt modelId="{B7922449-0947-421B-B555-0B6AA5B4707E}" type="pres">
      <dgm:prSet presAssocID="{61AAD36F-B927-4C03-BE00-A6D2A9E12FDB}"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ar chart"/>
        </a:ext>
      </dgm:extLst>
    </dgm:pt>
    <dgm:pt modelId="{6D59F124-4893-4093-B36F-AB80FB2ABF12}" type="pres">
      <dgm:prSet presAssocID="{61AAD36F-B927-4C03-BE00-A6D2A9E12FDB}" presName="spaceRect" presStyleCnt="0"/>
      <dgm:spPr/>
    </dgm:pt>
    <dgm:pt modelId="{8F30B698-CA9A-4B6E-8732-B5A5C1550C9C}" type="pres">
      <dgm:prSet presAssocID="{61AAD36F-B927-4C03-BE00-A6D2A9E12FDB}" presName="parTx" presStyleLbl="revTx" presStyleIdx="4" presStyleCnt="6">
        <dgm:presLayoutVars>
          <dgm:chMax val="0"/>
          <dgm:chPref val="0"/>
        </dgm:presLayoutVars>
      </dgm:prSet>
      <dgm:spPr/>
    </dgm:pt>
    <dgm:pt modelId="{BB992C12-99B4-4B5F-8CE6-40449F587444}" type="pres">
      <dgm:prSet presAssocID="{D4981EBB-BE5E-4D67-903D-CAE3B1B715C5}" presName="sibTrans" presStyleCnt="0"/>
      <dgm:spPr/>
    </dgm:pt>
    <dgm:pt modelId="{039BBB07-8727-4694-8E91-E0AB88B70864}" type="pres">
      <dgm:prSet presAssocID="{383B6AEE-680D-4EA3-AC0E-9A24137D2FA6}" presName="compNode" presStyleCnt="0"/>
      <dgm:spPr/>
    </dgm:pt>
    <dgm:pt modelId="{077C573B-0145-4201-9C3E-3C016C031A17}" type="pres">
      <dgm:prSet presAssocID="{383B6AEE-680D-4EA3-AC0E-9A24137D2FA6}" presName="bgRect" presStyleLbl="bgShp" presStyleIdx="5" presStyleCnt="6"/>
      <dgm:spPr/>
    </dgm:pt>
    <dgm:pt modelId="{A9474B31-F5CB-487B-985C-F49C2EE04063}" type="pres">
      <dgm:prSet presAssocID="{383B6AEE-680D-4EA3-AC0E-9A24137D2FA6}" presName="iconRect" presStyleLbl="node1" presStyleIdx="5" presStyleCnt="6"/>
      <dgm:spPr>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a:ln>
          <a:noFill/>
        </a:ln>
      </dgm:spPr>
      <dgm:extLst>
        <a:ext uri="{E40237B7-FDA0-4F09-8148-C483321AD2D9}">
          <dgm14:cNvPr xmlns:dgm14="http://schemas.microsoft.com/office/drawing/2010/diagram" id="0" name="" descr="Presentación con lista de comprobación con relleno sólido"/>
        </a:ext>
      </dgm:extLst>
    </dgm:pt>
    <dgm:pt modelId="{1579586B-AB35-4FFD-9DFF-921E3DAF0345}" type="pres">
      <dgm:prSet presAssocID="{383B6AEE-680D-4EA3-AC0E-9A24137D2FA6}" presName="spaceRect" presStyleCnt="0"/>
      <dgm:spPr/>
    </dgm:pt>
    <dgm:pt modelId="{F46BD285-6765-45A3-8F84-72A20F59A08F}" type="pres">
      <dgm:prSet presAssocID="{383B6AEE-680D-4EA3-AC0E-9A24137D2FA6}" presName="parTx" presStyleLbl="revTx" presStyleIdx="5" presStyleCnt="6">
        <dgm:presLayoutVars>
          <dgm:chMax val="0"/>
          <dgm:chPref val="0"/>
        </dgm:presLayoutVars>
      </dgm:prSet>
      <dgm:spPr/>
    </dgm:pt>
  </dgm:ptLst>
  <dgm:cxnLst>
    <dgm:cxn modelId="{E642A211-2714-4234-9B17-DA8876E48602}" srcId="{90804750-19B7-4AFE-B3D9-7C34A5120010}" destId="{652A7DDC-E94C-4BA7-9D22-3406B67D37E0}" srcOrd="1" destOrd="0" parTransId="{EE105EBA-AABA-40FE-8E4E-CE10CAA1F5BA}" sibTransId="{9437D026-D2DE-423C-9174-7949E0EA48A4}"/>
    <dgm:cxn modelId="{59A0111C-A4B5-4E21-B240-1B2FD5571191}" srcId="{90804750-19B7-4AFE-B3D9-7C34A5120010}" destId="{64B2BB52-7D1A-4F06-86E1-675C55FE5617}" srcOrd="2" destOrd="0" parTransId="{E4B73BA8-E8CF-4040-ACA4-B5733B3F090A}" sibTransId="{1FB82493-7A7B-4946-A574-70FE3D48020C}"/>
    <dgm:cxn modelId="{C72A191E-5BC5-6543-8E63-C1D185FD9310}" type="presOf" srcId="{652A7DDC-E94C-4BA7-9D22-3406B67D37E0}" destId="{5A8BE8FE-3A68-4ACF-84DF-9DEE546A4C39}" srcOrd="0" destOrd="0" presId="urn:microsoft.com/office/officeart/2018/2/layout/IconVerticalSolidList"/>
    <dgm:cxn modelId="{D6474869-D87E-47C7-9D4E-838AA7CEDDA1}" srcId="{90804750-19B7-4AFE-B3D9-7C34A5120010}" destId="{61AAD36F-B927-4C03-BE00-A6D2A9E12FDB}" srcOrd="4" destOrd="0" parTransId="{B2BE65FE-6DC1-42FD-B630-EDFF28D3103E}" sibTransId="{D4981EBB-BE5E-4D67-903D-CAE3B1B715C5}"/>
    <dgm:cxn modelId="{D4990E71-C325-40CA-BE6D-DECD18A6F3CF}" srcId="{90804750-19B7-4AFE-B3D9-7C34A5120010}" destId="{957B820C-B5E8-4718-99BA-2731B6AEC693}" srcOrd="0" destOrd="0" parTransId="{EC4B40DB-E086-43FA-9435-C98825C2B7D8}" sibTransId="{39ED19FA-1933-434E-AF7A-0E8FFAE58620}"/>
    <dgm:cxn modelId="{11233F7D-1751-4CB7-A30E-63123AB65F77}" srcId="{90804750-19B7-4AFE-B3D9-7C34A5120010}" destId="{383B6AEE-680D-4EA3-AC0E-9A24137D2FA6}" srcOrd="5" destOrd="0" parTransId="{6717340C-A523-42AB-9DED-B18D57FC86CF}" sibTransId="{7A01264D-6151-42A2-8346-14A9D319F6FE}"/>
    <dgm:cxn modelId="{0B236982-E6E3-8949-96A2-DD3CACDFF900}" type="presOf" srcId="{28CB5A8F-5EB6-5543-B092-7CFE9EB90CFB}" destId="{100E16C7-41DD-EF40-8D57-5B1DFCD0D1F9}" srcOrd="0" destOrd="0" presId="urn:microsoft.com/office/officeart/2018/2/layout/IconVerticalSolidList"/>
    <dgm:cxn modelId="{1D3B83A0-F61D-AC46-A1A6-6ED5C22518C7}" type="presOf" srcId="{61AAD36F-B927-4C03-BE00-A6D2A9E12FDB}" destId="{8F30B698-CA9A-4B6E-8732-B5A5C1550C9C}" srcOrd="0" destOrd="0" presId="urn:microsoft.com/office/officeart/2018/2/layout/IconVerticalSolidList"/>
    <dgm:cxn modelId="{23D4AAA3-9248-C24F-A7D5-B50038CC81E0}" type="presOf" srcId="{90804750-19B7-4AFE-B3D9-7C34A5120010}" destId="{03AC9644-CE3A-4B0A-923E-3D2DF82E2010}" srcOrd="0" destOrd="0" presId="urn:microsoft.com/office/officeart/2018/2/layout/IconVerticalSolidList"/>
    <dgm:cxn modelId="{397301A8-B02E-684A-A632-EA815A740F51}" type="presOf" srcId="{64B2BB52-7D1A-4F06-86E1-675C55FE5617}" destId="{50E7B540-2027-48C9-90B9-D7F39D3E5515}" srcOrd="0" destOrd="0" presId="urn:microsoft.com/office/officeart/2018/2/layout/IconVerticalSolidList"/>
    <dgm:cxn modelId="{060222E6-AC13-E541-ABD4-D0FDE379B415}" type="presOf" srcId="{957B820C-B5E8-4718-99BA-2731B6AEC693}" destId="{8F2721DD-F594-4835-B7A5-B5CEE98045A1}" srcOrd="0" destOrd="0" presId="urn:microsoft.com/office/officeart/2018/2/layout/IconVerticalSolidList"/>
    <dgm:cxn modelId="{63CFFDF8-938A-1F40-B6E3-F0AEB167E0AC}" srcId="{90804750-19B7-4AFE-B3D9-7C34A5120010}" destId="{28CB5A8F-5EB6-5543-B092-7CFE9EB90CFB}" srcOrd="3" destOrd="0" parTransId="{E6F6DF44-840C-6E4F-B977-8D009E4A10C3}" sibTransId="{CA539247-0D7A-CC48-8087-D5016A855F5F}"/>
    <dgm:cxn modelId="{18659FF9-9D0C-B448-8617-E8E60926AA4B}" type="presOf" srcId="{383B6AEE-680D-4EA3-AC0E-9A24137D2FA6}" destId="{F46BD285-6765-45A3-8F84-72A20F59A08F}" srcOrd="0" destOrd="0" presId="urn:microsoft.com/office/officeart/2018/2/layout/IconVerticalSolidList"/>
    <dgm:cxn modelId="{DF72605A-A72F-4E4A-A79C-AFB68DB3BF91}" type="presParOf" srcId="{03AC9644-CE3A-4B0A-923E-3D2DF82E2010}" destId="{3347C68A-8252-4A6B-8862-B47D49B69A50}" srcOrd="0" destOrd="0" presId="urn:microsoft.com/office/officeart/2018/2/layout/IconVerticalSolidList"/>
    <dgm:cxn modelId="{EEFF0B1D-6BA9-0F49-AE17-778088901E95}" type="presParOf" srcId="{3347C68A-8252-4A6B-8862-B47D49B69A50}" destId="{0F2DB207-E320-447A-B4A7-3A9300D441D1}" srcOrd="0" destOrd="0" presId="urn:microsoft.com/office/officeart/2018/2/layout/IconVerticalSolidList"/>
    <dgm:cxn modelId="{C614DCD9-29C7-3B49-AAC6-CC8BB11A4BBD}" type="presParOf" srcId="{3347C68A-8252-4A6B-8862-B47D49B69A50}" destId="{1C9967C1-2FEF-4AA5-9585-B341B8BAB325}" srcOrd="1" destOrd="0" presId="urn:microsoft.com/office/officeart/2018/2/layout/IconVerticalSolidList"/>
    <dgm:cxn modelId="{18BFBDF9-7710-F94C-ACFD-7A0B5056B22B}" type="presParOf" srcId="{3347C68A-8252-4A6B-8862-B47D49B69A50}" destId="{C304D866-E6A1-47AA-8AAB-21CCD5804933}" srcOrd="2" destOrd="0" presId="urn:microsoft.com/office/officeart/2018/2/layout/IconVerticalSolidList"/>
    <dgm:cxn modelId="{3D62464F-CD48-AD43-8F4E-BB4BEC08BD00}" type="presParOf" srcId="{3347C68A-8252-4A6B-8862-B47D49B69A50}" destId="{8F2721DD-F594-4835-B7A5-B5CEE98045A1}" srcOrd="3" destOrd="0" presId="urn:microsoft.com/office/officeart/2018/2/layout/IconVerticalSolidList"/>
    <dgm:cxn modelId="{C8CDB00B-A737-B24B-B5E1-51BBB81D0B9D}" type="presParOf" srcId="{03AC9644-CE3A-4B0A-923E-3D2DF82E2010}" destId="{E179E482-5E65-4416-87D1-6456A1F64730}" srcOrd="1" destOrd="0" presId="urn:microsoft.com/office/officeart/2018/2/layout/IconVerticalSolidList"/>
    <dgm:cxn modelId="{416406BA-58FA-FE42-9324-566FC04BFD4D}" type="presParOf" srcId="{03AC9644-CE3A-4B0A-923E-3D2DF82E2010}" destId="{01F2A698-6E94-4584-8C53-C277717B43F2}" srcOrd="2" destOrd="0" presId="urn:microsoft.com/office/officeart/2018/2/layout/IconVerticalSolidList"/>
    <dgm:cxn modelId="{995C1B35-036D-7C4E-872A-496A0462D346}" type="presParOf" srcId="{01F2A698-6E94-4584-8C53-C277717B43F2}" destId="{3D9CB0D5-6AFB-40E7-A382-E2D29E5F7E08}" srcOrd="0" destOrd="0" presId="urn:microsoft.com/office/officeart/2018/2/layout/IconVerticalSolidList"/>
    <dgm:cxn modelId="{E985B06C-D407-A741-8B06-77B8FB4C1D64}" type="presParOf" srcId="{01F2A698-6E94-4584-8C53-C277717B43F2}" destId="{D02B18CE-B8A5-48CC-BFC1-9D53B86C60E5}" srcOrd="1" destOrd="0" presId="urn:microsoft.com/office/officeart/2018/2/layout/IconVerticalSolidList"/>
    <dgm:cxn modelId="{26DFBEC8-A035-EE4A-9CEA-7ED33CB23A84}" type="presParOf" srcId="{01F2A698-6E94-4584-8C53-C277717B43F2}" destId="{2D9BC575-45EC-4708-AD80-DD86C797481C}" srcOrd="2" destOrd="0" presId="urn:microsoft.com/office/officeart/2018/2/layout/IconVerticalSolidList"/>
    <dgm:cxn modelId="{5E610FFD-9224-5846-9455-E79BDCD0E2A6}" type="presParOf" srcId="{01F2A698-6E94-4584-8C53-C277717B43F2}" destId="{5A8BE8FE-3A68-4ACF-84DF-9DEE546A4C39}" srcOrd="3" destOrd="0" presId="urn:microsoft.com/office/officeart/2018/2/layout/IconVerticalSolidList"/>
    <dgm:cxn modelId="{97E42915-4EEA-A149-AF1B-A0B15E0CC839}" type="presParOf" srcId="{03AC9644-CE3A-4B0A-923E-3D2DF82E2010}" destId="{97783A67-95B7-4F9B-AF2E-EDC179F456A9}" srcOrd="3" destOrd="0" presId="urn:microsoft.com/office/officeart/2018/2/layout/IconVerticalSolidList"/>
    <dgm:cxn modelId="{A351E201-5F9D-E149-B77D-DFB847C6687B}" type="presParOf" srcId="{03AC9644-CE3A-4B0A-923E-3D2DF82E2010}" destId="{1F170C15-CA12-4987-8038-882C58370E43}" srcOrd="4" destOrd="0" presId="urn:microsoft.com/office/officeart/2018/2/layout/IconVerticalSolidList"/>
    <dgm:cxn modelId="{15A61812-503A-654E-8F23-1236CF3CC038}" type="presParOf" srcId="{1F170C15-CA12-4987-8038-882C58370E43}" destId="{596937AB-992C-4424-A258-E0824D3E5233}" srcOrd="0" destOrd="0" presId="urn:microsoft.com/office/officeart/2018/2/layout/IconVerticalSolidList"/>
    <dgm:cxn modelId="{5E718552-581D-AE47-9476-3136322F1A6B}" type="presParOf" srcId="{1F170C15-CA12-4987-8038-882C58370E43}" destId="{C1353E0C-B4DE-46C2-9AE5-6D966B7BEAEC}" srcOrd="1" destOrd="0" presId="urn:microsoft.com/office/officeart/2018/2/layout/IconVerticalSolidList"/>
    <dgm:cxn modelId="{D36B326C-95F8-F945-A076-034BC3181E22}" type="presParOf" srcId="{1F170C15-CA12-4987-8038-882C58370E43}" destId="{BC357A05-9D1F-4489-8475-7F408F4B66C5}" srcOrd="2" destOrd="0" presId="urn:microsoft.com/office/officeart/2018/2/layout/IconVerticalSolidList"/>
    <dgm:cxn modelId="{7EFB4AE5-DAF5-6640-BD25-2997A3BF03BA}" type="presParOf" srcId="{1F170C15-CA12-4987-8038-882C58370E43}" destId="{50E7B540-2027-48C9-90B9-D7F39D3E5515}" srcOrd="3" destOrd="0" presId="urn:microsoft.com/office/officeart/2018/2/layout/IconVerticalSolidList"/>
    <dgm:cxn modelId="{5ED56281-9AC6-9043-AA8F-8246D9324D6B}" type="presParOf" srcId="{03AC9644-CE3A-4B0A-923E-3D2DF82E2010}" destId="{B28A263D-46E3-4E48-809B-87F8F17BEB17}" srcOrd="5" destOrd="0" presId="urn:microsoft.com/office/officeart/2018/2/layout/IconVerticalSolidList"/>
    <dgm:cxn modelId="{106A7F5D-F21C-CB49-BA6F-2F21FC8DBC10}" type="presParOf" srcId="{03AC9644-CE3A-4B0A-923E-3D2DF82E2010}" destId="{5C10E83E-837B-D748-9249-9D4293B8DC71}" srcOrd="6" destOrd="0" presId="urn:microsoft.com/office/officeart/2018/2/layout/IconVerticalSolidList"/>
    <dgm:cxn modelId="{01C67E40-C787-EE45-9043-622EDCE34941}" type="presParOf" srcId="{5C10E83E-837B-D748-9249-9D4293B8DC71}" destId="{005D13AC-8BF2-9143-AB7C-EE36BE9FAAF2}" srcOrd="0" destOrd="0" presId="urn:microsoft.com/office/officeart/2018/2/layout/IconVerticalSolidList"/>
    <dgm:cxn modelId="{E22983AB-4D2A-CB4E-896D-216A694FBB50}" type="presParOf" srcId="{5C10E83E-837B-D748-9249-9D4293B8DC71}" destId="{22DA27D7-3345-5B44-AF31-7F5B67565713}" srcOrd="1" destOrd="0" presId="urn:microsoft.com/office/officeart/2018/2/layout/IconVerticalSolidList"/>
    <dgm:cxn modelId="{6CC00697-7DA3-E24A-86BA-7285A53609B6}" type="presParOf" srcId="{5C10E83E-837B-D748-9249-9D4293B8DC71}" destId="{5D410B2A-016E-CB48-BAA1-9C3D1F91794D}" srcOrd="2" destOrd="0" presId="urn:microsoft.com/office/officeart/2018/2/layout/IconVerticalSolidList"/>
    <dgm:cxn modelId="{4784EE6D-504B-3548-AEBD-88B91B470A02}" type="presParOf" srcId="{5C10E83E-837B-D748-9249-9D4293B8DC71}" destId="{100E16C7-41DD-EF40-8D57-5B1DFCD0D1F9}" srcOrd="3" destOrd="0" presId="urn:microsoft.com/office/officeart/2018/2/layout/IconVerticalSolidList"/>
    <dgm:cxn modelId="{AB1737D0-E6C2-6F4E-9541-5DEB46DC2497}" type="presParOf" srcId="{03AC9644-CE3A-4B0A-923E-3D2DF82E2010}" destId="{04BF35BF-C71B-0541-9CB9-73BFB6D74FA7}" srcOrd="7" destOrd="0" presId="urn:microsoft.com/office/officeart/2018/2/layout/IconVerticalSolidList"/>
    <dgm:cxn modelId="{D1A34D4E-3370-6842-B1FD-9CB2052D3723}" type="presParOf" srcId="{03AC9644-CE3A-4B0A-923E-3D2DF82E2010}" destId="{EDF25190-3E4A-45A1-B47C-68742BC3CFD2}" srcOrd="8" destOrd="0" presId="urn:microsoft.com/office/officeart/2018/2/layout/IconVerticalSolidList"/>
    <dgm:cxn modelId="{82718ED4-3E15-F247-9C8F-B88241B49D0B}" type="presParOf" srcId="{EDF25190-3E4A-45A1-B47C-68742BC3CFD2}" destId="{CCE2FF6F-7353-4D23-9233-723B3503CAA4}" srcOrd="0" destOrd="0" presId="urn:microsoft.com/office/officeart/2018/2/layout/IconVerticalSolidList"/>
    <dgm:cxn modelId="{793DA3F5-5073-8E4C-BCAC-D4BC78D23840}" type="presParOf" srcId="{EDF25190-3E4A-45A1-B47C-68742BC3CFD2}" destId="{B7922449-0947-421B-B555-0B6AA5B4707E}" srcOrd="1" destOrd="0" presId="urn:microsoft.com/office/officeart/2018/2/layout/IconVerticalSolidList"/>
    <dgm:cxn modelId="{8F61402E-CEF6-DB43-BD78-2D77BA4ED09E}" type="presParOf" srcId="{EDF25190-3E4A-45A1-B47C-68742BC3CFD2}" destId="{6D59F124-4893-4093-B36F-AB80FB2ABF12}" srcOrd="2" destOrd="0" presId="urn:microsoft.com/office/officeart/2018/2/layout/IconVerticalSolidList"/>
    <dgm:cxn modelId="{D77CD1EB-224A-454C-8D04-CE22B06D28F3}" type="presParOf" srcId="{EDF25190-3E4A-45A1-B47C-68742BC3CFD2}" destId="{8F30B698-CA9A-4B6E-8732-B5A5C1550C9C}" srcOrd="3" destOrd="0" presId="urn:microsoft.com/office/officeart/2018/2/layout/IconVerticalSolidList"/>
    <dgm:cxn modelId="{D73F9F62-490A-6C47-8316-A8297BFEA58E}" type="presParOf" srcId="{03AC9644-CE3A-4B0A-923E-3D2DF82E2010}" destId="{BB992C12-99B4-4B5F-8CE6-40449F587444}" srcOrd="9" destOrd="0" presId="urn:microsoft.com/office/officeart/2018/2/layout/IconVerticalSolidList"/>
    <dgm:cxn modelId="{043A657E-7223-D147-8CE9-2176D8271A69}" type="presParOf" srcId="{03AC9644-CE3A-4B0A-923E-3D2DF82E2010}" destId="{039BBB07-8727-4694-8E91-E0AB88B70864}" srcOrd="10" destOrd="0" presId="urn:microsoft.com/office/officeart/2018/2/layout/IconVerticalSolidList"/>
    <dgm:cxn modelId="{BC230BBB-E609-2648-ABD0-3FDE90091CB5}" type="presParOf" srcId="{039BBB07-8727-4694-8E91-E0AB88B70864}" destId="{077C573B-0145-4201-9C3E-3C016C031A17}" srcOrd="0" destOrd="0" presId="urn:microsoft.com/office/officeart/2018/2/layout/IconVerticalSolidList"/>
    <dgm:cxn modelId="{1CBF903F-D60E-F14D-A93D-F139A6753257}" type="presParOf" srcId="{039BBB07-8727-4694-8E91-E0AB88B70864}" destId="{A9474B31-F5CB-487B-985C-F49C2EE04063}" srcOrd="1" destOrd="0" presId="urn:microsoft.com/office/officeart/2018/2/layout/IconVerticalSolidList"/>
    <dgm:cxn modelId="{C7171FA1-B365-9148-B64C-3B700FED7147}" type="presParOf" srcId="{039BBB07-8727-4694-8E91-E0AB88B70864}" destId="{1579586B-AB35-4FFD-9DFF-921E3DAF0345}" srcOrd="2" destOrd="0" presId="urn:microsoft.com/office/officeart/2018/2/layout/IconVerticalSolidList"/>
    <dgm:cxn modelId="{02D4A2F3-B14B-E949-B928-1B855B062B28}" type="presParOf" srcId="{039BBB07-8727-4694-8E91-E0AB88B70864}" destId="{F46BD285-6765-45A3-8F84-72A20F59A08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2DB207-E320-447A-B4A7-3A9300D441D1}">
      <dsp:nvSpPr>
        <dsp:cNvPr id="0" name=""/>
        <dsp:cNvSpPr/>
      </dsp:nvSpPr>
      <dsp:spPr>
        <a:xfrm>
          <a:off x="0" y="1828"/>
          <a:ext cx="4872608" cy="7790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9967C1-2FEF-4AA5-9585-B341B8BAB325}">
      <dsp:nvSpPr>
        <dsp:cNvPr id="0" name=""/>
        <dsp:cNvSpPr/>
      </dsp:nvSpPr>
      <dsp:spPr>
        <a:xfrm>
          <a:off x="235649" y="177104"/>
          <a:ext cx="428453" cy="4284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F2721DD-F594-4835-B7A5-B5CEE98045A1}">
      <dsp:nvSpPr>
        <dsp:cNvPr id="0" name=""/>
        <dsp:cNvSpPr/>
      </dsp:nvSpPr>
      <dsp:spPr>
        <a:xfrm>
          <a:off x="899752" y="1828"/>
          <a:ext cx="3972855" cy="779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45" tIns="82445" rIns="82445" bIns="82445" numCol="1" spcCol="1270" anchor="ctr" anchorCtr="0">
          <a:noAutofit/>
        </a:bodyPr>
        <a:lstStyle/>
        <a:p>
          <a:pPr marL="0" lvl="0" indent="0" algn="l" defTabSz="844550">
            <a:lnSpc>
              <a:spcPct val="100000"/>
            </a:lnSpc>
            <a:spcBef>
              <a:spcPct val="0"/>
            </a:spcBef>
            <a:spcAft>
              <a:spcPct val="35000"/>
            </a:spcAft>
            <a:buNone/>
          </a:pPr>
          <a:r>
            <a:rPr lang="en-US" sz="1900" kern="1200" dirty="0"/>
            <a:t>I. Introducción y Caso de Estudio: Smart Poqueira.</a:t>
          </a:r>
        </a:p>
      </dsp:txBody>
      <dsp:txXfrm>
        <a:off x="899752" y="1828"/>
        <a:ext cx="3972855" cy="779006"/>
      </dsp:txXfrm>
    </dsp:sp>
    <dsp:sp modelId="{3D9CB0D5-6AFB-40E7-A382-E2D29E5F7E08}">
      <dsp:nvSpPr>
        <dsp:cNvPr id="0" name=""/>
        <dsp:cNvSpPr/>
      </dsp:nvSpPr>
      <dsp:spPr>
        <a:xfrm>
          <a:off x="0" y="975585"/>
          <a:ext cx="4872608" cy="7790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2B18CE-B8A5-48CC-BFC1-9D53B86C60E5}">
      <dsp:nvSpPr>
        <dsp:cNvPr id="0" name=""/>
        <dsp:cNvSpPr/>
      </dsp:nvSpPr>
      <dsp:spPr>
        <a:xfrm>
          <a:off x="235649" y="1150862"/>
          <a:ext cx="428453" cy="4284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8BE8FE-3A68-4ACF-84DF-9DEE546A4C39}">
      <dsp:nvSpPr>
        <dsp:cNvPr id="0" name=""/>
        <dsp:cNvSpPr/>
      </dsp:nvSpPr>
      <dsp:spPr>
        <a:xfrm>
          <a:off x="899752" y="975585"/>
          <a:ext cx="3972855" cy="779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45" tIns="82445" rIns="82445" bIns="82445" numCol="1" spcCol="1270" anchor="ctr" anchorCtr="0">
          <a:noAutofit/>
        </a:bodyPr>
        <a:lstStyle/>
        <a:p>
          <a:pPr marL="0" lvl="0" indent="0" algn="l" defTabSz="844550">
            <a:lnSpc>
              <a:spcPct val="100000"/>
            </a:lnSpc>
            <a:spcBef>
              <a:spcPct val="0"/>
            </a:spcBef>
            <a:spcAft>
              <a:spcPct val="35000"/>
            </a:spcAft>
            <a:buNone/>
          </a:pPr>
          <a:r>
            <a:rPr lang="en-US" sz="1900" kern="1200" dirty="0"/>
            <a:t>II. Estado del Arte. Formalización.</a:t>
          </a:r>
        </a:p>
      </dsp:txBody>
      <dsp:txXfrm>
        <a:off x="899752" y="975585"/>
        <a:ext cx="3972855" cy="779006"/>
      </dsp:txXfrm>
    </dsp:sp>
    <dsp:sp modelId="{596937AB-992C-4424-A258-E0824D3E5233}">
      <dsp:nvSpPr>
        <dsp:cNvPr id="0" name=""/>
        <dsp:cNvSpPr/>
      </dsp:nvSpPr>
      <dsp:spPr>
        <a:xfrm>
          <a:off x="0" y="1949343"/>
          <a:ext cx="4872608" cy="7790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353E0C-B4DE-46C2-9AE5-6D966B7BEAEC}">
      <dsp:nvSpPr>
        <dsp:cNvPr id="0" name=""/>
        <dsp:cNvSpPr/>
      </dsp:nvSpPr>
      <dsp:spPr>
        <a:xfrm>
          <a:off x="235649" y="2124619"/>
          <a:ext cx="428453" cy="428453"/>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0E7B540-2027-48C9-90B9-D7F39D3E5515}">
      <dsp:nvSpPr>
        <dsp:cNvPr id="0" name=""/>
        <dsp:cNvSpPr/>
      </dsp:nvSpPr>
      <dsp:spPr>
        <a:xfrm>
          <a:off x="899752" y="1949343"/>
          <a:ext cx="3972855" cy="779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45" tIns="82445" rIns="82445" bIns="82445" numCol="1" spcCol="1270" anchor="ctr" anchorCtr="0">
          <a:noAutofit/>
        </a:bodyPr>
        <a:lstStyle/>
        <a:p>
          <a:pPr marL="0" lvl="0" indent="0" algn="l" defTabSz="844550">
            <a:lnSpc>
              <a:spcPct val="100000"/>
            </a:lnSpc>
            <a:spcBef>
              <a:spcPct val="0"/>
            </a:spcBef>
            <a:spcAft>
              <a:spcPct val="35000"/>
            </a:spcAft>
            <a:buNone/>
          </a:pPr>
          <a:r>
            <a:rPr lang="en-US" sz="1900" kern="1200" dirty="0"/>
            <a:t>III. Arquitectura Transformer y SAITS.</a:t>
          </a:r>
        </a:p>
      </dsp:txBody>
      <dsp:txXfrm>
        <a:off x="899752" y="1949343"/>
        <a:ext cx="3972855" cy="779006"/>
      </dsp:txXfrm>
    </dsp:sp>
    <dsp:sp modelId="{005D13AC-8BF2-9143-AB7C-EE36BE9FAAF2}">
      <dsp:nvSpPr>
        <dsp:cNvPr id="0" name=""/>
        <dsp:cNvSpPr/>
      </dsp:nvSpPr>
      <dsp:spPr>
        <a:xfrm>
          <a:off x="0" y="2923101"/>
          <a:ext cx="4872608" cy="7790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DA27D7-3345-5B44-AF31-7F5B67565713}">
      <dsp:nvSpPr>
        <dsp:cNvPr id="0" name=""/>
        <dsp:cNvSpPr/>
      </dsp:nvSpPr>
      <dsp:spPr>
        <a:xfrm>
          <a:off x="235649" y="3098377"/>
          <a:ext cx="428453" cy="428453"/>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0E16C7-41DD-EF40-8D57-5B1DFCD0D1F9}">
      <dsp:nvSpPr>
        <dsp:cNvPr id="0" name=""/>
        <dsp:cNvSpPr/>
      </dsp:nvSpPr>
      <dsp:spPr>
        <a:xfrm>
          <a:off x="899752" y="2923101"/>
          <a:ext cx="3972855" cy="779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45" tIns="82445" rIns="82445" bIns="82445" numCol="1" spcCol="1270" anchor="ctr" anchorCtr="0">
          <a:noAutofit/>
        </a:bodyPr>
        <a:lstStyle/>
        <a:p>
          <a:pPr marL="0" lvl="0" indent="0" algn="l" defTabSz="844550">
            <a:lnSpc>
              <a:spcPct val="100000"/>
            </a:lnSpc>
            <a:spcBef>
              <a:spcPct val="0"/>
            </a:spcBef>
            <a:spcAft>
              <a:spcPct val="35000"/>
            </a:spcAft>
            <a:buNone/>
          </a:pPr>
          <a:r>
            <a:rPr lang="es-ES" sz="1900" kern="1200" dirty="0"/>
            <a:t>IV:  Desarrollo de Software y Pipeline Integrado.</a:t>
          </a:r>
        </a:p>
      </dsp:txBody>
      <dsp:txXfrm>
        <a:off x="899752" y="2923101"/>
        <a:ext cx="3972855" cy="779006"/>
      </dsp:txXfrm>
    </dsp:sp>
    <dsp:sp modelId="{CCE2FF6F-7353-4D23-9233-723B3503CAA4}">
      <dsp:nvSpPr>
        <dsp:cNvPr id="0" name=""/>
        <dsp:cNvSpPr/>
      </dsp:nvSpPr>
      <dsp:spPr>
        <a:xfrm>
          <a:off x="0" y="3896858"/>
          <a:ext cx="4872608" cy="7790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922449-0947-421B-B555-0B6AA5B4707E}">
      <dsp:nvSpPr>
        <dsp:cNvPr id="0" name=""/>
        <dsp:cNvSpPr/>
      </dsp:nvSpPr>
      <dsp:spPr>
        <a:xfrm>
          <a:off x="235649" y="4072135"/>
          <a:ext cx="428453" cy="42845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F30B698-CA9A-4B6E-8732-B5A5C1550C9C}">
      <dsp:nvSpPr>
        <dsp:cNvPr id="0" name=""/>
        <dsp:cNvSpPr/>
      </dsp:nvSpPr>
      <dsp:spPr>
        <a:xfrm>
          <a:off x="899752" y="3896858"/>
          <a:ext cx="3972855" cy="779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45" tIns="82445" rIns="82445" bIns="82445" numCol="1" spcCol="1270" anchor="ctr" anchorCtr="0">
          <a:noAutofit/>
        </a:bodyPr>
        <a:lstStyle/>
        <a:p>
          <a:pPr marL="0" lvl="0" indent="0" algn="l" defTabSz="844550">
            <a:lnSpc>
              <a:spcPct val="100000"/>
            </a:lnSpc>
            <a:spcBef>
              <a:spcPct val="0"/>
            </a:spcBef>
            <a:spcAft>
              <a:spcPct val="35000"/>
            </a:spcAft>
            <a:buNone/>
          </a:pPr>
          <a:r>
            <a:rPr lang="en-US" sz="1900" kern="1200" dirty="0"/>
            <a:t>V.  Resultados y Discusión.</a:t>
          </a:r>
        </a:p>
      </dsp:txBody>
      <dsp:txXfrm>
        <a:off x="899752" y="3896858"/>
        <a:ext cx="3972855" cy="779006"/>
      </dsp:txXfrm>
    </dsp:sp>
    <dsp:sp modelId="{077C573B-0145-4201-9C3E-3C016C031A17}">
      <dsp:nvSpPr>
        <dsp:cNvPr id="0" name=""/>
        <dsp:cNvSpPr/>
      </dsp:nvSpPr>
      <dsp:spPr>
        <a:xfrm>
          <a:off x="0" y="4870616"/>
          <a:ext cx="4872608" cy="7790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474B31-F5CB-487B-985C-F49C2EE04063}">
      <dsp:nvSpPr>
        <dsp:cNvPr id="0" name=""/>
        <dsp:cNvSpPr/>
      </dsp:nvSpPr>
      <dsp:spPr>
        <a:xfrm>
          <a:off x="235649" y="5045893"/>
          <a:ext cx="428453" cy="428453"/>
        </a:xfrm>
        <a:prstGeom prst="rect">
          <a:avLst/>
        </a:prstGeom>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6BD285-6765-45A3-8F84-72A20F59A08F}">
      <dsp:nvSpPr>
        <dsp:cNvPr id="0" name=""/>
        <dsp:cNvSpPr/>
      </dsp:nvSpPr>
      <dsp:spPr>
        <a:xfrm>
          <a:off x="899752" y="4870616"/>
          <a:ext cx="3972855" cy="779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45" tIns="82445" rIns="82445" bIns="82445" numCol="1" spcCol="1270" anchor="ctr" anchorCtr="0">
          <a:noAutofit/>
        </a:bodyPr>
        <a:lstStyle/>
        <a:p>
          <a:pPr marL="0" lvl="0" indent="0" algn="l" defTabSz="844550">
            <a:lnSpc>
              <a:spcPct val="100000"/>
            </a:lnSpc>
            <a:spcBef>
              <a:spcPct val="0"/>
            </a:spcBef>
            <a:spcAft>
              <a:spcPct val="35000"/>
            </a:spcAft>
            <a:buNone/>
          </a:pPr>
          <a:r>
            <a:rPr lang="en-US" sz="1900" kern="1200" dirty="0"/>
            <a:t>VI. Conclusiones y Futuro.</a:t>
          </a:r>
        </a:p>
      </dsp:txBody>
      <dsp:txXfrm>
        <a:off x="899752" y="4870616"/>
        <a:ext cx="3972855" cy="77900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10610041-BC2D-6E8E-B944-6736DA6FDE3B}"/>
              </a:ext>
            </a:extLst>
          </p:cNvPr>
          <p:cNvSpPr>
            <a:spLocks noGrp="1"/>
          </p:cNvSpPr>
          <p:nvPr>
            <p:ph type="hdr" sz="quarter"/>
          </p:nvPr>
        </p:nvSpPr>
        <p:spPr>
          <a:xfrm>
            <a:off x="0" y="0"/>
            <a:ext cx="4122738" cy="347663"/>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F91FCC93-6C96-7CC8-E724-D5EE3CE47AC8}"/>
              </a:ext>
            </a:extLst>
          </p:cNvPr>
          <p:cNvSpPr>
            <a:spLocks noGrp="1"/>
          </p:cNvSpPr>
          <p:nvPr>
            <p:ph type="dt" sz="quarter" idx="1"/>
          </p:nvPr>
        </p:nvSpPr>
        <p:spPr>
          <a:xfrm>
            <a:off x="5387975" y="0"/>
            <a:ext cx="4122738" cy="347663"/>
          </a:xfrm>
          <a:prstGeom prst="rect">
            <a:avLst/>
          </a:prstGeom>
        </p:spPr>
        <p:txBody>
          <a:bodyPr vert="horz" lIns="91440" tIns="45720" rIns="91440" bIns="45720" rtlCol="0"/>
          <a:lstStyle>
            <a:lvl1pPr algn="r">
              <a:defRPr sz="1200"/>
            </a:lvl1pPr>
          </a:lstStyle>
          <a:p>
            <a:fld id="{8F1F3678-679C-144F-8E84-A8B6210A42F0}" type="datetimeFigureOut">
              <a:rPr lang="es-ES" smtClean="0"/>
              <a:t>25/6/25</a:t>
            </a:fld>
            <a:endParaRPr lang="es-ES"/>
          </a:p>
        </p:txBody>
      </p:sp>
      <p:sp>
        <p:nvSpPr>
          <p:cNvPr id="4" name="Marcador de pie de página 3">
            <a:extLst>
              <a:ext uri="{FF2B5EF4-FFF2-40B4-BE49-F238E27FC236}">
                <a16:creationId xmlns:a16="http://schemas.microsoft.com/office/drawing/2014/main" id="{4A6265A1-C843-22CE-CE7F-2313CC298623}"/>
              </a:ext>
            </a:extLst>
          </p:cNvPr>
          <p:cNvSpPr>
            <a:spLocks noGrp="1"/>
          </p:cNvSpPr>
          <p:nvPr>
            <p:ph type="ftr" sz="quarter" idx="2"/>
          </p:nvPr>
        </p:nvSpPr>
        <p:spPr>
          <a:xfrm>
            <a:off x="0" y="6586538"/>
            <a:ext cx="4122738" cy="34766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E4D28BEC-C672-7CA2-EF0A-BC6234DEBBF3}"/>
              </a:ext>
            </a:extLst>
          </p:cNvPr>
          <p:cNvSpPr>
            <a:spLocks noGrp="1"/>
          </p:cNvSpPr>
          <p:nvPr>
            <p:ph type="sldNum" sz="quarter" idx="3"/>
          </p:nvPr>
        </p:nvSpPr>
        <p:spPr>
          <a:xfrm>
            <a:off x="5387975" y="6586538"/>
            <a:ext cx="4122738" cy="347662"/>
          </a:xfrm>
          <a:prstGeom prst="rect">
            <a:avLst/>
          </a:prstGeom>
        </p:spPr>
        <p:txBody>
          <a:bodyPr vert="horz" lIns="91440" tIns="45720" rIns="91440" bIns="45720" rtlCol="0" anchor="b"/>
          <a:lstStyle>
            <a:lvl1pPr algn="r">
              <a:defRPr sz="1200"/>
            </a:lvl1pPr>
          </a:lstStyle>
          <a:p>
            <a:fld id="{96DCAD96-D04D-2340-BC59-A96DA7E3BE5C}" type="slidenum">
              <a:rPr lang="es-ES" smtClean="0"/>
              <a:t>‹Nº›</a:t>
            </a:fld>
            <a:endParaRPr lang="es-ES"/>
          </a:p>
        </p:txBody>
      </p:sp>
    </p:spTree>
    <p:extLst>
      <p:ext uri="{BB962C8B-B14F-4D97-AF65-F5344CB8AC3E}">
        <p14:creationId xmlns:p14="http://schemas.microsoft.com/office/powerpoint/2010/main" val="37735740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4122738" cy="347663"/>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5387975" y="0"/>
            <a:ext cx="4122738" cy="347663"/>
          </a:xfrm>
          <a:prstGeom prst="rect">
            <a:avLst/>
          </a:prstGeom>
        </p:spPr>
        <p:txBody>
          <a:bodyPr vert="horz" lIns="91440" tIns="45720" rIns="91440" bIns="45720" rtlCol="0"/>
          <a:lstStyle>
            <a:lvl1pPr algn="r">
              <a:defRPr sz="1200"/>
            </a:lvl1pPr>
          </a:lstStyle>
          <a:p>
            <a:fld id="{7CE93B8F-0DA3-6E4E-B2FF-82B601A6C1B4}" type="datetimeFigureOut">
              <a:rPr lang="es-ES" smtClean="0"/>
              <a:t>25/6/25</a:t>
            </a:fld>
            <a:endParaRPr lang="es-ES"/>
          </a:p>
        </p:txBody>
      </p:sp>
      <p:sp>
        <p:nvSpPr>
          <p:cNvPr id="4" name="Marcador de imagen de diapositiva 3"/>
          <p:cNvSpPr>
            <a:spLocks noGrp="1" noRot="1" noChangeAspect="1"/>
          </p:cNvSpPr>
          <p:nvPr>
            <p:ph type="sldImg" idx="2"/>
          </p:nvPr>
        </p:nvSpPr>
        <p:spPr>
          <a:xfrm>
            <a:off x="3151188" y="866775"/>
            <a:ext cx="3209925" cy="23399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950913" y="3336925"/>
            <a:ext cx="7610475" cy="273050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86538"/>
            <a:ext cx="4122738" cy="347662"/>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5387975" y="6586538"/>
            <a:ext cx="4122738" cy="347662"/>
          </a:xfrm>
          <a:prstGeom prst="rect">
            <a:avLst/>
          </a:prstGeom>
        </p:spPr>
        <p:txBody>
          <a:bodyPr vert="horz" lIns="91440" tIns="45720" rIns="91440" bIns="45720" rtlCol="0" anchor="b"/>
          <a:lstStyle>
            <a:lvl1pPr algn="r">
              <a:defRPr sz="1200"/>
            </a:lvl1pPr>
          </a:lstStyle>
          <a:p>
            <a:fld id="{6BEA5E08-FD95-744A-A387-924B765345BD}" type="slidenum">
              <a:rPr lang="es-ES" smtClean="0"/>
              <a:t>‹Nº›</a:t>
            </a:fld>
            <a:endParaRPr lang="es-ES"/>
          </a:p>
        </p:txBody>
      </p:sp>
    </p:spTree>
    <p:extLst>
      <p:ext uri="{BB962C8B-B14F-4D97-AF65-F5344CB8AC3E}">
        <p14:creationId xmlns:p14="http://schemas.microsoft.com/office/powerpoint/2010/main" val="1755104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Buenos días, soy Ricardo Ruiz Fernández de Alba, y voy a presentar mi TFG: "Imputación de Datos Faltantes de Variables Meteorológicas y de Contaminación en Series Temporales Multivariantes IoT con Modelos Transformer"</a:t>
            </a:r>
          </a:p>
          <a:p>
            <a:endParaRPr lang="es-ES" dirty="0"/>
          </a:p>
        </p:txBody>
      </p:sp>
      <p:sp>
        <p:nvSpPr>
          <p:cNvPr id="4" name="Marcador de número de diapositiva 3"/>
          <p:cNvSpPr>
            <a:spLocks noGrp="1"/>
          </p:cNvSpPr>
          <p:nvPr>
            <p:ph type="sldNum" sz="quarter" idx="5"/>
          </p:nvPr>
        </p:nvSpPr>
        <p:spPr/>
        <p:txBody>
          <a:bodyPr/>
          <a:lstStyle/>
          <a:p>
            <a:fld id="{6BEA5E08-FD95-744A-A387-924B765345BD}" type="slidenum">
              <a:rPr lang="es-ES" smtClean="0"/>
              <a:t>1</a:t>
            </a:fld>
            <a:endParaRPr lang="es-ES"/>
          </a:p>
        </p:txBody>
      </p:sp>
    </p:spTree>
    <p:extLst>
      <p:ext uri="{BB962C8B-B14F-4D97-AF65-F5344CB8AC3E}">
        <p14:creationId xmlns:p14="http://schemas.microsoft.com/office/powerpoint/2010/main" val="2689211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La presentación se estructura en los siguientes seis puntos de acuerdo a un TFG de tipo Investigación: </a:t>
            </a:r>
          </a:p>
          <a:p>
            <a:r>
              <a:rPr lang="es-ES" dirty="0"/>
              <a:t>Introdución y Motivación, Estado del Arte, Modelos Transformers, Desarrollo experimental, Resultados y Discusión y Conclusiones.</a:t>
            </a:r>
          </a:p>
          <a:p>
            <a:endParaRPr lang="es-ES" dirty="0"/>
          </a:p>
        </p:txBody>
      </p:sp>
      <p:sp>
        <p:nvSpPr>
          <p:cNvPr id="4" name="Marcador de número de diapositiva 3"/>
          <p:cNvSpPr>
            <a:spLocks noGrp="1"/>
          </p:cNvSpPr>
          <p:nvPr>
            <p:ph type="sldNum" sz="quarter" idx="5"/>
          </p:nvPr>
        </p:nvSpPr>
        <p:spPr/>
        <p:txBody>
          <a:bodyPr/>
          <a:lstStyle/>
          <a:p>
            <a:fld id="{6BEA5E08-FD95-744A-A387-924B765345BD}" type="slidenum">
              <a:rPr lang="es-ES" smtClean="0"/>
              <a:t>2</a:t>
            </a:fld>
            <a:endParaRPr lang="es-ES"/>
          </a:p>
        </p:txBody>
      </p:sp>
    </p:spTree>
    <p:extLst>
      <p:ext uri="{BB962C8B-B14F-4D97-AF65-F5344CB8AC3E}">
        <p14:creationId xmlns:p14="http://schemas.microsoft.com/office/powerpoint/2010/main" val="2589523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primer lugar, el contexto: Para estudiar la sostenibilidad ambiental de la</a:t>
            </a:r>
          </a:p>
          <a:p>
            <a:r>
              <a:rPr lang="es-ES" dirty="0"/>
              <a:t>región de Poqueira, en la Alpujarra Granadina, se tomaron datos de tráfico mediante 4 cámaras LPR</a:t>
            </a:r>
          </a:p>
          <a:p>
            <a:r>
              <a:rPr lang="es-ES" dirty="0"/>
              <a:t>(reconocimiento de matrículas) situadas en las localidades de Pampaneira, Bubión y Capileira y de variables meteorológicas y</a:t>
            </a:r>
          </a:p>
          <a:p>
            <a:r>
              <a:rPr lang="es-ES" dirty="0"/>
              <a:t>de contaminación con una unidad móvil equipada con sensores cerca de Pampaneira. </a:t>
            </a:r>
          </a:p>
          <a:p>
            <a:r>
              <a:rPr lang="es-ES" dirty="0"/>
              <a:t>Las cámaras junto con los sensores constituyen un sistema IoT que produce un dataset conformado por 114 variables, entre las cuales</a:t>
            </a:r>
          </a:p>
          <a:p>
            <a:r>
              <a:rPr lang="es-ES" dirty="0"/>
              <a:t>se encuentran CO, NO2, PM10 (particulas en suspensión).</a:t>
            </a:r>
          </a:p>
          <a:p>
            <a:endParaRPr lang="es-ES" dirty="0"/>
          </a:p>
        </p:txBody>
      </p:sp>
      <p:sp>
        <p:nvSpPr>
          <p:cNvPr id="4" name="Marcador de número de diapositiva 3"/>
          <p:cNvSpPr>
            <a:spLocks noGrp="1"/>
          </p:cNvSpPr>
          <p:nvPr>
            <p:ph type="sldNum" sz="quarter" idx="5"/>
          </p:nvPr>
        </p:nvSpPr>
        <p:spPr/>
        <p:txBody>
          <a:bodyPr/>
          <a:lstStyle/>
          <a:p>
            <a:fld id="{6BEA5E08-FD95-744A-A387-924B765345BD}" type="slidenum">
              <a:rPr lang="es-ES" smtClean="0"/>
              <a:t>3</a:t>
            </a:fld>
            <a:endParaRPr lang="es-ES"/>
          </a:p>
        </p:txBody>
      </p:sp>
    </p:spTree>
    <p:extLst>
      <p:ext uri="{BB962C8B-B14F-4D97-AF65-F5344CB8AC3E}">
        <p14:creationId xmlns:p14="http://schemas.microsoft.com/office/powerpoint/2010/main" val="3303192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Al analizar los datos registrados cada hora de las 114 variables (CO, NO2, PM10, etc.) en dos periodos de 2023: invierno y verano, se encontró un 28.4% de datos faltantes, por diversos motivos tanto técnicos (fallos de los sensores) como ambientales (condiciones meteorológicas).</a:t>
            </a:r>
          </a:p>
        </p:txBody>
      </p:sp>
      <p:sp>
        <p:nvSpPr>
          <p:cNvPr id="4" name="Marcador de número de diapositiva 3"/>
          <p:cNvSpPr>
            <a:spLocks noGrp="1"/>
          </p:cNvSpPr>
          <p:nvPr>
            <p:ph type="sldNum" sz="quarter" idx="5"/>
          </p:nvPr>
        </p:nvSpPr>
        <p:spPr/>
        <p:txBody>
          <a:bodyPr/>
          <a:lstStyle/>
          <a:p>
            <a:fld id="{6BEA5E08-FD95-744A-A387-924B765345BD}" type="slidenum">
              <a:rPr lang="es-ES" smtClean="0"/>
              <a:t>4</a:t>
            </a:fld>
            <a:endParaRPr lang="es-ES"/>
          </a:p>
        </p:txBody>
      </p:sp>
    </p:spTree>
    <p:extLst>
      <p:ext uri="{BB962C8B-B14F-4D97-AF65-F5344CB8AC3E}">
        <p14:creationId xmlns:p14="http://schemas.microsoft.com/office/powerpoint/2010/main" val="911539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Por ejemplo, esta gráfica de PM10, una de la 114 variables que conforman el dataset de este trabajo,</a:t>
            </a:r>
          </a:p>
          <a:p>
            <a:r>
              <a:rPr lang="es-ES" dirty="0"/>
              <a:t>representa una serie temporal parcialmente observada. Futuros análisis y predicciones sobre estas series serán más robustos si se completan de manera adecuada.</a:t>
            </a:r>
          </a:p>
        </p:txBody>
      </p:sp>
      <p:sp>
        <p:nvSpPr>
          <p:cNvPr id="4" name="Marcador de número de diapositiva 3"/>
          <p:cNvSpPr>
            <a:spLocks noGrp="1"/>
          </p:cNvSpPr>
          <p:nvPr>
            <p:ph type="sldNum" sz="quarter" idx="5"/>
          </p:nvPr>
        </p:nvSpPr>
        <p:spPr/>
        <p:txBody>
          <a:bodyPr/>
          <a:lstStyle/>
          <a:p>
            <a:fld id="{6BEA5E08-FD95-744A-A387-924B765345BD}" type="slidenum">
              <a:rPr lang="es-ES" smtClean="0"/>
              <a:t>5</a:t>
            </a:fld>
            <a:endParaRPr lang="es-ES"/>
          </a:p>
        </p:txBody>
      </p:sp>
    </p:spTree>
    <p:extLst>
      <p:ext uri="{BB962C8B-B14F-4D97-AF65-F5344CB8AC3E}">
        <p14:creationId xmlns:p14="http://schemas.microsoft.com/office/powerpoint/2010/main" val="2441432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Frente a este problema, nos planteamos la siguiente pregunta de investigación:</a:t>
            </a:r>
          </a:p>
          <a:p>
            <a:r>
              <a:rPr lang="es-ES" dirty="0"/>
              <a:t>¿En qué medida  los diversos métodos de imputación pueden recuperar eficazmente los valores faltantes? ¿Cómo se posicionan los modelos Transformers en este contexto?</a:t>
            </a:r>
          </a:p>
          <a:p>
            <a:r>
              <a:rPr lang="es-ES" dirty="0"/>
              <a:t>Para responder a este interrogante, este trabajo plantea como objetivo principal el estudio de los modelos transformer para imputar series temporales.</a:t>
            </a:r>
          </a:p>
          <a:p>
            <a:endParaRPr lang="es-ES" dirty="0"/>
          </a:p>
          <a:p>
            <a:r>
              <a:rPr lang="es-ES" dirty="0"/>
              <a:t>Y como objetivos específicos:</a:t>
            </a:r>
          </a:p>
          <a:p>
            <a:r>
              <a:rPr lang="es-ES" dirty="0"/>
              <a:t>1. Estudio del estado del arte.</a:t>
            </a:r>
          </a:p>
          <a:p>
            <a:r>
              <a:rPr lang="es-ES" dirty="0"/>
              <a:t>2. Fundamentación informática-matemática del Transformer.</a:t>
            </a:r>
          </a:p>
          <a:p>
            <a:r>
              <a:rPr lang="es-ES" dirty="0"/>
              <a:t>3. Elaboración de un Pipeline de Imputación y de un paquete de Python.</a:t>
            </a:r>
          </a:p>
          <a:p>
            <a:r>
              <a:rPr lang="es-ES" dirty="0"/>
              <a:t>4. Evaluación comparativa del rendimiento.</a:t>
            </a:r>
          </a:p>
          <a:p>
            <a:endParaRPr lang="es-ES" dirty="0"/>
          </a:p>
        </p:txBody>
      </p:sp>
      <p:sp>
        <p:nvSpPr>
          <p:cNvPr id="4" name="Marcador de número de diapositiva 3"/>
          <p:cNvSpPr>
            <a:spLocks noGrp="1"/>
          </p:cNvSpPr>
          <p:nvPr>
            <p:ph type="sldNum" sz="quarter" idx="5"/>
          </p:nvPr>
        </p:nvSpPr>
        <p:spPr/>
        <p:txBody>
          <a:bodyPr/>
          <a:lstStyle/>
          <a:p>
            <a:fld id="{6BEA5E08-FD95-744A-A387-924B765345BD}" type="slidenum">
              <a:rPr lang="es-ES" smtClean="0"/>
              <a:t>6</a:t>
            </a:fld>
            <a:endParaRPr lang="es-ES"/>
          </a:p>
        </p:txBody>
      </p:sp>
    </p:spTree>
    <p:extLst>
      <p:ext uri="{BB962C8B-B14F-4D97-AF65-F5344CB8AC3E}">
        <p14:creationId xmlns:p14="http://schemas.microsoft.com/office/powerpoint/2010/main" val="4139625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Así pues, comenzamos por presentar la forma general del problema de Imputación.</a:t>
            </a:r>
          </a:p>
          <a:p>
            <a:r>
              <a:rPr lang="es-ES" dirty="0"/>
              <a:t>Partimos de la Serie Temporal Original Parcialmente Observada X original.</a:t>
            </a:r>
          </a:p>
          <a:p>
            <a:r>
              <a:rPr lang="es-ES" dirty="0"/>
              <a:t>Respecto a esta serie, se elimina deliberadamente un porcentaje de valores observados produciendo X missing. Este proceso genera una máscara binaria M, con unos en las posiciones eliminadas (puntos rojos) y ceros en el resto.</a:t>
            </a:r>
          </a:p>
          <a:p>
            <a:endParaRPr lang="es-ES" dirty="0"/>
          </a:p>
          <a:p>
            <a:r>
              <a:rPr lang="es-ES" dirty="0"/>
              <a:t>Un método de imputación f se aplica a X missing y M, generando la serie temporal completa</a:t>
            </a:r>
          </a:p>
        </p:txBody>
      </p:sp>
      <p:sp>
        <p:nvSpPr>
          <p:cNvPr id="4" name="Marcador de número de diapositiva 3"/>
          <p:cNvSpPr>
            <a:spLocks noGrp="1"/>
          </p:cNvSpPr>
          <p:nvPr>
            <p:ph type="sldNum" sz="quarter" idx="5"/>
          </p:nvPr>
        </p:nvSpPr>
        <p:spPr/>
        <p:txBody>
          <a:bodyPr/>
          <a:lstStyle/>
          <a:p>
            <a:fld id="{6BEA5E08-FD95-744A-A387-924B765345BD}" type="slidenum">
              <a:rPr lang="es-ES" smtClean="0"/>
              <a:t>7</a:t>
            </a:fld>
            <a:endParaRPr lang="es-ES"/>
          </a:p>
        </p:txBody>
      </p:sp>
    </p:spTree>
    <p:extLst>
      <p:ext uri="{BB962C8B-B14F-4D97-AF65-F5344CB8AC3E}">
        <p14:creationId xmlns:p14="http://schemas.microsoft.com/office/powerpoint/2010/main" val="3215887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Ahora bien, ¿Por qué eliminamos datos? Porque esto permite comparar los  valores imputados con su valor verdadero (ground truth).</a:t>
            </a:r>
          </a:p>
          <a:p>
            <a:endParaRPr lang="es-ES" dirty="0"/>
          </a:p>
          <a:p>
            <a:r>
              <a:rPr lang="es-ES" dirty="0"/>
              <a:t>Esto se hace mediante distintas métricas de error (Error absoluto medio, Error cuadrático medio, Error relativo medio). </a:t>
            </a:r>
          </a:p>
          <a:p>
            <a:r>
              <a:rPr lang="es-ES" dirty="0"/>
              <a:t>, ya que cada una aporta información complementaria.</a:t>
            </a:r>
          </a:p>
          <a:p>
            <a:endParaRPr lang="es-ES" dirty="0"/>
          </a:p>
          <a:p>
            <a:r>
              <a:rPr lang="es-ES" dirty="0"/>
              <a:t>En la figura, se observan algunos de estos errores por exceso y por defecto. </a:t>
            </a:r>
          </a:p>
          <a:p>
            <a:endParaRPr lang="es-ES" dirty="0"/>
          </a:p>
          <a:p>
            <a:endParaRPr lang="es-ES" dirty="0"/>
          </a:p>
        </p:txBody>
      </p:sp>
      <p:sp>
        <p:nvSpPr>
          <p:cNvPr id="4" name="Marcador de número de diapositiva 3"/>
          <p:cNvSpPr>
            <a:spLocks noGrp="1"/>
          </p:cNvSpPr>
          <p:nvPr>
            <p:ph type="sldNum" sz="quarter" idx="5"/>
          </p:nvPr>
        </p:nvSpPr>
        <p:spPr/>
        <p:txBody>
          <a:bodyPr/>
          <a:lstStyle/>
          <a:p>
            <a:fld id="{6BEA5E08-FD95-744A-A387-924B765345BD}" type="slidenum">
              <a:rPr lang="es-ES" smtClean="0"/>
              <a:t>8</a:t>
            </a:fld>
            <a:endParaRPr lang="es-ES"/>
          </a:p>
        </p:txBody>
      </p:sp>
    </p:spTree>
    <p:extLst>
      <p:ext uri="{BB962C8B-B14F-4D97-AF65-F5344CB8AC3E}">
        <p14:creationId xmlns:p14="http://schemas.microsoft.com/office/powerpoint/2010/main" val="32754359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Continuamos con el estudio del estado del arte, estableciendo una taxonomía,</a:t>
            </a:r>
          </a:p>
          <a:p>
            <a:r>
              <a:rPr lang="es-ES" dirty="0"/>
              <a:t>que diferencia entre métodos estacionarios, métodos con información local, basados en matrices y de Deep Learning entre los que se encuentran los modelos Transformer.</a:t>
            </a:r>
          </a:p>
        </p:txBody>
      </p:sp>
      <p:sp>
        <p:nvSpPr>
          <p:cNvPr id="4" name="Marcador de número de diapositiva 3"/>
          <p:cNvSpPr>
            <a:spLocks noGrp="1"/>
          </p:cNvSpPr>
          <p:nvPr>
            <p:ph type="sldNum" sz="quarter" idx="5"/>
          </p:nvPr>
        </p:nvSpPr>
        <p:spPr/>
        <p:txBody>
          <a:bodyPr/>
          <a:lstStyle/>
          <a:p>
            <a:fld id="{6BEA5E08-FD95-744A-A387-924B765345BD}" type="slidenum">
              <a:rPr lang="es-ES" smtClean="0"/>
              <a:t>9</a:t>
            </a:fld>
            <a:endParaRPr lang="es-ES"/>
          </a:p>
        </p:txBody>
      </p:sp>
    </p:spTree>
    <p:extLst>
      <p:ext uri="{BB962C8B-B14F-4D97-AF65-F5344CB8AC3E}">
        <p14:creationId xmlns:p14="http://schemas.microsoft.com/office/powerpoint/2010/main" val="24302562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Como métodos estacionarios, la media y la mediana pueden sustituir a los valores faltantes si se consideran invariantes en el tiempo.</a:t>
            </a:r>
          </a:p>
        </p:txBody>
      </p:sp>
      <p:sp>
        <p:nvSpPr>
          <p:cNvPr id="4" name="Marcador de número de diapositiva 3"/>
          <p:cNvSpPr>
            <a:spLocks noGrp="1"/>
          </p:cNvSpPr>
          <p:nvPr>
            <p:ph type="sldNum" sz="quarter" idx="5"/>
          </p:nvPr>
        </p:nvSpPr>
        <p:spPr/>
        <p:txBody>
          <a:bodyPr/>
          <a:lstStyle/>
          <a:p>
            <a:fld id="{6BEA5E08-FD95-744A-A387-924B765345BD}" type="slidenum">
              <a:rPr lang="es-ES" smtClean="0"/>
              <a:t>10</a:t>
            </a:fld>
            <a:endParaRPr lang="es-ES"/>
          </a:p>
        </p:txBody>
      </p:sp>
    </p:spTree>
    <p:extLst>
      <p:ext uri="{BB962C8B-B14F-4D97-AF65-F5344CB8AC3E}">
        <p14:creationId xmlns:p14="http://schemas.microsoft.com/office/powerpoint/2010/main" val="4056268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Por otro lado, los métodos de información local estiman los valores faltantes</a:t>
            </a:r>
          </a:p>
          <a:p>
            <a:r>
              <a:rPr lang="es-ES" dirty="0"/>
              <a:t>basándose en los puntos adyacentes: </a:t>
            </a:r>
          </a:p>
          <a:p>
            <a:endParaRPr lang="es-ES" dirty="0"/>
          </a:p>
          <a:p>
            <a:r>
              <a:rPr lang="es-ES" dirty="0"/>
              <a:t>Para Forward Fill, el valor imputado x sub t,j gorro se imputa con x sub t sub t_0,j si el conjunto</a:t>
            </a:r>
          </a:p>
          <a:p>
            <a:r>
              <a:rPr lang="es-ES" dirty="0"/>
              <a:t>de los tau menores que t con posiciones 1 en la máscara es no vacío y 0 en caso contrario.</a:t>
            </a:r>
          </a:p>
          <a:p>
            <a:r>
              <a:rPr lang="es-ES" dirty="0"/>
              <a:t>T_0 es el maximo de este conjunto anteriormente descrito.</a:t>
            </a:r>
          </a:p>
          <a:p>
            <a:endParaRPr lang="es-ES" dirty="0"/>
          </a:p>
          <a:p>
            <a:r>
              <a:rPr lang="es-ES" dirty="0"/>
              <a:t>Análogamente Backward Fill.</a:t>
            </a:r>
          </a:p>
          <a:p>
            <a:endParaRPr lang="es-ES" dirty="0"/>
          </a:p>
          <a:p>
            <a:r>
              <a:rPr lang="es-ES" dirty="0"/>
              <a:t>Esto significa que Forward Fill propaga el último valor observado hacia adelante, y Backward Fill rellena con el</a:t>
            </a:r>
          </a:p>
          <a:p>
            <a:r>
              <a:rPr lang="es-ES" dirty="0"/>
              <a:t>siguiente valor observado hacia atrás.</a:t>
            </a:r>
          </a:p>
          <a:p>
            <a:endParaRPr lang="es-ES" dirty="0"/>
          </a:p>
        </p:txBody>
      </p:sp>
      <p:sp>
        <p:nvSpPr>
          <p:cNvPr id="4" name="Marcador de número de diapositiva 3"/>
          <p:cNvSpPr>
            <a:spLocks noGrp="1"/>
          </p:cNvSpPr>
          <p:nvPr>
            <p:ph type="sldNum" sz="quarter" idx="5"/>
          </p:nvPr>
        </p:nvSpPr>
        <p:spPr/>
        <p:txBody>
          <a:bodyPr/>
          <a:lstStyle/>
          <a:p>
            <a:fld id="{6BEA5E08-FD95-744A-A387-924B765345BD}" type="slidenum">
              <a:rPr lang="es-ES" smtClean="0"/>
              <a:t>11</a:t>
            </a:fld>
            <a:endParaRPr lang="es-ES"/>
          </a:p>
        </p:txBody>
      </p:sp>
    </p:spTree>
    <p:extLst>
      <p:ext uri="{BB962C8B-B14F-4D97-AF65-F5344CB8AC3E}">
        <p14:creationId xmlns:p14="http://schemas.microsoft.com/office/powerpoint/2010/main" val="1157422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el caso de la interpolación lineal, se tienen en cuenta ambos valores adyacentes. Estos se unen mediante una línea recta que determina los valores faltantes.</a:t>
            </a:r>
          </a:p>
        </p:txBody>
      </p:sp>
      <p:sp>
        <p:nvSpPr>
          <p:cNvPr id="4" name="Marcador de número de diapositiva 3"/>
          <p:cNvSpPr>
            <a:spLocks noGrp="1"/>
          </p:cNvSpPr>
          <p:nvPr>
            <p:ph type="sldNum" sz="quarter" idx="5"/>
          </p:nvPr>
        </p:nvSpPr>
        <p:spPr/>
        <p:txBody>
          <a:bodyPr/>
          <a:lstStyle/>
          <a:p>
            <a:fld id="{6BEA5E08-FD95-744A-A387-924B765345BD}" type="slidenum">
              <a:rPr lang="es-ES" smtClean="0"/>
              <a:t>12</a:t>
            </a:fld>
            <a:endParaRPr lang="es-ES"/>
          </a:p>
        </p:txBody>
      </p:sp>
    </p:spTree>
    <p:extLst>
      <p:ext uri="{BB962C8B-B14F-4D97-AF65-F5344CB8AC3E}">
        <p14:creationId xmlns:p14="http://schemas.microsoft.com/office/powerpoint/2010/main" val="39084211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Como método basado en matrices, encontramos la Imputación Hankel .</a:t>
            </a:r>
          </a:p>
          <a:p>
            <a:endParaRPr lang="es-ES" dirty="0"/>
          </a:p>
          <a:p>
            <a:r>
              <a:rPr lang="es-ES" dirty="0"/>
              <a:t>La matriz de Hankel se define a partir una serie temporal, que se reorganiza en una matriz de tamaño (n menos  k + 1) x (kd), donde n: número de filas, k parámetro retardo que por defecto toma la parte entera de n+1 medios  y d: número de variables. </a:t>
            </a:r>
          </a:p>
          <a:p>
            <a:endParaRPr lang="es-ES" dirty="0"/>
          </a:p>
          <a:p>
            <a:r>
              <a:rPr lang="es-ES" dirty="0"/>
              <a:t>La imputación se resuelve obteniendo la matriz de rango mínimo, para lo que se minimiza su norma nuclear, lo que permite obtener la serie temporal completa.  </a:t>
            </a:r>
          </a:p>
        </p:txBody>
      </p:sp>
      <p:sp>
        <p:nvSpPr>
          <p:cNvPr id="4" name="Marcador de número de diapositiva 3"/>
          <p:cNvSpPr>
            <a:spLocks noGrp="1"/>
          </p:cNvSpPr>
          <p:nvPr>
            <p:ph type="sldNum" sz="quarter" idx="5"/>
          </p:nvPr>
        </p:nvSpPr>
        <p:spPr/>
        <p:txBody>
          <a:bodyPr/>
          <a:lstStyle/>
          <a:p>
            <a:fld id="{6BEA5E08-FD95-744A-A387-924B765345BD}" type="slidenum">
              <a:rPr lang="es-ES" smtClean="0"/>
              <a:t>13</a:t>
            </a:fld>
            <a:endParaRPr lang="es-ES"/>
          </a:p>
        </p:txBody>
      </p:sp>
    </p:spTree>
    <p:extLst>
      <p:ext uri="{BB962C8B-B14F-4D97-AF65-F5344CB8AC3E}">
        <p14:creationId xmlns:p14="http://schemas.microsoft.com/office/powerpoint/2010/main" val="34676773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La arquitectura Transformer,  en "Attention Is All You Need”, es de los modelos más utilizados actualmente.</a:t>
            </a:r>
          </a:p>
          <a:p>
            <a:r>
              <a:rPr lang="es-ES" dirty="0"/>
              <a:t>Principalmente es conocido en el campo del procesamiento del lenguaje natural, aunque aquí lo utilizaremos para </a:t>
            </a:r>
          </a:p>
          <a:p>
            <a:r>
              <a:rPr lang="es-ES" dirty="0"/>
              <a:t>Series temporales.</a:t>
            </a:r>
          </a:p>
          <a:p>
            <a:endParaRPr lang="es-ES" dirty="0"/>
          </a:p>
          <a:p>
            <a:r>
              <a:rPr lang="es-ES" dirty="0"/>
              <a:t>Su diseño encoder-decoder utiliza N capas apiladas. El encoder procesa simultáneamente toda la secuencia de entrada generando una representación contextual que envía al decoder.  Este focaliza su atención sobre tal representación generando una salida de forma autorregresiva. Tras una capa lineal final y Softmax se obtiene una distribución de probabilidad categórica sobre los posibles valores que pueden tomar las posiciones faltantes en la serie</a:t>
            </a:r>
          </a:p>
          <a:p>
            <a:r>
              <a:rPr lang="es-ES" dirty="0"/>
              <a:t>temporal.</a:t>
            </a:r>
          </a:p>
          <a:p>
            <a:endParaRPr lang="es-ES" dirty="0"/>
          </a:p>
        </p:txBody>
      </p:sp>
      <p:sp>
        <p:nvSpPr>
          <p:cNvPr id="4" name="Marcador de número de diapositiva 3"/>
          <p:cNvSpPr>
            <a:spLocks noGrp="1"/>
          </p:cNvSpPr>
          <p:nvPr>
            <p:ph type="sldNum" sz="quarter" idx="5"/>
          </p:nvPr>
        </p:nvSpPr>
        <p:spPr/>
        <p:txBody>
          <a:bodyPr/>
          <a:lstStyle/>
          <a:p>
            <a:fld id="{6BEA5E08-FD95-744A-A387-924B765345BD}" type="slidenum">
              <a:rPr lang="es-ES" smtClean="0"/>
              <a:t>14</a:t>
            </a:fld>
            <a:endParaRPr lang="es-ES"/>
          </a:p>
        </p:txBody>
      </p:sp>
    </p:spTree>
    <p:extLst>
      <p:ext uri="{BB962C8B-B14F-4D97-AF65-F5344CB8AC3E}">
        <p14:creationId xmlns:p14="http://schemas.microsoft.com/office/powerpoint/2010/main" val="39695349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principio, la paralelización de la que hablábamos no respetaría el orden de</a:t>
            </a:r>
          </a:p>
          <a:p>
            <a:r>
              <a:rPr lang="es-ES" dirty="0"/>
              <a:t>la secuencia de embeddings si no fuera por el componente Positional encoding.</a:t>
            </a:r>
          </a:p>
          <a:p>
            <a:r>
              <a:rPr lang="es-ES" dirty="0"/>
              <a:t>Este utiliza funciones trigonométricas para proporcionar  información de orden y posición.</a:t>
            </a:r>
          </a:p>
        </p:txBody>
      </p:sp>
      <p:sp>
        <p:nvSpPr>
          <p:cNvPr id="4" name="Marcador de número de diapositiva 3"/>
          <p:cNvSpPr>
            <a:spLocks noGrp="1"/>
          </p:cNvSpPr>
          <p:nvPr>
            <p:ph type="sldNum" sz="quarter" idx="5"/>
          </p:nvPr>
        </p:nvSpPr>
        <p:spPr/>
        <p:txBody>
          <a:bodyPr/>
          <a:lstStyle/>
          <a:p>
            <a:fld id="{6BEA5E08-FD95-744A-A387-924B765345BD}" type="slidenum">
              <a:rPr lang="es-ES" smtClean="0"/>
              <a:t>15</a:t>
            </a:fld>
            <a:endParaRPr lang="es-ES"/>
          </a:p>
        </p:txBody>
      </p:sp>
    </p:spTree>
    <p:extLst>
      <p:ext uri="{BB962C8B-B14F-4D97-AF65-F5344CB8AC3E}">
        <p14:creationId xmlns:p14="http://schemas.microsoft.com/office/powerpoint/2010/main" val="14704554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Pero, sin lugar a duda, el núcleo del Transformer es su mecanismo de Atención, que toma como entrada</a:t>
            </a:r>
          </a:p>
          <a:p>
            <a:r>
              <a:rPr lang="es-ES" dirty="0"/>
              <a:t>las matrices de Consulta (Q), Claves (K) y Valores (V), construidas a partir de los embeddings con información posicional.</a:t>
            </a:r>
          </a:p>
          <a:p>
            <a:r>
              <a:rPr lang="es-ES" dirty="0"/>
              <a:t>La atención calcula la similitud entre Q y K mediante el producto</a:t>
            </a:r>
          </a:p>
          <a:p>
            <a:r>
              <a:rPr lang="es-ES" dirty="0"/>
              <a:t>escalar escalado y seguidamente la función Softmax obtiene los pesos de atención que ponderan los valores.</a:t>
            </a:r>
          </a:p>
          <a:p>
            <a:r>
              <a:rPr lang="es-ES" dirty="0"/>
              <a:t>Técnicamente se ejecutan múltiples mecanismos de atención en paralelo (uno por</a:t>
            </a:r>
          </a:p>
          <a:p>
            <a:r>
              <a:rPr lang="es-ES" dirty="0"/>
              <a:t>cabeza), que se concatenan en los componentes Multihead-Attention.</a:t>
            </a:r>
          </a:p>
        </p:txBody>
      </p:sp>
      <p:sp>
        <p:nvSpPr>
          <p:cNvPr id="4" name="Marcador de número de diapositiva 3"/>
          <p:cNvSpPr>
            <a:spLocks noGrp="1"/>
          </p:cNvSpPr>
          <p:nvPr>
            <p:ph type="sldNum" sz="quarter" idx="5"/>
          </p:nvPr>
        </p:nvSpPr>
        <p:spPr/>
        <p:txBody>
          <a:bodyPr/>
          <a:lstStyle/>
          <a:p>
            <a:fld id="{6BEA5E08-FD95-744A-A387-924B765345BD}" type="slidenum">
              <a:rPr lang="es-ES" smtClean="0"/>
              <a:t>16</a:t>
            </a:fld>
            <a:endParaRPr lang="es-ES"/>
          </a:p>
        </p:txBody>
      </p:sp>
    </p:spTree>
    <p:extLst>
      <p:ext uri="{BB962C8B-B14F-4D97-AF65-F5344CB8AC3E}">
        <p14:creationId xmlns:p14="http://schemas.microsoft.com/office/powerpoint/2010/main" val="32089968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SAITS es un Transformer Modificado, que emplea una arquitectura especializada en</a:t>
            </a:r>
          </a:p>
          <a:p>
            <a:r>
              <a:rPr lang="es-ES" dirty="0"/>
              <a:t>imputación de series temporales con dos bloques DMSA (Diagonal Masked Self-Attention) y un tercer bloque.</a:t>
            </a:r>
          </a:p>
          <a:p>
            <a:endParaRPr lang="es-ES" dirty="0"/>
          </a:p>
          <a:p>
            <a:r>
              <a:rPr lang="es-ES" dirty="0"/>
              <a:t>El primer bloque (en color verde) se asemeja al encoder, mientras que el segundo</a:t>
            </a:r>
          </a:p>
          <a:p>
            <a:r>
              <a:rPr lang="es-ES" dirty="0"/>
              <a:t>(en color azul) al decoder. Entonces,  ¿cuáles son las particularidades de este</a:t>
            </a:r>
          </a:p>
          <a:p>
            <a:r>
              <a:rPr lang="es-ES" dirty="0"/>
              <a:t>modelo respecto a Transformer?</a:t>
            </a:r>
          </a:p>
          <a:p>
            <a:endParaRPr lang="es-ES" dirty="0"/>
          </a:p>
          <a:p>
            <a:r>
              <a:rPr lang="es-ES" dirty="0"/>
              <a:t>Por un lado, el enmascaramiento diagonal (en color naranja oscuro) y un tercer bloque de combinación ponderada (en color marrón claro) </a:t>
            </a:r>
          </a:p>
          <a:p>
            <a:endParaRPr lang="es-ES" dirty="0"/>
          </a:p>
        </p:txBody>
      </p:sp>
      <p:sp>
        <p:nvSpPr>
          <p:cNvPr id="4" name="Marcador de número de diapositiva 3"/>
          <p:cNvSpPr>
            <a:spLocks noGrp="1"/>
          </p:cNvSpPr>
          <p:nvPr>
            <p:ph type="sldNum" sz="quarter" idx="5"/>
          </p:nvPr>
        </p:nvSpPr>
        <p:spPr/>
        <p:txBody>
          <a:bodyPr/>
          <a:lstStyle/>
          <a:p>
            <a:fld id="{6BEA5E08-FD95-744A-A387-924B765345BD}" type="slidenum">
              <a:rPr lang="es-ES" smtClean="0"/>
              <a:t>17</a:t>
            </a:fld>
            <a:endParaRPr lang="es-ES"/>
          </a:p>
        </p:txBody>
      </p:sp>
    </p:spTree>
    <p:extLst>
      <p:ext uri="{BB962C8B-B14F-4D97-AF65-F5344CB8AC3E}">
        <p14:creationId xmlns:p14="http://schemas.microsoft.com/office/powerpoint/2010/main" val="29109804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qué consiste este enmascaramiento diagonal? </a:t>
            </a:r>
          </a:p>
          <a:p>
            <a:endParaRPr lang="es-ES" dirty="0"/>
          </a:p>
          <a:p>
            <a:r>
              <a:rPr lang="es-ES" dirty="0"/>
              <a:t>Pues que mientras que en Transformer cada punto puede atender a todos los demás, y a sí mismo, en SAITS la máscara diagonal bloquea la auto-atención, asignando menos infinito a los elementos de la diagonal principal. </a:t>
            </a:r>
          </a:p>
          <a:p>
            <a:r>
              <a:rPr lang="es-ES" dirty="0"/>
              <a:t>Tras aplicar Softmax los pesos diagonales se anulan, lo que significa que, al multiplicar por la matriz de valores, V, cada punto sólo atiende a los demás.</a:t>
            </a:r>
          </a:p>
        </p:txBody>
      </p:sp>
      <p:sp>
        <p:nvSpPr>
          <p:cNvPr id="4" name="Marcador de número de diapositiva 3"/>
          <p:cNvSpPr>
            <a:spLocks noGrp="1"/>
          </p:cNvSpPr>
          <p:nvPr>
            <p:ph type="sldNum" sz="quarter" idx="5"/>
          </p:nvPr>
        </p:nvSpPr>
        <p:spPr/>
        <p:txBody>
          <a:bodyPr/>
          <a:lstStyle/>
          <a:p>
            <a:fld id="{6BEA5E08-FD95-744A-A387-924B765345BD}" type="slidenum">
              <a:rPr lang="es-ES" smtClean="0"/>
              <a:t>18</a:t>
            </a:fld>
            <a:endParaRPr lang="es-ES"/>
          </a:p>
        </p:txBody>
      </p:sp>
    </p:spTree>
    <p:extLst>
      <p:ext uri="{BB962C8B-B14F-4D97-AF65-F5344CB8AC3E}">
        <p14:creationId xmlns:p14="http://schemas.microsoft.com/office/powerpoint/2010/main" val="39739813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El procesamiento matemático de SAITS se produce en tres etapas:</a:t>
            </a:r>
          </a:p>
          <a:p>
            <a:endParaRPr lang="es-ES" dirty="0"/>
          </a:p>
          <a:p>
            <a:r>
              <a:rPr lang="es-ES" dirty="0"/>
              <a:t>El primer bloque DMSA produce tras su última capa lineal, la salida</a:t>
            </a:r>
          </a:p>
          <a:p>
            <a:r>
              <a:rPr lang="es-ES" dirty="0"/>
              <a:t>X1. Una  primera imputación a partir de esta se toma como entrada para el segundo bloque, que tras una función de activación ReLu entre dos capas lineales, produce X2.</a:t>
            </a:r>
          </a:p>
          <a:p>
            <a:endParaRPr lang="es-ES" dirty="0"/>
          </a:p>
          <a:p>
            <a:r>
              <a:rPr lang="es-ES" dirty="0"/>
              <a:t>El tercer bloque (color marrón) efectúa una combinación ponderada de X1 y X2,</a:t>
            </a:r>
          </a:p>
          <a:p>
            <a:r>
              <a:rPr lang="es-ES" dirty="0"/>
              <a:t>dando lugar a X3.</a:t>
            </a:r>
          </a:p>
          <a:p>
            <a:endParaRPr lang="es-ES" dirty="0"/>
          </a:p>
          <a:p>
            <a:r>
              <a:rPr lang="es-ES" dirty="0"/>
              <a:t>Por último, utilizando la serie original X, la salida del bloque combinado X3 y la</a:t>
            </a:r>
          </a:p>
          <a:p>
            <a:r>
              <a:rPr lang="es-ES" dirty="0"/>
              <a:t>máscara de datos faltantes M, obtenemos la serie temporal completa X gorro.</a:t>
            </a:r>
          </a:p>
          <a:p>
            <a:endParaRPr lang="es-ES" dirty="0"/>
          </a:p>
        </p:txBody>
      </p:sp>
      <p:sp>
        <p:nvSpPr>
          <p:cNvPr id="4" name="Marcador de número de diapositiva 3"/>
          <p:cNvSpPr>
            <a:spLocks noGrp="1"/>
          </p:cNvSpPr>
          <p:nvPr>
            <p:ph type="sldNum" sz="quarter" idx="5"/>
          </p:nvPr>
        </p:nvSpPr>
        <p:spPr/>
        <p:txBody>
          <a:bodyPr/>
          <a:lstStyle/>
          <a:p>
            <a:fld id="{6BEA5E08-FD95-744A-A387-924B765345BD}" type="slidenum">
              <a:rPr lang="es-ES" smtClean="0"/>
              <a:t>19</a:t>
            </a:fld>
            <a:endParaRPr lang="es-ES"/>
          </a:p>
        </p:txBody>
      </p:sp>
    </p:spTree>
    <p:extLst>
      <p:ext uri="{BB962C8B-B14F-4D97-AF65-F5344CB8AC3E}">
        <p14:creationId xmlns:p14="http://schemas.microsoft.com/office/powerpoint/2010/main" val="11322356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a:p>
            <a:r>
              <a:rPr lang="es-ES" dirty="0"/>
              <a:t>Este trabajo ha utilizado como herramienta la biblioteca PyPOTS, que</a:t>
            </a:r>
          </a:p>
          <a:p>
            <a:r>
              <a:rPr lang="es-ES" dirty="0"/>
              <a:t>desarrollaron los autores de SAITS en 2023.</a:t>
            </a:r>
          </a:p>
        </p:txBody>
      </p:sp>
      <p:sp>
        <p:nvSpPr>
          <p:cNvPr id="4" name="Marcador de número de diapositiva 3"/>
          <p:cNvSpPr>
            <a:spLocks noGrp="1"/>
          </p:cNvSpPr>
          <p:nvPr>
            <p:ph type="sldNum" sz="quarter" idx="5"/>
          </p:nvPr>
        </p:nvSpPr>
        <p:spPr/>
        <p:txBody>
          <a:bodyPr/>
          <a:lstStyle/>
          <a:p>
            <a:fld id="{6BEA5E08-FD95-744A-A387-924B765345BD}" type="slidenum">
              <a:rPr lang="es-ES" smtClean="0"/>
              <a:t>20</a:t>
            </a:fld>
            <a:endParaRPr lang="es-ES"/>
          </a:p>
        </p:txBody>
      </p:sp>
    </p:spTree>
    <p:extLst>
      <p:ext uri="{BB962C8B-B14F-4D97-AF65-F5344CB8AC3E}">
        <p14:creationId xmlns:p14="http://schemas.microsoft.com/office/powerpoint/2010/main" val="235247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Ahora bien, se ha elaborado una paquete de Python pampaneira_imputation para integrar las implementaciones de PyPOTS con los diversos métodos definidos en la taxonomía. </a:t>
            </a:r>
          </a:p>
          <a:p>
            <a:endParaRPr lang="es-ES" dirty="0"/>
          </a:p>
          <a:p>
            <a:r>
              <a:rPr lang="es-ES" dirty="0"/>
              <a:t>Este paquete consta de 4 módulos dedicados a: la carga, preprocesamiento,</a:t>
            </a:r>
          </a:p>
          <a:p>
            <a:r>
              <a:rPr lang="es-ES" dirty="0"/>
              <a:t>imputación y evaluación, junto con dos módulos para utilidades y configuraciones.</a:t>
            </a:r>
          </a:p>
          <a:p>
            <a:endParaRPr lang="es-ES" dirty="0"/>
          </a:p>
          <a:p>
            <a:r>
              <a:rPr lang="es-ES" dirty="0"/>
              <a:t>Este paquete figura en el repositorio indicado con licencia de código abierto, para hacerlo reproducible.</a:t>
            </a:r>
          </a:p>
          <a:p>
            <a:r>
              <a:rPr lang="es-ES" dirty="0"/>
              <a:t>Se han seguido las buenas prácticas de desarrollo de software mediante la metolodogía ágil y el desarrollo de test unitarios.</a:t>
            </a:r>
          </a:p>
          <a:p>
            <a:r>
              <a:rPr lang="es-ES" dirty="0"/>
              <a:t> </a:t>
            </a:r>
          </a:p>
        </p:txBody>
      </p:sp>
      <p:sp>
        <p:nvSpPr>
          <p:cNvPr id="4" name="Marcador de número de diapositiva 3"/>
          <p:cNvSpPr>
            <a:spLocks noGrp="1"/>
          </p:cNvSpPr>
          <p:nvPr>
            <p:ph type="sldNum" sz="quarter" idx="5"/>
          </p:nvPr>
        </p:nvSpPr>
        <p:spPr/>
        <p:txBody>
          <a:bodyPr/>
          <a:lstStyle/>
          <a:p>
            <a:fld id="{6BEA5E08-FD95-744A-A387-924B765345BD}" type="slidenum">
              <a:rPr lang="es-ES" smtClean="0"/>
              <a:t>21</a:t>
            </a:fld>
            <a:endParaRPr lang="es-ES"/>
          </a:p>
        </p:txBody>
      </p:sp>
    </p:spTree>
    <p:extLst>
      <p:ext uri="{BB962C8B-B14F-4D97-AF65-F5344CB8AC3E}">
        <p14:creationId xmlns:p14="http://schemas.microsoft.com/office/powerpoint/2010/main" val="24235885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Utilizando los módulos del paquete desarrollado, se elaboró un Pipeline o Flujo de</a:t>
            </a:r>
          </a:p>
          <a:p>
            <a:r>
              <a:rPr lang="es-ES" dirty="0"/>
              <a:t>Trabajo, usando la Plataforma Jupiter que va ejecutando de manera secuencial las funciones </a:t>
            </a:r>
          </a:p>
          <a:p>
            <a:r>
              <a:rPr lang="es-ES" dirty="0"/>
              <a:t>de los módulos citados.</a:t>
            </a:r>
          </a:p>
          <a:p>
            <a:endParaRPr lang="es-ES" dirty="0"/>
          </a:p>
          <a:p>
            <a:r>
              <a:rPr lang="es-ES" dirty="0"/>
              <a:t>Destacamos la utilización de bibliotecas usuales del ecosistema de Python como Pandas, Numpy o Matplotlib.</a:t>
            </a:r>
          </a:p>
          <a:p>
            <a:r>
              <a:rPr lang="es-ES" dirty="0"/>
              <a:t>La imagen de la derecha carga la Serie Temporal en un Dataframe de Pandas.</a:t>
            </a:r>
          </a:p>
          <a:p>
            <a:endParaRPr lang="es-ES" dirty="0"/>
          </a:p>
          <a:p>
            <a:endParaRPr lang="es-ES" dirty="0"/>
          </a:p>
        </p:txBody>
      </p:sp>
      <p:sp>
        <p:nvSpPr>
          <p:cNvPr id="4" name="Marcador de número de diapositiva 3"/>
          <p:cNvSpPr>
            <a:spLocks noGrp="1"/>
          </p:cNvSpPr>
          <p:nvPr>
            <p:ph type="sldNum" sz="quarter" idx="5"/>
          </p:nvPr>
        </p:nvSpPr>
        <p:spPr/>
        <p:txBody>
          <a:bodyPr/>
          <a:lstStyle/>
          <a:p>
            <a:fld id="{6BEA5E08-FD95-744A-A387-924B765345BD}" type="slidenum">
              <a:rPr lang="es-ES" smtClean="0"/>
              <a:t>22</a:t>
            </a:fld>
            <a:endParaRPr lang="es-ES"/>
          </a:p>
        </p:txBody>
      </p:sp>
    </p:spTree>
    <p:extLst>
      <p:ext uri="{BB962C8B-B14F-4D97-AF65-F5344CB8AC3E}">
        <p14:creationId xmlns:p14="http://schemas.microsoft.com/office/powerpoint/2010/main" val="9290811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Dentro del preprocesamiento, se ha realizado un escalado previo usando Z-score a partir de entrenamiento, que se aplica a validación y testing.</a:t>
            </a:r>
          </a:p>
          <a:p>
            <a:endParaRPr lang="es-ES" dirty="0"/>
          </a:p>
          <a:p>
            <a:r>
              <a:rPr lang="es-ES" dirty="0"/>
              <a:t>Por otro lado, la representación de la serie temporal se cambia para adaptarla al modelo de Deep Learning. En concreto, mediante un proceso de ventaneo deslizante con solapamiento: que las convierte en arrays tridimensionales</a:t>
            </a:r>
          </a:p>
          <a:p>
            <a:endParaRPr lang="es-ES" dirty="0"/>
          </a:p>
          <a:p>
            <a:r>
              <a:rPr lang="es-ES" dirty="0"/>
              <a:t> (número de ventanas x tamaño de ventana x número de características). </a:t>
            </a:r>
          </a:p>
        </p:txBody>
      </p:sp>
      <p:sp>
        <p:nvSpPr>
          <p:cNvPr id="4" name="Marcador de número de diapositiva 3"/>
          <p:cNvSpPr>
            <a:spLocks noGrp="1"/>
          </p:cNvSpPr>
          <p:nvPr>
            <p:ph type="sldNum" sz="quarter" idx="5"/>
          </p:nvPr>
        </p:nvSpPr>
        <p:spPr/>
        <p:txBody>
          <a:bodyPr/>
          <a:lstStyle/>
          <a:p>
            <a:fld id="{6BEA5E08-FD95-744A-A387-924B765345BD}" type="slidenum">
              <a:rPr lang="es-ES" smtClean="0"/>
              <a:t>23</a:t>
            </a:fld>
            <a:endParaRPr lang="es-ES"/>
          </a:p>
        </p:txBody>
      </p:sp>
    </p:spTree>
    <p:extLst>
      <p:ext uri="{BB962C8B-B14F-4D97-AF65-F5344CB8AC3E}">
        <p14:creationId xmlns:p14="http://schemas.microsoft.com/office/powerpoint/2010/main" val="24574736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Recordemos, en la gráfica superior, el ejemplo de la variable PM10 parcialmente observada.</a:t>
            </a:r>
          </a:p>
          <a:p>
            <a:endParaRPr lang="es-ES" dirty="0"/>
          </a:p>
          <a:p>
            <a:r>
              <a:rPr lang="es-ES" dirty="0"/>
              <a:t>Tras el flujo de Trabajo, podemos observar las gráficas con los valores imputados (línea verde de puntos) por saits: </a:t>
            </a:r>
          </a:p>
          <a:p>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Abajo a la izquierda con el patrón ‘subseq’: que elimina ráfagas de puntos.</a:t>
            </a:r>
          </a:p>
          <a:p>
            <a:r>
              <a:rPr lang="es-ES" dirty="0"/>
              <a:t>Y a la derecha con el patrón puntual 'point’: que elimina puntos de forma aleatoria.</a:t>
            </a:r>
          </a:p>
          <a:p>
            <a:r>
              <a:rPr lang="es-ES" dirty="0"/>
              <a:t>La comparación con el ground truth (puntos rojos) proporciona la tabla de errores.</a:t>
            </a:r>
          </a:p>
        </p:txBody>
      </p:sp>
      <p:sp>
        <p:nvSpPr>
          <p:cNvPr id="4" name="Marcador de número de diapositiva 3"/>
          <p:cNvSpPr>
            <a:spLocks noGrp="1"/>
          </p:cNvSpPr>
          <p:nvPr>
            <p:ph type="sldNum" sz="quarter" idx="5"/>
          </p:nvPr>
        </p:nvSpPr>
        <p:spPr/>
        <p:txBody>
          <a:bodyPr/>
          <a:lstStyle/>
          <a:p>
            <a:fld id="{6BEA5E08-FD95-744A-A387-924B765345BD}" type="slidenum">
              <a:rPr lang="es-ES" smtClean="0"/>
              <a:t>24</a:t>
            </a:fld>
            <a:endParaRPr lang="es-ES"/>
          </a:p>
        </p:txBody>
      </p:sp>
    </p:spTree>
    <p:extLst>
      <p:ext uri="{BB962C8B-B14F-4D97-AF65-F5344CB8AC3E}">
        <p14:creationId xmlns:p14="http://schemas.microsoft.com/office/powerpoint/2010/main" val="2510929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Esta es una de las 14 tablas de errores de evaluación que hay en la memoria. En concreto, la</a:t>
            </a:r>
          </a:p>
          <a:p>
            <a:r>
              <a:rPr lang="es-ES" dirty="0"/>
              <a:t>del período 1 con 10% de ausencia y patrón puntual.</a:t>
            </a:r>
          </a:p>
          <a:p>
            <a:endParaRPr lang="es-ES" dirty="0"/>
          </a:p>
          <a:p>
            <a:r>
              <a:rPr lang="es-ES" dirty="0"/>
              <a:t>Para visualizar mejor los resultados, se construyó este gráfico 3D.</a:t>
            </a:r>
          </a:p>
          <a:p>
            <a:r>
              <a:rPr lang="es-ES" dirty="0"/>
              <a:t>Observándose que:</a:t>
            </a:r>
          </a:p>
          <a:p>
            <a:r>
              <a:rPr lang="es-ES" dirty="0"/>
              <a:t>La interpolación lineal es el mejor de los métodos simples.</a:t>
            </a:r>
          </a:p>
          <a:p>
            <a:r>
              <a:rPr lang="es-ES" dirty="0"/>
              <a:t>Y que os modelos DL: Transformer &amp; saits son superiores al resto de modelos. </a:t>
            </a:r>
          </a:p>
          <a:p>
            <a:r>
              <a:rPr lang="es-ES" dirty="0"/>
              <a:t>De hecho, saits mejora ligeramente a Transformer. </a:t>
            </a:r>
          </a:p>
        </p:txBody>
      </p:sp>
      <p:sp>
        <p:nvSpPr>
          <p:cNvPr id="4" name="Marcador de número de diapositiva 3"/>
          <p:cNvSpPr>
            <a:spLocks noGrp="1"/>
          </p:cNvSpPr>
          <p:nvPr>
            <p:ph type="sldNum" sz="quarter" idx="5"/>
          </p:nvPr>
        </p:nvSpPr>
        <p:spPr/>
        <p:txBody>
          <a:bodyPr/>
          <a:lstStyle/>
          <a:p>
            <a:fld id="{6BEA5E08-FD95-744A-A387-924B765345BD}" type="slidenum">
              <a:rPr lang="es-ES" smtClean="0"/>
              <a:t>25</a:t>
            </a:fld>
            <a:endParaRPr lang="es-ES"/>
          </a:p>
        </p:txBody>
      </p:sp>
    </p:spTree>
    <p:extLst>
      <p:ext uri="{BB962C8B-B14F-4D97-AF65-F5344CB8AC3E}">
        <p14:creationId xmlns:p14="http://schemas.microsoft.com/office/powerpoint/2010/main" val="29278939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Se replicó el Pipeline con variaciones en los porcentajes y patrones de ausencia. </a:t>
            </a:r>
          </a:p>
          <a:p>
            <a:r>
              <a:rPr lang="es-ES" dirty="0"/>
              <a:t>Y se observó que, en la mayoría de los casos, conforme aumenta el porcentaje aumenta el error.</a:t>
            </a:r>
          </a:p>
          <a:p>
            <a:r>
              <a:rPr lang="es-ES" dirty="0"/>
              <a:t>Por otro lado, la ausencia con patrón ráfaga incrementa ligeramente el error con respecto al mismo tanto porciento puntual</a:t>
            </a:r>
          </a:p>
        </p:txBody>
      </p:sp>
      <p:sp>
        <p:nvSpPr>
          <p:cNvPr id="4" name="Marcador de número de diapositiva 3"/>
          <p:cNvSpPr>
            <a:spLocks noGrp="1"/>
          </p:cNvSpPr>
          <p:nvPr>
            <p:ph type="sldNum" sz="quarter" idx="5"/>
          </p:nvPr>
        </p:nvSpPr>
        <p:spPr/>
        <p:txBody>
          <a:bodyPr/>
          <a:lstStyle/>
          <a:p>
            <a:fld id="{6BEA5E08-FD95-744A-A387-924B765345BD}" type="slidenum">
              <a:rPr lang="es-ES" smtClean="0"/>
              <a:t>26</a:t>
            </a:fld>
            <a:endParaRPr lang="es-ES"/>
          </a:p>
        </p:txBody>
      </p:sp>
    </p:spTree>
    <p:extLst>
      <p:ext uri="{BB962C8B-B14F-4D97-AF65-F5344CB8AC3E}">
        <p14:creationId xmlns:p14="http://schemas.microsoft.com/office/powerpoint/2010/main" val="20324466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21975-0A26-C51A-33AC-5312DA29B64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7D67E4C-904A-5971-CE67-09FB2803D32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0F55112-6263-8A6F-B38D-30A15032B163}"/>
              </a:ext>
            </a:extLst>
          </p:cNvPr>
          <p:cNvSpPr>
            <a:spLocks noGrp="1"/>
          </p:cNvSpPr>
          <p:nvPr>
            <p:ph type="body" idx="1"/>
          </p:nvPr>
        </p:nvSpPr>
        <p:spPr/>
        <p:txBody>
          <a:bodyPr/>
          <a:lstStyle/>
          <a:p>
            <a:endParaRPr lang="es-ES" sz="1200" dirty="0">
              <a:solidFill>
                <a:srgbClr val="333333"/>
              </a:solidFill>
              <a:latin typeface="Microsoft Sans Serif"/>
              <a:cs typeface="Microsoft Sans Serif"/>
            </a:endParaRPr>
          </a:p>
          <a:p>
            <a:pPr marL="457200" indent="-457200">
              <a:buFont typeface="+mj-lt"/>
              <a:buAutoNum type="arabicPeriod"/>
            </a:pPr>
            <a:r>
              <a:rPr lang="es-ES" sz="1200" dirty="0">
                <a:solidFill>
                  <a:srgbClr val="333333"/>
                </a:solidFill>
                <a:latin typeface="Microsoft Sans Serif"/>
                <a:cs typeface="Microsoft Sans Serif"/>
              </a:rPr>
              <a:t>La eliminación artificial nos ha permitido comparar </a:t>
            </a:r>
            <a:r>
              <a:rPr lang="es-ES" sz="1200" b="1" dirty="0">
                <a:solidFill>
                  <a:srgbClr val="333333"/>
                </a:solidFill>
                <a:latin typeface="Microsoft Sans Serif"/>
                <a:cs typeface="Microsoft Sans Serif"/>
              </a:rPr>
              <a:t>los valores imputados con los originales (ground truth) </a:t>
            </a:r>
            <a:r>
              <a:rPr lang="es-ES" sz="1200" dirty="0">
                <a:solidFill>
                  <a:srgbClr val="333333"/>
                </a:solidFill>
                <a:latin typeface="Microsoft Sans Serif"/>
                <a:cs typeface="Microsoft Sans Serif"/>
              </a:rPr>
              <a:t>mediante métricas de evaluación (RMSE, MRE, etc.).</a:t>
            </a:r>
          </a:p>
          <a:p>
            <a:pPr marL="457200" indent="-457200">
              <a:buFont typeface="+mj-lt"/>
              <a:buAutoNum type="arabicPeriod"/>
            </a:pPr>
            <a:r>
              <a:rPr lang="es-ES" sz="1200" b="1" dirty="0">
                <a:solidFill>
                  <a:srgbClr val="333333"/>
                </a:solidFill>
                <a:latin typeface="Microsoft Sans Serif"/>
                <a:cs typeface="Microsoft Sans Serif"/>
              </a:rPr>
              <a:t>Transformer y SAITS son claramente superiores</a:t>
            </a:r>
            <a:r>
              <a:rPr lang="es-ES" sz="1200" dirty="0">
                <a:solidFill>
                  <a:srgbClr val="333333"/>
                </a:solidFill>
                <a:latin typeface="Microsoft Sans Serif"/>
                <a:cs typeface="Microsoft Sans Serif"/>
              </a:rPr>
              <a:t>,  según estas métricas, a los demás modelos. Se han estudiado sus arquitecturas en profundidad.</a:t>
            </a:r>
          </a:p>
          <a:p>
            <a:pPr marL="457200" indent="-457200">
              <a:buFont typeface="+mj-lt"/>
              <a:buAutoNum type="arabicPeriod"/>
            </a:pPr>
            <a:r>
              <a:rPr lang="es-ES" sz="1200" b="1" spc="95" dirty="0">
                <a:solidFill>
                  <a:srgbClr val="333333"/>
                </a:solidFill>
                <a:latin typeface="Microsoft Sans Serif"/>
                <a:cs typeface="Microsoft Sans Serif"/>
              </a:rPr>
              <a:t>SAITS mejora ligeramente </a:t>
            </a:r>
            <a:r>
              <a:rPr lang="es-ES" sz="1200" spc="95" dirty="0">
                <a:solidFill>
                  <a:srgbClr val="333333"/>
                </a:solidFill>
                <a:latin typeface="Microsoft Sans Serif"/>
                <a:cs typeface="Microsoft Sans Serif"/>
              </a:rPr>
              <a:t>a Transformer.</a:t>
            </a:r>
          </a:p>
          <a:p>
            <a:pPr marL="457200" indent="-457200">
              <a:buFont typeface="+mj-lt"/>
              <a:buAutoNum type="arabicPeriod"/>
            </a:pPr>
            <a:r>
              <a:rPr lang="es-ES" sz="1200" spc="-50" dirty="0">
                <a:solidFill>
                  <a:srgbClr val="333333"/>
                </a:solidFill>
                <a:latin typeface="Microsoft Sans Serif"/>
                <a:cs typeface="Microsoft Sans Serif"/>
              </a:rPr>
              <a:t>Aunque la ausencia por ráfagas da mayor error que la puntual, modela los fallos de los sensores de forma más realista.</a:t>
            </a:r>
          </a:p>
        </p:txBody>
      </p:sp>
      <p:sp>
        <p:nvSpPr>
          <p:cNvPr id="4" name="Marcador de número de diapositiva 3">
            <a:extLst>
              <a:ext uri="{FF2B5EF4-FFF2-40B4-BE49-F238E27FC236}">
                <a16:creationId xmlns:a16="http://schemas.microsoft.com/office/drawing/2014/main" id="{9E94C0D1-396F-B607-C148-BC1D4EB36E19}"/>
              </a:ext>
            </a:extLst>
          </p:cNvPr>
          <p:cNvSpPr>
            <a:spLocks noGrp="1"/>
          </p:cNvSpPr>
          <p:nvPr>
            <p:ph type="sldNum" sz="quarter" idx="5"/>
          </p:nvPr>
        </p:nvSpPr>
        <p:spPr/>
        <p:txBody>
          <a:bodyPr/>
          <a:lstStyle/>
          <a:p>
            <a:fld id="{6BEA5E08-FD95-744A-A387-924B765345BD}" type="slidenum">
              <a:rPr lang="es-ES" smtClean="0"/>
              <a:t>27</a:t>
            </a:fld>
            <a:endParaRPr lang="es-ES"/>
          </a:p>
        </p:txBody>
      </p:sp>
    </p:spTree>
    <p:extLst>
      <p:ext uri="{BB962C8B-B14F-4D97-AF65-F5344CB8AC3E}">
        <p14:creationId xmlns:p14="http://schemas.microsoft.com/office/powerpoint/2010/main" val="17636781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Tras una planificación inicial, se elaboró el cronograma de tiempo real invertido en el trabajo dividido en tareas.</a:t>
            </a:r>
          </a:p>
          <a:p>
            <a:r>
              <a:rPr lang="es-ES" dirty="0"/>
              <a:t>Por otro lado, se añadió el presupuesto.</a:t>
            </a:r>
          </a:p>
          <a:p>
            <a:endParaRPr lang="es-ES" dirty="0"/>
          </a:p>
          <a:p>
            <a:r>
              <a:rPr lang="es-ES" dirty="0"/>
              <a:t>Ambos se encuentran desarrollados en el Capítulo 6 de la memoria.</a:t>
            </a:r>
          </a:p>
          <a:p>
            <a:endParaRPr lang="es-ES" dirty="0"/>
          </a:p>
        </p:txBody>
      </p:sp>
      <p:sp>
        <p:nvSpPr>
          <p:cNvPr id="4" name="Marcador de número de diapositiva 3"/>
          <p:cNvSpPr>
            <a:spLocks noGrp="1"/>
          </p:cNvSpPr>
          <p:nvPr>
            <p:ph type="sldNum" sz="quarter" idx="5"/>
          </p:nvPr>
        </p:nvSpPr>
        <p:spPr/>
        <p:txBody>
          <a:bodyPr/>
          <a:lstStyle/>
          <a:p>
            <a:fld id="{6BEA5E08-FD95-744A-A387-924B765345BD}" type="slidenum">
              <a:rPr lang="es-ES" smtClean="0"/>
              <a:t>28</a:t>
            </a:fld>
            <a:endParaRPr lang="es-ES"/>
          </a:p>
        </p:txBody>
      </p:sp>
    </p:spTree>
    <p:extLst>
      <p:ext uri="{BB962C8B-B14F-4D97-AF65-F5344CB8AC3E}">
        <p14:creationId xmlns:p14="http://schemas.microsoft.com/office/powerpoint/2010/main" val="21335872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6DA5-6044-514C-D083-B875DC995F0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DCFECED-D381-2B43-165B-B0F6B0EEF5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F22B71-2FA2-2D06-715E-07BAB081184B}"/>
              </a:ext>
            </a:extLst>
          </p:cNvPr>
          <p:cNvSpPr>
            <a:spLocks noGrp="1"/>
          </p:cNvSpPr>
          <p:nvPr>
            <p:ph type="body" idx="1"/>
          </p:nvPr>
        </p:nvSpPr>
        <p:spPr/>
        <p:txBody>
          <a:bodyPr/>
          <a:lstStyle/>
          <a:p>
            <a:r>
              <a:rPr lang="es-ES" dirty="0"/>
              <a:t>El trabajo ha cumplido su objetivo principal: estudiar el uso de modelos Transformer para imputar valores faltantes en series temporales, demostrando su eficacia frente a métodos tradicionales.</a:t>
            </a:r>
          </a:p>
          <a:p>
            <a:endParaRPr lang="es-ES" dirty="0"/>
          </a:p>
          <a:p>
            <a:r>
              <a:rPr lang="es-ES" dirty="0"/>
              <a:t>- Se han alcanzado los objetivos específicos:</a:t>
            </a:r>
          </a:p>
          <a:p>
            <a:r>
              <a:rPr lang="es-ES" dirty="0"/>
              <a:t>- Revisión del estado del arte.</a:t>
            </a:r>
          </a:p>
          <a:p>
            <a:r>
              <a:rPr lang="es-ES" dirty="0"/>
              <a:t>- Fundamentos matemáticos sólidos.</a:t>
            </a:r>
          </a:p>
          <a:p>
            <a:r>
              <a:rPr lang="es-ES" dirty="0"/>
              <a:t>- Desarrollo de un pipeline y paquete en Python.</a:t>
            </a:r>
          </a:p>
          <a:p>
            <a:r>
              <a:rPr lang="es-ES" dirty="0"/>
              <a:t>- Evaluación rigurosa del rendimiento.</a:t>
            </a:r>
          </a:p>
          <a:p>
            <a:endParaRPr lang="es-ES" dirty="0"/>
          </a:p>
          <a:p>
            <a:r>
              <a:rPr lang="es-ES" dirty="0"/>
              <a:t>Además, se ha hecho uso de conocimientos adquiridos en los grados, . El proyecto se ha alineado con principios éticos (datos abiertos y software libre) y con los Objetivos de Desarrollo Sostenible.</a:t>
            </a:r>
          </a:p>
        </p:txBody>
      </p:sp>
      <p:sp>
        <p:nvSpPr>
          <p:cNvPr id="4" name="Marcador de número de diapositiva 3">
            <a:extLst>
              <a:ext uri="{FF2B5EF4-FFF2-40B4-BE49-F238E27FC236}">
                <a16:creationId xmlns:a16="http://schemas.microsoft.com/office/drawing/2014/main" id="{C5417C49-6A4A-B28D-A3C3-D209CC369B01}"/>
              </a:ext>
            </a:extLst>
          </p:cNvPr>
          <p:cNvSpPr>
            <a:spLocks noGrp="1"/>
          </p:cNvSpPr>
          <p:nvPr>
            <p:ph type="sldNum" sz="quarter" idx="5"/>
          </p:nvPr>
        </p:nvSpPr>
        <p:spPr/>
        <p:txBody>
          <a:bodyPr/>
          <a:lstStyle/>
          <a:p>
            <a:fld id="{6BEA5E08-FD95-744A-A387-924B765345BD}" type="slidenum">
              <a:rPr lang="es-ES" smtClean="0"/>
              <a:t>29</a:t>
            </a:fld>
            <a:endParaRPr lang="es-ES"/>
          </a:p>
        </p:txBody>
      </p:sp>
    </p:spTree>
    <p:extLst>
      <p:ext uri="{BB962C8B-B14F-4D97-AF65-F5344CB8AC3E}">
        <p14:creationId xmlns:p14="http://schemas.microsoft.com/office/powerpoint/2010/main" val="31132983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BEA5E08-FD95-744A-A387-924B765345BD}" type="slidenum">
              <a:rPr lang="es-ES" smtClean="0"/>
              <a:t>30</a:t>
            </a:fld>
            <a:endParaRPr lang="es-ES"/>
          </a:p>
        </p:txBody>
      </p:sp>
    </p:spTree>
    <p:extLst>
      <p:ext uri="{BB962C8B-B14F-4D97-AF65-F5344CB8AC3E}">
        <p14:creationId xmlns:p14="http://schemas.microsoft.com/office/powerpoint/2010/main" val="14709185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Continuamos, con la evolución del ML al DL, que progresó desde el Perceptrón básico hacia el</a:t>
            </a:r>
          </a:p>
          <a:p>
            <a:r>
              <a:rPr lang="es-ES" dirty="0"/>
              <a:t>Perceptrón Multicapa (MLP) Y Redes Feed-Forward (FFN) para capturar relaciones</a:t>
            </a:r>
          </a:p>
          <a:p>
            <a:r>
              <a:rPr lang="es-ES" dirty="0"/>
              <a:t>no lineales. Las limitaciones con datos secuenciales llevaron a la adopción de</a:t>
            </a:r>
          </a:p>
          <a:p>
            <a:r>
              <a:rPr lang="es-ES" dirty="0"/>
              <a:t>Redes Recurrentes (RNN, LSTM), que aunque efectivas, presentaron problemas de</a:t>
            </a:r>
          </a:p>
          <a:p>
            <a:r>
              <a:rPr lang="es-ES" dirty="0"/>
              <a:t>memoria y paralelización. Esta evolución culmina en las arquitecturas</a:t>
            </a:r>
          </a:p>
          <a:p>
            <a:r>
              <a:rPr lang="es-ES" dirty="0"/>
              <a:t>Transformer.</a:t>
            </a:r>
          </a:p>
          <a:p>
            <a:endParaRPr lang="es-ES" dirty="0"/>
          </a:p>
        </p:txBody>
      </p:sp>
      <p:sp>
        <p:nvSpPr>
          <p:cNvPr id="4" name="Marcador de número de diapositiva 3"/>
          <p:cNvSpPr>
            <a:spLocks noGrp="1"/>
          </p:cNvSpPr>
          <p:nvPr>
            <p:ph type="sldNum" sz="quarter" idx="5"/>
          </p:nvPr>
        </p:nvSpPr>
        <p:spPr/>
        <p:txBody>
          <a:bodyPr/>
          <a:lstStyle/>
          <a:p>
            <a:fld id="{6BEA5E08-FD95-744A-A387-924B765345BD}" type="slidenum">
              <a:rPr lang="es-ES" smtClean="0"/>
              <a:t>33</a:t>
            </a:fld>
            <a:endParaRPr lang="es-ES"/>
          </a:p>
        </p:txBody>
      </p:sp>
    </p:spTree>
    <p:extLst>
      <p:ext uri="{BB962C8B-B14F-4D97-AF65-F5344CB8AC3E}">
        <p14:creationId xmlns:p14="http://schemas.microsoft.com/office/powerpoint/2010/main" val="15116801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Tras cada componente de Multihead-Attention, se encuentra un Add &amp; Norm, es</a:t>
            </a:r>
          </a:p>
          <a:p>
            <a:r>
              <a:rPr lang="es-ES" dirty="0"/>
              <a:t>decir las Conexiones Residuales y la Normalización de Capas. </a:t>
            </a:r>
          </a:p>
          <a:p>
            <a:r>
              <a:rPr lang="es-ES" dirty="0"/>
              <a:t>Las primeras facilitan el flujo de gradientes mientras que la segunda estabiliza el entrenamiento.</a:t>
            </a:r>
          </a:p>
          <a:p>
            <a:r>
              <a:rPr lang="es-ES" dirty="0"/>
              <a:t>Por otro lado, la Red Neuronal Feed-Forward aplica transformaciones no lineales</a:t>
            </a:r>
          </a:p>
          <a:p>
            <a:r>
              <a:rPr lang="es-ES" dirty="0"/>
              <a:t>mediante la función de activación ReLU entre dos capas lineales. Tras una capa lineal final y Softmax se obtiene una distribución de probabilidad categórica sobre los posibles valores que pueden tomar las posiciones faltantes en la serie</a:t>
            </a:r>
          </a:p>
          <a:p>
            <a:r>
              <a:rPr lang="es-ES" dirty="0"/>
              <a:t>temporal.</a:t>
            </a:r>
          </a:p>
          <a:p>
            <a:endParaRPr lang="es-ES" dirty="0"/>
          </a:p>
        </p:txBody>
      </p:sp>
      <p:sp>
        <p:nvSpPr>
          <p:cNvPr id="4" name="Marcador de número de diapositiva 3"/>
          <p:cNvSpPr>
            <a:spLocks noGrp="1"/>
          </p:cNvSpPr>
          <p:nvPr>
            <p:ph type="sldNum" sz="quarter" idx="5"/>
          </p:nvPr>
        </p:nvSpPr>
        <p:spPr/>
        <p:txBody>
          <a:bodyPr/>
          <a:lstStyle/>
          <a:p>
            <a:fld id="{6BEA5E08-FD95-744A-A387-924B765345BD}" type="slidenum">
              <a:rPr lang="es-ES" smtClean="0"/>
              <a:t>34</a:t>
            </a:fld>
            <a:endParaRPr lang="es-ES"/>
          </a:p>
        </p:txBody>
      </p:sp>
    </p:spTree>
    <p:extLst>
      <p:ext uri="{BB962C8B-B14F-4D97-AF65-F5344CB8AC3E}">
        <p14:creationId xmlns:p14="http://schemas.microsoft.com/office/powerpoint/2010/main" val="1992334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412329" y="42162"/>
            <a:ext cx="6655434" cy="714375"/>
          </a:xfrm>
          <a:prstGeom prst="rect">
            <a:avLst/>
          </a:prstGeom>
        </p:spPr>
        <p:txBody>
          <a:bodyPr wrap="square" lIns="0" tIns="0" rIns="0" bIns="0">
            <a:spAutoFit/>
          </a:bodyPr>
          <a:lstStyle>
            <a:lvl1pPr>
              <a:defRPr sz="4500" b="0" i="0">
                <a:solidFill>
                  <a:srgbClr val="0056B3"/>
                </a:solidFill>
                <a:latin typeface="Arial MT"/>
                <a:cs typeface="Arial MT"/>
              </a:defRPr>
            </a:lvl1pPr>
          </a:lstStyle>
          <a:p>
            <a:endParaRPr/>
          </a:p>
        </p:txBody>
      </p:sp>
      <p:sp>
        <p:nvSpPr>
          <p:cNvPr id="3" name="Holder 3"/>
          <p:cNvSpPr>
            <a:spLocks noGrp="1"/>
          </p:cNvSpPr>
          <p:nvPr>
            <p:ph type="subTitle" idx="4"/>
          </p:nvPr>
        </p:nvSpPr>
        <p:spPr>
          <a:xfrm>
            <a:off x="1427797" y="3883152"/>
            <a:ext cx="6663055" cy="1733550"/>
          </a:xfrm>
          <a:prstGeom prst="rect">
            <a:avLst/>
          </a:prstGeom>
        </p:spPr>
        <p:txBody>
          <a:bodyPr wrap="square" lIns="0" tIns="0" rIns="0" bIns="0">
            <a:spAutoFit/>
          </a:bodyPr>
          <a:lstStyle>
            <a:lvl1pPr>
              <a:defRPr sz="2200" b="0" i="0">
                <a:solidFill>
                  <a:srgbClr val="333333"/>
                </a:solidFill>
                <a:latin typeface="Microsoft Sans Serif"/>
                <a:cs typeface="Microsoft Sans Serif"/>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D159D602-40D9-DD45-9114-6C4DFB2B3714}" type="datetime2">
              <a:rPr lang="es-ES" smtClean="0"/>
              <a:t>miércoles, 25 de junio de 2025</a:t>
            </a:fld>
            <a:endParaRPr lang="en-US"/>
          </a:p>
        </p:txBody>
      </p:sp>
      <p:sp>
        <p:nvSpPr>
          <p:cNvPr id="6" name="Holder 6"/>
          <p:cNvSpPr>
            <a:spLocks noGrp="1"/>
          </p:cNvSpPr>
          <p:nvPr>
            <p:ph type="sldNum" sz="quarter" idx="7"/>
          </p:nvPr>
        </p:nvSpPr>
        <p:spPr/>
        <p:txBody>
          <a:bodyPr lIns="0" tIns="0" rIns="0" bIns="0"/>
          <a:lstStyle>
            <a:lvl1pPr>
              <a:defRPr sz="1050" b="0" i="0">
                <a:solidFill>
                  <a:schemeClr val="bg1"/>
                </a:solidFill>
                <a:latin typeface="Arial MT"/>
                <a:cs typeface="Arial MT"/>
              </a:defRPr>
            </a:lvl1pPr>
          </a:lstStyle>
          <a:p>
            <a:pPr marL="111760">
              <a:lnSpc>
                <a:spcPts val="1120"/>
              </a:lnSpc>
            </a:pPr>
            <a:fld id="{81D60167-4931-47E6-BA6A-407CBD079E47}" type="slidenum">
              <a:rPr spc="-50" dirty="0"/>
              <a:t>‹Nº›</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0" i="0">
                <a:solidFill>
                  <a:srgbClr val="0056B3"/>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2200" b="0" i="0">
                <a:solidFill>
                  <a:srgbClr val="333333"/>
                </a:solidFill>
                <a:latin typeface="Microsoft Sans Serif"/>
                <a:cs typeface="Microsoft Sans Serif"/>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3561418-E1EE-C94C-8B74-71706C6B2C4E}" type="datetime2">
              <a:rPr lang="es-ES" smtClean="0"/>
              <a:t>miércoles, 25 de junio de 2025</a:t>
            </a:fld>
            <a:endParaRPr lang="en-US"/>
          </a:p>
        </p:txBody>
      </p:sp>
      <p:sp>
        <p:nvSpPr>
          <p:cNvPr id="6" name="Holder 6"/>
          <p:cNvSpPr>
            <a:spLocks noGrp="1"/>
          </p:cNvSpPr>
          <p:nvPr>
            <p:ph type="sldNum" sz="quarter" idx="7"/>
          </p:nvPr>
        </p:nvSpPr>
        <p:spPr/>
        <p:txBody>
          <a:bodyPr lIns="0" tIns="0" rIns="0" bIns="0"/>
          <a:lstStyle>
            <a:lvl1pPr>
              <a:defRPr sz="1050" b="0" i="0">
                <a:solidFill>
                  <a:schemeClr val="bg1"/>
                </a:solidFill>
                <a:latin typeface="Arial MT"/>
                <a:cs typeface="Arial MT"/>
              </a:defRPr>
            </a:lvl1pPr>
          </a:lstStyle>
          <a:p>
            <a:pPr marL="111760">
              <a:lnSpc>
                <a:spcPts val="1120"/>
              </a:lnSpc>
            </a:pPr>
            <a:fld id="{81D60167-4931-47E6-BA6A-407CBD079E47}" type="slidenum">
              <a:rPr spc="-50" dirty="0"/>
              <a:t>‹Nº›</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0" i="0">
                <a:solidFill>
                  <a:srgbClr val="0056B3"/>
                </a:solidFill>
                <a:latin typeface="Arial MT"/>
                <a:cs typeface="Arial MT"/>
              </a:defRPr>
            </a:lvl1pPr>
          </a:lstStyle>
          <a:p>
            <a:endParaRPr/>
          </a:p>
        </p:txBody>
      </p:sp>
      <p:sp>
        <p:nvSpPr>
          <p:cNvPr id="3" name="Holder 3"/>
          <p:cNvSpPr>
            <a:spLocks noGrp="1"/>
          </p:cNvSpPr>
          <p:nvPr>
            <p:ph sz="half" idx="2"/>
          </p:nvPr>
        </p:nvSpPr>
        <p:spPr>
          <a:xfrm>
            <a:off x="475932" y="1594866"/>
            <a:ext cx="4140612" cy="457657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902104" y="1594866"/>
            <a:ext cx="4140612" cy="457657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63476630-8947-344C-AFE7-EF40A5CBF2EF}" type="datetime2">
              <a:rPr lang="es-ES" smtClean="0"/>
              <a:t>miércoles, 25 de junio de 2025</a:t>
            </a:fld>
            <a:endParaRPr lang="en-US"/>
          </a:p>
        </p:txBody>
      </p:sp>
      <p:sp>
        <p:nvSpPr>
          <p:cNvPr id="7" name="Holder 7"/>
          <p:cNvSpPr>
            <a:spLocks noGrp="1"/>
          </p:cNvSpPr>
          <p:nvPr>
            <p:ph type="sldNum" sz="quarter" idx="7"/>
          </p:nvPr>
        </p:nvSpPr>
        <p:spPr/>
        <p:txBody>
          <a:bodyPr lIns="0" tIns="0" rIns="0" bIns="0"/>
          <a:lstStyle>
            <a:lvl1pPr>
              <a:defRPr sz="1050" b="0" i="0">
                <a:solidFill>
                  <a:schemeClr val="bg1"/>
                </a:solidFill>
                <a:latin typeface="Arial MT"/>
                <a:cs typeface="Arial MT"/>
              </a:defRPr>
            </a:lvl1pPr>
          </a:lstStyle>
          <a:p>
            <a:pPr marL="111760">
              <a:lnSpc>
                <a:spcPts val="1120"/>
              </a:lnSpc>
            </a:pPr>
            <a:fld id="{81D60167-4931-47E6-BA6A-407CBD079E47}" type="slidenum">
              <a:rPr spc="-50" dirty="0"/>
              <a:t>‹Nº›</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0" i="0">
                <a:solidFill>
                  <a:srgbClr val="0056B3"/>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EB6B18EA-6799-1446-BFE2-2ECA58512E1A}" type="datetime2">
              <a:rPr lang="es-ES" smtClean="0"/>
              <a:t>miércoles, 25 de junio de 2025</a:t>
            </a:fld>
            <a:endParaRPr lang="en-US"/>
          </a:p>
        </p:txBody>
      </p:sp>
      <p:sp>
        <p:nvSpPr>
          <p:cNvPr id="5" name="Holder 5"/>
          <p:cNvSpPr>
            <a:spLocks noGrp="1"/>
          </p:cNvSpPr>
          <p:nvPr>
            <p:ph type="sldNum" sz="quarter" idx="7"/>
          </p:nvPr>
        </p:nvSpPr>
        <p:spPr/>
        <p:txBody>
          <a:bodyPr lIns="0" tIns="0" rIns="0" bIns="0"/>
          <a:lstStyle>
            <a:lvl1pPr>
              <a:defRPr sz="1050" b="0" i="0">
                <a:solidFill>
                  <a:schemeClr val="bg1"/>
                </a:solidFill>
                <a:latin typeface="Arial MT"/>
                <a:cs typeface="Arial MT"/>
              </a:defRPr>
            </a:lvl1pPr>
          </a:lstStyle>
          <a:p>
            <a:pPr marL="111760">
              <a:lnSpc>
                <a:spcPts val="1120"/>
              </a:lnSpc>
            </a:pPr>
            <a:fld id="{81D60167-4931-47E6-BA6A-407CBD079E47}" type="slidenum">
              <a:rPr spc="-50" dirty="0"/>
              <a:t>‹Nº›</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AE0E2F42-AA28-D14C-BB71-58AEAFF3F717}" type="datetime2">
              <a:rPr lang="es-ES" smtClean="0"/>
              <a:t>miércoles, 25 de junio de 2025</a:t>
            </a:fld>
            <a:endParaRPr lang="en-US"/>
          </a:p>
        </p:txBody>
      </p:sp>
      <p:sp>
        <p:nvSpPr>
          <p:cNvPr id="4" name="Holder 4"/>
          <p:cNvSpPr>
            <a:spLocks noGrp="1"/>
          </p:cNvSpPr>
          <p:nvPr>
            <p:ph type="sldNum" sz="quarter" idx="7"/>
          </p:nvPr>
        </p:nvSpPr>
        <p:spPr/>
        <p:txBody>
          <a:bodyPr lIns="0" tIns="0" rIns="0" bIns="0"/>
          <a:lstStyle>
            <a:lvl1pPr>
              <a:defRPr sz="1050" b="0" i="0">
                <a:solidFill>
                  <a:schemeClr val="bg1"/>
                </a:solidFill>
                <a:latin typeface="Arial MT"/>
                <a:cs typeface="Arial MT"/>
              </a:defRPr>
            </a:lvl1pPr>
          </a:lstStyle>
          <a:p>
            <a:pPr marL="111760">
              <a:lnSpc>
                <a:spcPts val="1120"/>
              </a:lnSpc>
            </a:pPr>
            <a:fld id="{81D60167-4931-47E6-BA6A-407CBD079E47}" type="slidenum">
              <a:rPr spc="-50" dirty="0"/>
              <a:t>‹Nº›</a:t>
            </a:fld>
            <a:endParaRPr spc="-5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FA3E7A-F491-F74F-F583-94C5F39A54B9}"/>
              </a:ext>
            </a:extLst>
          </p:cNvPr>
          <p:cNvSpPr>
            <a:spLocks noGrp="1"/>
          </p:cNvSpPr>
          <p:nvPr>
            <p:ph type="ctrTitle"/>
          </p:nvPr>
        </p:nvSpPr>
        <p:spPr>
          <a:xfrm>
            <a:off x="1189038" y="2108312"/>
            <a:ext cx="7134225" cy="1440651"/>
          </a:xfrm>
        </p:spPr>
        <p:txBody>
          <a:bodyPr anchor="b"/>
          <a:lstStyle>
            <a:lvl1pPr algn="ctr">
              <a:defRPr sz="4681"/>
            </a:lvl1pPr>
          </a:lstStyle>
          <a:p>
            <a:r>
              <a:rPr lang="es-ES"/>
              <a:t>Haga clic para modificar el estilo de título del patrón</a:t>
            </a:r>
          </a:p>
        </p:txBody>
      </p:sp>
      <p:sp>
        <p:nvSpPr>
          <p:cNvPr id="3" name="Subtítulo 2">
            <a:extLst>
              <a:ext uri="{FF2B5EF4-FFF2-40B4-BE49-F238E27FC236}">
                <a16:creationId xmlns:a16="http://schemas.microsoft.com/office/drawing/2014/main" id="{B173306A-5A20-82F9-8C4A-308A8B5DA2D2}"/>
              </a:ext>
            </a:extLst>
          </p:cNvPr>
          <p:cNvSpPr>
            <a:spLocks noGrp="1"/>
          </p:cNvSpPr>
          <p:nvPr>
            <p:ph type="subTitle" idx="1"/>
          </p:nvPr>
        </p:nvSpPr>
        <p:spPr>
          <a:xfrm>
            <a:off x="1189038" y="3642061"/>
            <a:ext cx="7134225" cy="288092"/>
          </a:xfrm>
        </p:spPr>
        <p:txBody>
          <a:bodyPr/>
          <a:lstStyle>
            <a:lvl1pPr marL="0" indent="0" algn="ctr">
              <a:buNone/>
              <a:defRPr sz="1872"/>
            </a:lvl1pPr>
            <a:lvl2pPr marL="356707" indent="0" algn="ctr">
              <a:buNone/>
              <a:defRPr sz="1560"/>
            </a:lvl2pPr>
            <a:lvl3pPr marL="713415" indent="0" algn="ctr">
              <a:buNone/>
              <a:defRPr sz="1404"/>
            </a:lvl3pPr>
            <a:lvl4pPr marL="1070122" indent="0" algn="ctr">
              <a:buNone/>
              <a:defRPr sz="1248"/>
            </a:lvl4pPr>
            <a:lvl5pPr marL="1426830" indent="0" algn="ctr">
              <a:buNone/>
              <a:defRPr sz="1248"/>
            </a:lvl5pPr>
            <a:lvl6pPr marL="1783537" indent="0" algn="ctr">
              <a:buNone/>
              <a:defRPr sz="1248"/>
            </a:lvl6pPr>
            <a:lvl7pPr marL="2140245" indent="0" algn="ctr">
              <a:buNone/>
              <a:defRPr sz="1248"/>
            </a:lvl7pPr>
            <a:lvl8pPr marL="2496952" indent="0" algn="ctr">
              <a:buNone/>
              <a:defRPr sz="1248"/>
            </a:lvl8pPr>
            <a:lvl9pPr marL="2853660" indent="0" algn="ctr">
              <a:buNone/>
              <a:defRPr sz="1248"/>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00ADE403-A1BB-1F49-6F84-6D582AD99785}"/>
              </a:ext>
            </a:extLst>
          </p:cNvPr>
          <p:cNvSpPr>
            <a:spLocks noGrp="1"/>
          </p:cNvSpPr>
          <p:nvPr>
            <p:ph type="dt" sz="half" idx="10"/>
          </p:nvPr>
        </p:nvSpPr>
        <p:spPr>
          <a:xfrm>
            <a:off x="475932" y="6448806"/>
            <a:ext cx="2189289" cy="276999"/>
          </a:xfrm>
        </p:spPr>
        <p:txBody>
          <a:bodyPr/>
          <a:lstStyle/>
          <a:p>
            <a:fld id="{315D5F69-593E-0745-9F8C-E7CF12E59A23}" type="datetime2">
              <a:rPr lang="es-ES" smtClean="0"/>
              <a:t>miércoles, 25 de junio de 2025</a:t>
            </a:fld>
            <a:endParaRPr lang="es-ES"/>
          </a:p>
        </p:txBody>
      </p:sp>
      <p:sp>
        <p:nvSpPr>
          <p:cNvPr id="5" name="Marcador de pie de página 4">
            <a:extLst>
              <a:ext uri="{FF2B5EF4-FFF2-40B4-BE49-F238E27FC236}">
                <a16:creationId xmlns:a16="http://schemas.microsoft.com/office/drawing/2014/main" id="{1E86014F-EA8B-3752-8A10-DE28F90A209D}"/>
              </a:ext>
            </a:extLst>
          </p:cNvPr>
          <p:cNvSpPr>
            <a:spLocks noGrp="1"/>
          </p:cNvSpPr>
          <p:nvPr>
            <p:ph type="ftr" sz="quarter" idx="11"/>
          </p:nvPr>
        </p:nvSpPr>
        <p:spPr>
          <a:xfrm>
            <a:off x="3236341" y="6448806"/>
            <a:ext cx="3045968" cy="276999"/>
          </a:xfrm>
        </p:spPr>
        <p:txBody>
          <a:bodyPr/>
          <a:lstStyle/>
          <a:p>
            <a:endParaRPr lang="es-ES"/>
          </a:p>
        </p:txBody>
      </p:sp>
      <p:sp>
        <p:nvSpPr>
          <p:cNvPr id="6" name="Marcador de número de diapositiva 5">
            <a:extLst>
              <a:ext uri="{FF2B5EF4-FFF2-40B4-BE49-F238E27FC236}">
                <a16:creationId xmlns:a16="http://schemas.microsoft.com/office/drawing/2014/main" id="{5B893A58-1412-3C67-178D-EEF14B36279D}"/>
              </a:ext>
            </a:extLst>
          </p:cNvPr>
          <p:cNvSpPr>
            <a:spLocks noGrp="1"/>
          </p:cNvSpPr>
          <p:nvPr>
            <p:ph type="sldNum" sz="quarter" idx="12"/>
          </p:nvPr>
        </p:nvSpPr>
        <p:spPr>
          <a:xfrm>
            <a:off x="9195643" y="6656892"/>
            <a:ext cx="237490" cy="161583"/>
          </a:xfrm>
        </p:spPr>
        <p:txBody>
          <a:bodyPr/>
          <a:lstStyle/>
          <a:p>
            <a:fld id="{94626725-2603-8349-89C1-F401A3A4ABFA}" type="slidenum">
              <a:rPr lang="es-ES" smtClean="0"/>
              <a:t>‹Nº›</a:t>
            </a:fld>
            <a:endParaRPr lang="es-ES"/>
          </a:p>
        </p:txBody>
      </p:sp>
    </p:spTree>
    <p:extLst>
      <p:ext uri="{BB962C8B-B14F-4D97-AF65-F5344CB8AC3E}">
        <p14:creationId xmlns:p14="http://schemas.microsoft.com/office/powerpoint/2010/main" val="39115928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65459" y="2032887"/>
            <a:ext cx="8949055" cy="1343025"/>
          </a:xfrm>
          <a:prstGeom prst="rect">
            <a:avLst/>
          </a:prstGeom>
        </p:spPr>
        <p:txBody>
          <a:bodyPr wrap="square" lIns="0" tIns="0" rIns="0" bIns="0">
            <a:spAutoFit/>
          </a:bodyPr>
          <a:lstStyle>
            <a:lvl1pPr>
              <a:defRPr sz="4500" b="0" i="0">
                <a:solidFill>
                  <a:srgbClr val="0056B3"/>
                </a:solidFill>
                <a:latin typeface="Arial MT"/>
                <a:cs typeface="Arial MT"/>
              </a:defRPr>
            </a:lvl1pPr>
          </a:lstStyle>
          <a:p>
            <a:endParaRPr/>
          </a:p>
        </p:txBody>
      </p:sp>
      <p:sp>
        <p:nvSpPr>
          <p:cNvPr id="3" name="Holder 3"/>
          <p:cNvSpPr>
            <a:spLocks noGrp="1"/>
          </p:cNvSpPr>
          <p:nvPr>
            <p:ph type="body" idx="1"/>
          </p:nvPr>
        </p:nvSpPr>
        <p:spPr>
          <a:xfrm>
            <a:off x="956319" y="3253721"/>
            <a:ext cx="5962650" cy="1663700"/>
          </a:xfrm>
          <a:prstGeom prst="rect">
            <a:avLst/>
          </a:prstGeom>
        </p:spPr>
        <p:txBody>
          <a:bodyPr wrap="square" lIns="0" tIns="0" rIns="0" bIns="0">
            <a:spAutoFit/>
          </a:bodyPr>
          <a:lstStyle>
            <a:lvl1pPr>
              <a:defRPr sz="2200" b="0" i="0">
                <a:solidFill>
                  <a:srgbClr val="333333"/>
                </a:solidFill>
                <a:latin typeface="Microsoft Sans Serif"/>
                <a:cs typeface="Microsoft Sans Serif"/>
              </a:defRPr>
            </a:lvl1pPr>
          </a:lstStyle>
          <a:p>
            <a:endParaRPr/>
          </a:p>
        </p:txBody>
      </p:sp>
      <p:sp>
        <p:nvSpPr>
          <p:cNvPr id="4" name="Holder 4"/>
          <p:cNvSpPr>
            <a:spLocks noGrp="1"/>
          </p:cNvSpPr>
          <p:nvPr>
            <p:ph type="ftr" sz="quarter" idx="5"/>
          </p:nvPr>
        </p:nvSpPr>
        <p:spPr>
          <a:xfrm>
            <a:off x="3236341" y="6448806"/>
            <a:ext cx="3045968" cy="34671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75932" y="6448806"/>
            <a:ext cx="2189289" cy="346710"/>
          </a:xfrm>
          <a:prstGeom prst="rect">
            <a:avLst/>
          </a:prstGeom>
        </p:spPr>
        <p:txBody>
          <a:bodyPr wrap="square" lIns="0" tIns="0" rIns="0" bIns="0">
            <a:spAutoFit/>
          </a:bodyPr>
          <a:lstStyle>
            <a:lvl1pPr algn="l">
              <a:defRPr>
                <a:solidFill>
                  <a:schemeClr val="tx1">
                    <a:tint val="75000"/>
                  </a:schemeClr>
                </a:solidFill>
              </a:defRPr>
            </a:lvl1pPr>
          </a:lstStyle>
          <a:p>
            <a:fld id="{1E99622F-ED45-234E-A5E9-4F0C9393C934}" type="datetime2">
              <a:rPr lang="es-ES" smtClean="0"/>
              <a:t>miércoles, 25 de junio de 2025</a:t>
            </a:fld>
            <a:endParaRPr lang="en-US"/>
          </a:p>
        </p:txBody>
      </p:sp>
      <p:sp>
        <p:nvSpPr>
          <p:cNvPr id="6" name="Holder 6"/>
          <p:cNvSpPr>
            <a:spLocks noGrp="1"/>
          </p:cNvSpPr>
          <p:nvPr>
            <p:ph type="sldNum" sz="quarter" idx="7"/>
          </p:nvPr>
        </p:nvSpPr>
        <p:spPr>
          <a:xfrm>
            <a:off x="9195643" y="6656892"/>
            <a:ext cx="237490" cy="168275"/>
          </a:xfrm>
          <a:prstGeom prst="rect">
            <a:avLst/>
          </a:prstGeom>
        </p:spPr>
        <p:txBody>
          <a:bodyPr wrap="square" lIns="0" tIns="0" rIns="0" bIns="0">
            <a:spAutoFit/>
          </a:bodyPr>
          <a:lstStyle>
            <a:lvl1pPr>
              <a:defRPr sz="1050" b="0" i="0">
                <a:solidFill>
                  <a:schemeClr val="bg1"/>
                </a:solidFill>
                <a:latin typeface="Arial MT"/>
                <a:cs typeface="Arial MT"/>
              </a:defRPr>
            </a:lvl1pPr>
          </a:lstStyle>
          <a:p>
            <a:pPr marL="111760">
              <a:lnSpc>
                <a:spcPts val="1120"/>
              </a:lnSpc>
            </a:pPr>
            <a:fld id="{81D60167-4931-47E6-BA6A-407CBD079E47}" type="slidenum">
              <a:rPr spc="-50" dirty="0"/>
              <a:t>‹Nº›</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9.sv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5.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7.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34.png"/><Relationship Id="rId4" Type="http://schemas.openxmlformats.org/officeDocument/2006/relationships/image" Target="../media/image30.png"/><Relationship Id="rId9"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37.png"/><Relationship Id="rId7"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42.png"/><Relationship Id="rId4" Type="http://schemas.openxmlformats.org/officeDocument/2006/relationships/image" Target="../media/image38.png"/><Relationship Id="rId9" Type="http://schemas.openxmlformats.org/officeDocument/2006/relationships/image" Target="../media/image41.png"/></Relationships>
</file>

<file path=ppt/slides/_rels/slide14.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3.jpg"/><Relationship Id="rId7" Type="http://schemas.openxmlformats.org/officeDocument/2006/relationships/image" Target="../media/image9.sv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44.png"/><Relationship Id="rId9" Type="http://schemas.openxmlformats.org/officeDocument/2006/relationships/image" Target="../media/image46.png"/></Relationships>
</file>

<file path=ppt/slides/_rels/slide15.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47.png"/></Relationships>
</file>

<file path=ppt/slides/_rels/slide1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3.jpg"/><Relationship Id="rId7" Type="http://schemas.openxmlformats.org/officeDocument/2006/relationships/image" Target="../media/image9.sv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49.png"/><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0.png"/><Relationship Id="rId7" Type="http://schemas.openxmlformats.org/officeDocument/2006/relationships/image" Target="../media/image5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52.png"/><Relationship Id="rId4" Type="http://schemas.openxmlformats.org/officeDocument/2006/relationships/image" Target="../media/image51.png"/><Relationship Id="rId9" Type="http://schemas.openxmlformats.org/officeDocument/2006/relationships/image" Target="../media/image9.svg"/></Relationships>
</file>

<file path=ppt/slides/_rels/slide1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0.png"/><Relationship Id="rId7"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9" Type="http://schemas.openxmlformats.org/officeDocument/2006/relationships/image" Target="../media/image9.svg"/></Relationships>
</file>

<file path=ppt/slides/_rels/slide2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59.png"/></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11.sv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61.png"/><Relationship Id="rId4" Type="http://schemas.openxmlformats.org/officeDocument/2006/relationships/hyperlink" Target="https://github.com/eigenric/TFG"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2.png"/><Relationship Id="rId7"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66.png"/></Relationships>
</file>

<file path=ppt/slides/_rels/slide2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7.png"/><Relationship Id="rId7"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3.sv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72.png"/><Relationship Id="rId4" Type="http://schemas.openxmlformats.org/officeDocument/2006/relationships/image" Target="../media/image71.png"/></Relationships>
</file>

<file path=ppt/slides/_rels/slide2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74.png"/></Relationships>
</file>

<file path=ppt/slides/_rels/slide2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76.png"/></Relationships>
</file>

<file path=ppt/slides/_rels/slide2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78.png"/></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15.svg"/></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eigenric/TFG"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34.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43.jpg"/><Relationship Id="rId7" Type="http://schemas.openxmlformats.org/officeDocument/2006/relationships/image" Target="../media/image88.png"/><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F04D0F-799A-8CB5-E994-B8ECD4ED0FB8}"/>
              </a:ext>
            </a:extLst>
          </p:cNvPr>
          <p:cNvSpPr>
            <a:spLocks noGrp="1"/>
          </p:cNvSpPr>
          <p:nvPr>
            <p:ph type="ctrTitle"/>
          </p:nvPr>
        </p:nvSpPr>
        <p:spPr>
          <a:xfrm>
            <a:off x="442308" y="1104900"/>
            <a:ext cx="4847242" cy="2286000"/>
          </a:xfrm>
          <a:pattFill prst="pct10">
            <a:fgClr>
              <a:schemeClr val="accent1"/>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80000">
            <a:normAutofit fontScale="90000"/>
          </a:bodyPr>
          <a:lstStyle/>
          <a:p>
            <a:r>
              <a:rPr lang="es-ES" sz="2809" dirty="0">
                <a:solidFill>
                  <a:schemeClr val="tx1"/>
                </a:solidFill>
              </a:rPr>
              <a:t>Imputación de Datos Faltantes de Variables Meteorológicas </a:t>
            </a:r>
            <a:br>
              <a:rPr lang="es-ES" sz="2809" dirty="0">
                <a:solidFill>
                  <a:schemeClr val="tx1"/>
                </a:solidFill>
              </a:rPr>
            </a:br>
            <a:r>
              <a:rPr lang="es-ES" sz="2809" dirty="0">
                <a:solidFill>
                  <a:schemeClr val="tx1"/>
                </a:solidFill>
              </a:rPr>
              <a:t>y de Contaminación en Series Temporales Multivariantes IoT</a:t>
            </a:r>
            <a:br>
              <a:rPr lang="es-ES" sz="2809" dirty="0">
                <a:solidFill>
                  <a:schemeClr val="tx1"/>
                </a:solidFill>
              </a:rPr>
            </a:br>
            <a:r>
              <a:rPr lang="es-ES" sz="2809" dirty="0">
                <a:solidFill>
                  <a:schemeClr val="tx1"/>
                </a:solidFill>
              </a:rPr>
              <a:t>con Modelos Transformer</a:t>
            </a:r>
          </a:p>
        </p:txBody>
      </p:sp>
      <p:pic>
        <p:nvPicPr>
          <p:cNvPr id="10" name="Imagen 9" descr="Logotipo, nombre de la empresa&#10;&#10;El contenido generado por IA puede ser incorrecto.">
            <a:extLst>
              <a:ext uri="{FF2B5EF4-FFF2-40B4-BE49-F238E27FC236}">
                <a16:creationId xmlns:a16="http://schemas.microsoft.com/office/drawing/2014/main" id="{F23DD4F6-E1C8-6CFD-F5CA-0574DDC6E944}"/>
              </a:ext>
            </a:extLst>
          </p:cNvPr>
          <p:cNvPicPr>
            <a:picLocks noChangeAspect="1"/>
          </p:cNvPicPr>
          <p:nvPr/>
        </p:nvPicPr>
        <p:blipFill>
          <a:blip r:embed="rId3"/>
          <a:srcRect r="49987"/>
          <a:stretch>
            <a:fillRect/>
          </a:stretch>
        </p:blipFill>
        <p:spPr>
          <a:xfrm>
            <a:off x="6051550" y="1140822"/>
            <a:ext cx="2176985" cy="2170252"/>
          </a:xfrm>
          <a:prstGeom prst="rect">
            <a:avLst/>
          </a:prstGeom>
        </p:spPr>
      </p:pic>
      <p:pic>
        <p:nvPicPr>
          <p:cNvPr id="8" name="Imagen 7" descr="Logotipo&#10;&#10;El contenido generado por IA puede ser incorrecto.">
            <a:extLst>
              <a:ext uri="{FF2B5EF4-FFF2-40B4-BE49-F238E27FC236}">
                <a16:creationId xmlns:a16="http://schemas.microsoft.com/office/drawing/2014/main" id="{168944B4-0865-E259-2602-3D1526DF1F0D}"/>
              </a:ext>
            </a:extLst>
          </p:cNvPr>
          <p:cNvPicPr>
            <a:picLocks noChangeAspect="1"/>
          </p:cNvPicPr>
          <p:nvPr/>
        </p:nvPicPr>
        <p:blipFill>
          <a:blip r:embed="rId4"/>
          <a:stretch>
            <a:fillRect/>
          </a:stretch>
        </p:blipFill>
        <p:spPr>
          <a:xfrm>
            <a:off x="5274361" y="4178655"/>
            <a:ext cx="1434754" cy="1755051"/>
          </a:xfrm>
          <a:prstGeom prst="rect">
            <a:avLst/>
          </a:prstGeom>
        </p:spPr>
      </p:pic>
      <p:pic>
        <p:nvPicPr>
          <p:cNvPr id="14" name="Imagen 13" descr="Logotipo, nombre de la empresa&#10;&#10;El contenido generado por IA puede ser incorrecto.">
            <a:extLst>
              <a:ext uri="{FF2B5EF4-FFF2-40B4-BE49-F238E27FC236}">
                <a16:creationId xmlns:a16="http://schemas.microsoft.com/office/drawing/2014/main" id="{1158DF63-9356-FAB7-7A2B-1D091A35B785}"/>
              </a:ext>
            </a:extLst>
          </p:cNvPr>
          <p:cNvPicPr>
            <a:picLocks noChangeAspect="1"/>
          </p:cNvPicPr>
          <p:nvPr/>
        </p:nvPicPr>
        <p:blipFill>
          <a:blip r:embed="rId5"/>
          <a:srcRect l="53064"/>
          <a:stretch>
            <a:fillRect/>
          </a:stretch>
        </p:blipFill>
        <p:spPr>
          <a:xfrm>
            <a:off x="7203814" y="4125649"/>
            <a:ext cx="1655780" cy="1755051"/>
          </a:xfrm>
          <a:prstGeom prst="rect">
            <a:avLst/>
          </a:prstGeom>
        </p:spPr>
      </p:pic>
      <p:sp>
        <p:nvSpPr>
          <p:cNvPr id="35" name="CuadroTexto 34">
            <a:extLst>
              <a:ext uri="{FF2B5EF4-FFF2-40B4-BE49-F238E27FC236}">
                <a16:creationId xmlns:a16="http://schemas.microsoft.com/office/drawing/2014/main" id="{EBF6BA3D-2A57-1462-0568-3E36C62F348F}"/>
              </a:ext>
            </a:extLst>
          </p:cNvPr>
          <p:cNvSpPr txBox="1"/>
          <p:nvPr/>
        </p:nvSpPr>
        <p:spPr>
          <a:xfrm>
            <a:off x="476117" y="3771725"/>
            <a:ext cx="3974671" cy="2108975"/>
          </a:xfrm>
          <a:prstGeom prst="rect">
            <a:avLst/>
          </a:prstGeom>
          <a:noFill/>
        </p:spPr>
        <p:txBody>
          <a:bodyPr wrap="square" rtlCol="0">
            <a:spAutoFit/>
          </a:bodyPr>
          <a:lstStyle/>
          <a:p>
            <a:r>
              <a:rPr lang="es-ES" sz="1872" dirty="0"/>
              <a:t>Ricardo Ruiz Fernández de Alba</a:t>
            </a:r>
          </a:p>
          <a:p>
            <a:r>
              <a:rPr lang="es-ES" sz="1872" dirty="0"/>
              <a:t>(ricardoruiz@correo.ugr.es)</a:t>
            </a:r>
          </a:p>
          <a:p>
            <a:endParaRPr lang="es-ES" sz="1872" dirty="0"/>
          </a:p>
          <a:p>
            <a:r>
              <a:rPr lang="es-ES" sz="1872" dirty="0"/>
              <a:t>Tutores:</a:t>
            </a:r>
          </a:p>
          <a:p>
            <a:pPr marL="267531" indent="-267531">
              <a:buFont typeface="Arial" panose="020B0604020202020204" pitchFamily="34" charset="0"/>
              <a:buChar char="•"/>
            </a:pPr>
            <a:r>
              <a:rPr lang="es-ES" sz="1872" dirty="0"/>
              <a:t>María del Campo Bermúdez Edo</a:t>
            </a:r>
          </a:p>
          <a:p>
            <a:pPr marL="267531" indent="-267531">
              <a:buFont typeface="Arial" panose="020B0604020202020204" pitchFamily="34" charset="0"/>
              <a:buChar char="•"/>
            </a:pPr>
            <a:r>
              <a:rPr lang="es-ES" sz="1872" dirty="0"/>
              <a:t>Daniel Bolaños Martínez</a:t>
            </a:r>
          </a:p>
          <a:p>
            <a:endParaRPr lang="es-ES" sz="1872" dirty="0"/>
          </a:p>
        </p:txBody>
      </p:sp>
      <p:sp>
        <p:nvSpPr>
          <p:cNvPr id="3" name="Marcador de número de diapositiva 2">
            <a:extLst>
              <a:ext uri="{FF2B5EF4-FFF2-40B4-BE49-F238E27FC236}">
                <a16:creationId xmlns:a16="http://schemas.microsoft.com/office/drawing/2014/main" id="{D5ADA682-4990-AC62-7AB2-071614C55C6E}"/>
              </a:ext>
            </a:extLst>
          </p:cNvPr>
          <p:cNvSpPr>
            <a:spLocks noGrp="1"/>
          </p:cNvSpPr>
          <p:nvPr>
            <p:ph type="sldNum" sz="quarter" idx="12"/>
          </p:nvPr>
        </p:nvSpPr>
        <p:spPr/>
        <p:txBody>
          <a:bodyPr/>
          <a:lstStyle/>
          <a:p>
            <a:fld id="{94626725-2603-8349-89C1-F401A3A4ABFA}" type="slidenum">
              <a:rPr lang="es-ES" smtClean="0">
                <a:solidFill>
                  <a:schemeClr val="tx1"/>
                </a:solidFill>
              </a:rPr>
              <a:t>1</a:t>
            </a:fld>
            <a:endParaRPr lang="es-ES" dirty="0">
              <a:solidFill>
                <a:schemeClr val="tx1"/>
              </a:solidFill>
            </a:endParaRPr>
          </a:p>
        </p:txBody>
      </p:sp>
    </p:spTree>
    <p:extLst>
      <p:ext uri="{BB962C8B-B14F-4D97-AF65-F5344CB8AC3E}">
        <p14:creationId xmlns:p14="http://schemas.microsoft.com/office/powerpoint/2010/main" val="4173106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05"/>
            <a:ext cx="9512300" cy="6934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object 2"/>
          <p:cNvSpPr txBox="1">
            <a:spLocks noGrp="1"/>
          </p:cNvSpPr>
          <p:nvPr>
            <p:ph type="title"/>
          </p:nvPr>
        </p:nvSpPr>
        <p:spPr>
          <a:xfrm>
            <a:off x="432523" y="656069"/>
            <a:ext cx="3073777" cy="5645161"/>
          </a:xfrm>
          <a:prstGeom prst="rect">
            <a:avLst/>
          </a:prstGeom>
        </p:spPr>
        <p:txBody>
          <a:bodyPr vert="horz" lIns="0" tIns="14604" rIns="0" bIns="0" rtlCol="0">
            <a:normAutofit/>
          </a:bodyPr>
          <a:lstStyle/>
          <a:p>
            <a:pPr marL="12700" algn="r">
              <a:spcBef>
                <a:spcPts val="114"/>
              </a:spcBef>
            </a:pPr>
            <a:r>
              <a:rPr lang="es-ES" sz="7100" spc="225" dirty="0"/>
              <a:t>Índice</a:t>
            </a:r>
          </a:p>
        </p:txBody>
      </p:sp>
      <p:cxnSp>
        <p:nvCxnSpPr>
          <p:cNvPr id="19" name="Straight Connector 18">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88866" y="1144693"/>
            <a:ext cx="0" cy="5781101"/>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7" name="object 3">
            <a:extLst>
              <a:ext uri="{FF2B5EF4-FFF2-40B4-BE49-F238E27FC236}">
                <a16:creationId xmlns:a16="http://schemas.microsoft.com/office/drawing/2014/main" id="{E3725C41-7AA8-5D2D-9D37-14660786C843}"/>
              </a:ext>
            </a:extLst>
          </p:cNvPr>
          <p:cNvGraphicFramePr/>
          <p:nvPr>
            <p:extLst>
              <p:ext uri="{D42A27DB-BD31-4B8C-83A1-F6EECF244321}">
                <p14:modId xmlns:p14="http://schemas.microsoft.com/office/powerpoint/2010/main" val="3668974972"/>
              </p:ext>
            </p:extLst>
          </p:nvPr>
        </p:nvGraphicFramePr>
        <p:xfrm>
          <a:off x="3984433" y="876300"/>
          <a:ext cx="4872608" cy="56514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Marcador de número de diapositiva 4">
            <a:extLst>
              <a:ext uri="{FF2B5EF4-FFF2-40B4-BE49-F238E27FC236}">
                <a16:creationId xmlns:a16="http://schemas.microsoft.com/office/drawing/2014/main" id="{7D683819-38FB-6A77-F655-A51EEE6E204D}"/>
              </a:ext>
            </a:extLst>
          </p:cNvPr>
          <p:cNvSpPr>
            <a:spLocks noGrp="1"/>
          </p:cNvSpPr>
          <p:nvPr>
            <p:ph type="sldNum" sz="quarter" idx="7"/>
          </p:nvPr>
        </p:nvSpPr>
        <p:spPr>
          <a:xfrm>
            <a:off x="9195643" y="6656892"/>
            <a:ext cx="237490" cy="141064"/>
          </a:xfrm>
        </p:spPr>
        <p:txBody>
          <a:bodyPr/>
          <a:lstStyle/>
          <a:p>
            <a:pPr marL="111760">
              <a:lnSpc>
                <a:spcPts val="1120"/>
              </a:lnSpc>
            </a:pPr>
            <a:fld id="{81D60167-4931-47E6-BA6A-407CBD079E47}" type="slidenum">
              <a:rPr lang="es-ES" spc="-50" smtClean="0">
                <a:solidFill>
                  <a:schemeClr val="tx1"/>
                </a:solidFill>
              </a:rPr>
              <a:t>2</a:t>
            </a:fld>
            <a:endParaRPr lang="es-ES" spc="-5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64593" y="661411"/>
            <a:ext cx="7131050" cy="669992"/>
          </a:xfrm>
          <a:prstGeom prst="rect">
            <a:avLst/>
          </a:prstGeom>
        </p:spPr>
        <p:txBody>
          <a:bodyPr vert="horz" wrap="square" lIns="0" tIns="83185" rIns="0" bIns="0" rtlCol="0">
            <a:spAutoFit/>
          </a:bodyPr>
          <a:lstStyle/>
          <a:p>
            <a:pPr marL="2313305" marR="5080" indent="-2301240">
              <a:lnSpc>
                <a:spcPts val="4950"/>
              </a:lnSpc>
              <a:spcBef>
                <a:spcPts val="655"/>
              </a:spcBef>
            </a:pPr>
            <a:r>
              <a:rPr lang="es-ES" sz="2800" dirty="0"/>
              <a:t>I. Introducción: </a:t>
            </a:r>
            <a:r>
              <a:rPr sz="2800" spc="250" dirty="0"/>
              <a:t>Smart </a:t>
            </a:r>
            <a:r>
              <a:rPr sz="2800" spc="185" dirty="0"/>
              <a:t>Poqueira</a:t>
            </a:r>
          </a:p>
        </p:txBody>
      </p:sp>
      <p:pic>
        <p:nvPicPr>
          <p:cNvPr id="3" name="object 4">
            <a:extLst>
              <a:ext uri="{FF2B5EF4-FFF2-40B4-BE49-F238E27FC236}">
                <a16:creationId xmlns:a16="http://schemas.microsoft.com/office/drawing/2014/main" id="{A1FB269A-772F-F771-81EE-649666A18A88}"/>
              </a:ext>
            </a:extLst>
          </p:cNvPr>
          <p:cNvPicPr/>
          <p:nvPr/>
        </p:nvPicPr>
        <p:blipFill>
          <a:blip r:embed="rId3" cstate="print"/>
          <a:stretch>
            <a:fillRect/>
          </a:stretch>
        </p:blipFill>
        <p:spPr>
          <a:xfrm>
            <a:off x="641350" y="1562100"/>
            <a:ext cx="5530850" cy="4648200"/>
          </a:xfrm>
          <a:prstGeom prst="rect">
            <a:avLst/>
          </a:prstGeom>
        </p:spPr>
      </p:pic>
      <p:sp>
        <p:nvSpPr>
          <p:cNvPr id="4" name="object 3">
            <a:extLst>
              <a:ext uri="{FF2B5EF4-FFF2-40B4-BE49-F238E27FC236}">
                <a16:creationId xmlns:a16="http://schemas.microsoft.com/office/drawing/2014/main" id="{91A4AEFF-7E95-D77E-03BC-4AF427FDE57A}"/>
              </a:ext>
            </a:extLst>
          </p:cNvPr>
          <p:cNvSpPr txBox="1">
            <a:spLocks/>
          </p:cNvSpPr>
          <p:nvPr/>
        </p:nvSpPr>
        <p:spPr>
          <a:xfrm>
            <a:off x="6661150" y="2257172"/>
            <a:ext cx="2286000" cy="1031693"/>
          </a:xfrm>
          <a:prstGeom prst="rect">
            <a:avLst/>
          </a:prstGeom>
        </p:spPr>
        <p:txBody>
          <a:bodyPr vert="horz" wrap="square" lIns="0" tIns="15875" rIns="0" bIns="0" rtlCol="0">
            <a:spAutoFit/>
          </a:bodyPr>
          <a:lstStyle>
            <a:lvl1pPr>
              <a:defRPr sz="4500" b="0" i="0">
                <a:solidFill>
                  <a:srgbClr val="0056B3"/>
                </a:solidFill>
                <a:latin typeface="Arial MT"/>
                <a:ea typeface="+mj-ea"/>
                <a:cs typeface="Arial MT"/>
              </a:defRPr>
            </a:lvl1pPr>
          </a:lstStyle>
          <a:p>
            <a:pPr marL="12700">
              <a:spcBef>
                <a:spcPts val="125"/>
              </a:spcBef>
            </a:pPr>
            <a:r>
              <a:rPr lang="es-ES" sz="2200" spc="10" dirty="0">
                <a:solidFill>
                  <a:srgbClr val="333333"/>
                </a:solidFill>
                <a:latin typeface="Microsoft Sans Serif"/>
                <a:cs typeface="Microsoft Sans Serif"/>
              </a:rPr>
              <a:t>Proyecto</a:t>
            </a:r>
            <a:r>
              <a:rPr lang="es-ES" sz="2200" spc="114" dirty="0">
                <a:solidFill>
                  <a:srgbClr val="333333"/>
                </a:solidFill>
                <a:latin typeface="Microsoft Sans Serif"/>
                <a:cs typeface="Microsoft Sans Serif"/>
              </a:rPr>
              <a:t> </a:t>
            </a:r>
            <a:r>
              <a:rPr lang="es-ES" sz="2200" spc="60" dirty="0">
                <a:solidFill>
                  <a:srgbClr val="333333"/>
                </a:solidFill>
                <a:latin typeface="Microsoft Sans Serif"/>
                <a:cs typeface="Microsoft Sans Serif"/>
              </a:rPr>
              <a:t>de</a:t>
            </a:r>
            <a:r>
              <a:rPr lang="es-ES" sz="2200" spc="120" dirty="0">
                <a:solidFill>
                  <a:srgbClr val="333333"/>
                </a:solidFill>
                <a:latin typeface="Microsoft Sans Serif"/>
                <a:cs typeface="Microsoft Sans Serif"/>
              </a:rPr>
              <a:t> </a:t>
            </a:r>
            <a:r>
              <a:rPr lang="es-ES" sz="2200" spc="10" dirty="0">
                <a:solidFill>
                  <a:srgbClr val="333333"/>
                </a:solidFill>
                <a:latin typeface="Microsoft Sans Serif"/>
                <a:cs typeface="Microsoft Sans Serif"/>
              </a:rPr>
              <a:t>investigación</a:t>
            </a:r>
            <a:r>
              <a:rPr lang="es-ES" sz="2200" spc="114" dirty="0">
                <a:solidFill>
                  <a:srgbClr val="333333"/>
                </a:solidFill>
                <a:latin typeface="Microsoft Sans Serif"/>
                <a:cs typeface="Microsoft Sans Serif"/>
              </a:rPr>
              <a:t> </a:t>
            </a:r>
            <a:r>
              <a:rPr lang="es-ES" sz="2200" spc="-90" dirty="0">
                <a:solidFill>
                  <a:srgbClr val="333333"/>
                </a:solidFill>
                <a:latin typeface="Microsoft Sans Serif"/>
                <a:cs typeface="Microsoft Sans Serif"/>
              </a:rPr>
              <a:t>UGR.</a:t>
            </a:r>
            <a:endParaRPr lang="es-ES" sz="2200" dirty="0">
              <a:latin typeface="Microsoft Sans Serif"/>
              <a:cs typeface="Microsoft Sans Serif"/>
            </a:endParaRPr>
          </a:p>
        </p:txBody>
      </p:sp>
      <p:sp>
        <p:nvSpPr>
          <p:cNvPr id="5" name="object 6">
            <a:extLst>
              <a:ext uri="{FF2B5EF4-FFF2-40B4-BE49-F238E27FC236}">
                <a16:creationId xmlns:a16="http://schemas.microsoft.com/office/drawing/2014/main" id="{9105CCF7-16E9-CFCE-A4FE-C149BB810021}"/>
              </a:ext>
            </a:extLst>
          </p:cNvPr>
          <p:cNvSpPr txBox="1"/>
          <p:nvPr/>
        </p:nvSpPr>
        <p:spPr>
          <a:xfrm>
            <a:off x="6661150" y="3652955"/>
            <a:ext cx="2851150" cy="2131353"/>
          </a:xfrm>
          <a:prstGeom prst="rect">
            <a:avLst/>
          </a:prstGeom>
        </p:spPr>
        <p:txBody>
          <a:bodyPr vert="horz" wrap="square" lIns="0" tIns="27940" rIns="0" bIns="0" rtlCol="0">
            <a:spAutoFit/>
          </a:bodyPr>
          <a:lstStyle/>
          <a:p>
            <a:pPr marL="12700" marR="5080">
              <a:lnSpc>
                <a:spcPts val="2630"/>
              </a:lnSpc>
              <a:spcBef>
                <a:spcPts val="220"/>
              </a:spcBef>
            </a:pPr>
            <a:r>
              <a:rPr sz="2200" spc="50" dirty="0">
                <a:solidFill>
                  <a:srgbClr val="333333"/>
                </a:solidFill>
                <a:latin typeface="Microsoft Sans Serif"/>
                <a:cs typeface="Microsoft Sans Serif"/>
              </a:rPr>
              <a:t>Infraestructura</a:t>
            </a:r>
            <a:r>
              <a:rPr sz="2200" spc="-60" dirty="0">
                <a:solidFill>
                  <a:srgbClr val="333333"/>
                </a:solidFill>
                <a:latin typeface="Microsoft Sans Serif"/>
                <a:cs typeface="Microsoft Sans Serif"/>
              </a:rPr>
              <a:t> </a:t>
            </a:r>
            <a:r>
              <a:rPr sz="2200" spc="-145" dirty="0">
                <a:solidFill>
                  <a:srgbClr val="333333"/>
                </a:solidFill>
                <a:latin typeface="Microsoft Sans Serif"/>
                <a:cs typeface="Microsoft Sans Serif"/>
              </a:rPr>
              <a:t>IoT:</a:t>
            </a:r>
            <a:r>
              <a:rPr sz="2200" spc="-55" dirty="0">
                <a:solidFill>
                  <a:srgbClr val="333333"/>
                </a:solidFill>
                <a:latin typeface="Microsoft Sans Serif"/>
                <a:cs typeface="Microsoft Sans Serif"/>
              </a:rPr>
              <a:t> </a:t>
            </a:r>
            <a:endParaRPr lang="es-ES" sz="2200" spc="-55" dirty="0">
              <a:solidFill>
                <a:srgbClr val="333333"/>
              </a:solidFill>
              <a:latin typeface="Microsoft Sans Serif"/>
              <a:cs typeface="Microsoft Sans Serif"/>
            </a:endParaRPr>
          </a:p>
          <a:p>
            <a:pPr marL="12700" marR="5080">
              <a:lnSpc>
                <a:spcPts val="2630"/>
              </a:lnSpc>
              <a:spcBef>
                <a:spcPts val="220"/>
              </a:spcBef>
            </a:pPr>
            <a:r>
              <a:rPr lang="es-ES" sz="2200" spc="-10" dirty="0">
                <a:solidFill>
                  <a:srgbClr val="333333"/>
                </a:solidFill>
                <a:latin typeface="Microsoft Sans Serif"/>
                <a:cs typeface="Microsoft Sans Serif"/>
              </a:rPr>
              <a:t>(i), (ii), (iii), (iv)  </a:t>
            </a:r>
          </a:p>
          <a:p>
            <a:pPr marL="12700" marR="5080">
              <a:lnSpc>
                <a:spcPts val="2630"/>
              </a:lnSpc>
              <a:spcBef>
                <a:spcPts val="220"/>
              </a:spcBef>
            </a:pPr>
            <a:r>
              <a:rPr sz="2200" spc="-10" dirty="0">
                <a:solidFill>
                  <a:srgbClr val="333333"/>
                </a:solidFill>
                <a:latin typeface="Microsoft Sans Serif"/>
                <a:cs typeface="Microsoft Sans Serif"/>
              </a:rPr>
              <a:t>Cámaras</a:t>
            </a:r>
            <a:r>
              <a:rPr sz="2200" spc="-55" dirty="0">
                <a:solidFill>
                  <a:srgbClr val="333333"/>
                </a:solidFill>
                <a:latin typeface="Microsoft Sans Serif"/>
                <a:cs typeface="Microsoft Sans Serif"/>
              </a:rPr>
              <a:t> </a:t>
            </a:r>
            <a:r>
              <a:rPr sz="2200" spc="-80" dirty="0">
                <a:solidFill>
                  <a:srgbClr val="333333"/>
                </a:solidFill>
                <a:latin typeface="Microsoft Sans Serif"/>
                <a:cs typeface="Microsoft Sans Serif"/>
              </a:rPr>
              <a:t>LPR</a:t>
            </a:r>
            <a:r>
              <a:rPr sz="2200" spc="-55" dirty="0">
                <a:solidFill>
                  <a:srgbClr val="333333"/>
                </a:solidFill>
                <a:latin typeface="Microsoft Sans Serif"/>
                <a:cs typeface="Microsoft Sans Serif"/>
              </a:rPr>
              <a:t> </a:t>
            </a:r>
            <a:r>
              <a:rPr sz="2200" dirty="0">
                <a:solidFill>
                  <a:srgbClr val="333333"/>
                </a:solidFill>
                <a:latin typeface="Microsoft Sans Serif"/>
                <a:cs typeface="Microsoft Sans Serif"/>
              </a:rPr>
              <a:t>(tráfico)</a:t>
            </a:r>
            <a:r>
              <a:rPr sz="2200" spc="-55" dirty="0">
                <a:solidFill>
                  <a:srgbClr val="333333"/>
                </a:solidFill>
                <a:latin typeface="Microsoft Sans Serif"/>
                <a:cs typeface="Microsoft Sans Serif"/>
              </a:rPr>
              <a:t> </a:t>
            </a:r>
            <a:endParaRPr lang="es-ES" sz="2200" spc="-55" dirty="0">
              <a:solidFill>
                <a:srgbClr val="333333"/>
              </a:solidFill>
              <a:latin typeface="Microsoft Sans Serif"/>
              <a:cs typeface="Microsoft Sans Serif"/>
            </a:endParaRPr>
          </a:p>
          <a:p>
            <a:pPr marL="12700" marR="5080">
              <a:lnSpc>
                <a:spcPts val="2630"/>
              </a:lnSpc>
              <a:spcBef>
                <a:spcPts val="220"/>
              </a:spcBef>
            </a:pPr>
            <a:r>
              <a:rPr lang="es-ES" sz="2200" spc="85" dirty="0">
                <a:solidFill>
                  <a:srgbClr val="333333"/>
                </a:solidFill>
                <a:latin typeface="Microsoft Sans Serif"/>
                <a:cs typeface="Microsoft Sans Serif"/>
              </a:rPr>
              <a:t>    </a:t>
            </a:r>
          </a:p>
          <a:p>
            <a:pPr marL="12700" marR="5080">
              <a:lnSpc>
                <a:spcPts val="2630"/>
              </a:lnSpc>
              <a:spcBef>
                <a:spcPts val="220"/>
              </a:spcBef>
            </a:pPr>
            <a:r>
              <a:rPr lang="es-ES" sz="2200" spc="85" dirty="0">
                <a:solidFill>
                  <a:srgbClr val="333333"/>
                </a:solidFill>
                <a:latin typeface="Microsoft Sans Serif"/>
                <a:cs typeface="Microsoft Sans Serif"/>
              </a:rPr>
              <a:t>     </a:t>
            </a:r>
            <a:r>
              <a:rPr sz="2200" spc="85" dirty="0">
                <a:solidFill>
                  <a:srgbClr val="333333"/>
                </a:solidFill>
                <a:latin typeface="Microsoft Sans Serif"/>
                <a:cs typeface="Microsoft Sans Serif"/>
              </a:rPr>
              <a:t>unidad</a:t>
            </a:r>
            <a:r>
              <a:rPr sz="2200" spc="-55" dirty="0">
                <a:solidFill>
                  <a:srgbClr val="333333"/>
                </a:solidFill>
                <a:latin typeface="Microsoft Sans Serif"/>
                <a:cs typeface="Microsoft Sans Serif"/>
              </a:rPr>
              <a:t> </a:t>
            </a:r>
            <a:r>
              <a:rPr sz="2200" spc="-10" dirty="0">
                <a:solidFill>
                  <a:srgbClr val="333333"/>
                </a:solidFill>
                <a:latin typeface="Microsoft Sans Serif"/>
                <a:cs typeface="Microsoft Sans Serif"/>
              </a:rPr>
              <a:t>móvil (contaminación)</a:t>
            </a:r>
            <a:endParaRPr sz="2200" dirty="0">
              <a:latin typeface="Microsoft Sans Serif"/>
              <a:cs typeface="Microsoft Sans Serif"/>
            </a:endParaRPr>
          </a:p>
        </p:txBody>
      </p:sp>
      <p:sp>
        <p:nvSpPr>
          <p:cNvPr id="11" name="Estrella de 5 puntas 10">
            <a:extLst>
              <a:ext uri="{FF2B5EF4-FFF2-40B4-BE49-F238E27FC236}">
                <a16:creationId xmlns:a16="http://schemas.microsoft.com/office/drawing/2014/main" id="{2CB8DBEF-D3F6-E8FB-32A5-25E5411D23F1}"/>
              </a:ext>
            </a:extLst>
          </p:cNvPr>
          <p:cNvSpPr/>
          <p:nvPr/>
        </p:nvSpPr>
        <p:spPr>
          <a:xfrm>
            <a:off x="6682603" y="5067300"/>
            <a:ext cx="304800" cy="304800"/>
          </a:xfrm>
          <a:prstGeom prst="star5">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Marcador de número de diapositiva 6">
            <a:extLst>
              <a:ext uri="{FF2B5EF4-FFF2-40B4-BE49-F238E27FC236}">
                <a16:creationId xmlns:a16="http://schemas.microsoft.com/office/drawing/2014/main" id="{9E501E3D-95DE-3496-DBEC-A1588A2911DE}"/>
              </a:ext>
            </a:extLst>
          </p:cNvPr>
          <p:cNvSpPr>
            <a:spLocks noGrp="1"/>
          </p:cNvSpPr>
          <p:nvPr>
            <p:ph type="sldNum" sz="quarter" idx="7"/>
          </p:nvPr>
        </p:nvSpPr>
        <p:spPr>
          <a:xfrm>
            <a:off x="9195643" y="6656892"/>
            <a:ext cx="237490" cy="141064"/>
          </a:xfrm>
        </p:spPr>
        <p:txBody>
          <a:bodyPr/>
          <a:lstStyle/>
          <a:p>
            <a:pPr marL="111760">
              <a:lnSpc>
                <a:spcPts val="1120"/>
              </a:lnSpc>
            </a:pPr>
            <a:fld id="{81D60167-4931-47E6-BA6A-407CBD079E47}" type="slidenum">
              <a:rPr lang="es-ES" b="1" spc="-50" smtClean="0">
                <a:solidFill>
                  <a:schemeClr val="tx1"/>
                </a:solidFill>
              </a:rPr>
              <a:t>3</a:t>
            </a:fld>
            <a:endParaRPr lang="es-ES" b="1" spc="-50" dirty="0">
              <a:solidFill>
                <a:schemeClr val="tx1"/>
              </a:solidFill>
            </a:endParaRPr>
          </a:p>
        </p:txBody>
      </p:sp>
      <p:sp>
        <p:nvSpPr>
          <p:cNvPr id="8" name="CuadroTexto 7">
            <a:extLst>
              <a:ext uri="{FF2B5EF4-FFF2-40B4-BE49-F238E27FC236}">
                <a16:creationId xmlns:a16="http://schemas.microsoft.com/office/drawing/2014/main" id="{A192A7E1-79CA-0DE7-95DF-8C07E9847F61}"/>
              </a:ext>
            </a:extLst>
          </p:cNvPr>
          <p:cNvSpPr txBox="1"/>
          <p:nvPr/>
        </p:nvSpPr>
        <p:spPr>
          <a:xfrm>
            <a:off x="1154190" y="249521"/>
            <a:ext cx="1441420" cy="369332"/>
          </a:xfrm>
          <a:prstGeom prst="rect">
            <a:avLst/>
          </a:prstGeom>
          <a:noFill/>
        </p:spPr>
        <p:txBody>
          <a:bodyPr wrap="none" rtlCol="0">
            <a:spAutoFit/>
          </a:bodyPr>
          <a:lstStyle/>
          <a:p>
            <a:r>
              <a:rPr lang="es-ES" dirty="0"/>
              <a:t>Introducción</a:t>
            </a:r>
          </a:p>
        </p:txBody>
      </p:sp>
      <p:sp>
        <p:nvSpPr>
          <p:cNvPr id="9" name="Rectángulo 8" descr="Clapper board">
            <a:extLst>
              <a:ext uri="{FF2B5EF4-FFF2-40B4-BE49-F238E27FC236}">
                <a16:creationId xmlns:a16="http://schemas.microsoft.com/office/drawing/2014/main" id="{3746F9FC-CC59-50FE-C0B8-7E1C55DEC49E}"/>
              </a:ext>
            </a:extLst>
          </p:cNvPr>
          <p:cNvSpPr/>
          <p:nvPr/>
        </p:nvSpPr>
        <p:spPr>
          <a:xfrm>
            <a:off x="481845" y="253234"/>
            <a:ext cx="365619" cy="365619"/>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s-E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55097" y="720378"/>
            <a:ext cx="7762231" cy="668068"/>
          </a:xfrm>
          <a:prstGeom prst="rect">
            <a:avLst/>
          </a:prstGeom>
        </p:spPr>
        <p:txBody>
          <a:bodyPr vert="horz" wrap="square" lIns="0" tIns="90805" rIns="0" bIns="0" rtlCol="0">
            <a:spAutoFit/>
          </a:bodyPr>
          <a:lstStyle/>
          <a:p>
            <a:pPr marL="2400935" marR="5080" indent="-2388870">
              <a:lnSpc>
                <a:spcPts val="4880"/>
              </a:lnSpc>
              <a:spcBef>
                <a:spcPts val="715"/>
              </a:spcBef>
            </a:pPr>
            <a:r>
              <a:rPr lang="es-ES" sz="2800" dirty="0"/>
              <a:t>I. </a:t>
            </a:r>
            <a:r>
              <a:rPr sz="2800" dirty="0"/>
              <a:t>El</a:t>
            </a:r>
            <a:r>
              <a:rPr sz="2800" spc="210" dirty="0"/>
              <a:t> </a:t>
            </a:r>
            <a:r>
              <a:rPr sz="2800" spc="105" dirty="0"/>
              <a:t>Desafío</a:t>
            </a:r>
            <a:r>
              <a:rPr sz="2800" spc="210" dirty="0"/>
              <a:t> </a:t>
            </a:r>
            <a:r>
              <a:rPr sz="2800" spc="185" dirty="0"/>
              <a:t>de</a:t>
            </a:r>
            <a:r>
              <a:rPr sz="2800" spc="210" dirty="0"/>
              <a:t> </a:t>
            </a:r>
            <a:r>
              <a:rPr sz="2800" spc="55" dirty="0"/>
              <a:t>los</a:t>
            </a:r>
            <a:r>
              <a:rPr lang="es-ES" sz="2800" spc="215" dirty="0"/>
              <a:t> Datos</a:t>
            </a:r>
            <a:r>
              <a:rPr lang="es-ES" sz="2800" spc="150" dirty="0"/>
              <a:t> </a:t>
            </a:r>
            <a:r>
              <a:rPr sz="2800" spc="160" dirty="0"/>
              <a:t>Faltantes</a:t>
            </a:r>
          </a:p>
        </p:txBody>
      </p:sp>
      <p:sp>
        <p:nvSpPr>
          <p:cNvPr id="4" name="object 4"/>
          <p:cNvSpPr txBox="1"/>
          <p:nvPr/>
        </p:nvSpPr>
        <p:spPr>
          <a:xfrm>
            <a:off x="848392" y="5730778"/>
            <a:ext cx="8103447" cy="437299"/>
          </a:xfrm>
          <a:prstGeom prst="rect">
            <a:avLst/>
          </a:prstGeom>
        </p:spPr>
        <p:txBody>
          <a:bodyPr vert="horz" wrap="square" lIns="0" tIns="82550" rIns="0" bIns="0" rtlCol="0">
            <a:spAutoFit/>
          </a:bodyPr>
          <a:lstStyle/>
          <a:p>
            <a:pPr marL="12700">
              <a:lnSpc>
                <a:spcPct val="100000"/>
              </a:lnSpc>
              <a:spcBef>
                <a:spcPts val="650"/>
              </a:spcBef>
            </a:pPr>
            <a:r>
              <a:rPr sz="2200" dirty="0">
                <a:solidFill>
                  <a:srgbClr val="333333"/>
                </a:solidFill>
                <a:latin typeface="Microsoft Sans Serif"/>
                <a:cs typeface="Microsoft Sans Serif"/>
              </a:rPr>
              <a:t>Problema:</a:t>
            </a:r>
            <a:r>
              <a:rPr sz="2200" spc="120" dirty="0">
                <a:solidFill>
                  <a:srgbClr val="333333"/>
                </a:solidFill>
                <a:latin typeface="Microsoft Sans Serif"/>
                <a:cs typeface="Microsoft Sans Serif"/>
              </a:rPr>
              <a:t> </a:t>
            </a:r>
            <a:r>
              <a:rPr lang="es-ES" sz="2200" spc="120" dirty="0">
                <a:solidFill>
                  <a:srgbClr val="333333"/>
                </a:solidFill>
                <a:latin typeface="Microsoft Sans Serif"/>
                <a:cs typeface="Microsoft Sans Serif"/>
              </a:rPr>
              <a:t>28.4% </a:t>
            </a:r>
            <a:r>
              <a:rPr sz="2300" b="1" spc="-80" dirty="0">
                <a:solidFill>
                  <a:srgbClr val="0056B3"/>
                </a:solidFill>
                <a:latin typeface="Arial"/>
                <a:cs typeface="Arial"/>
              </a:rPr>
              <a:t>Datos</a:t>
            </a:r>
            <a:r>
              <a:rPr sz="2300" b="1" spc="100" dirty="0">
                <a:solidFill>
                  <a:srgbClr val="0056B3"/>
                </a:solidFill>
                <a:latin typeface="Arial"/>
                <a:cs typeface="Arial"/>
              </a:rPr>
              <a:t> </a:t>
            </a:r>
            <a:r>
              <a:rPr sz="2300" b="1" spc="-70" dirty="0">
                <a:solidFill>
                  <a:srgbClr val="0056B3"/>
                </a:solidFill>
                <a:latin typeface="Arial"/>
                <a:cs typeface="Arial"/>
              </a:rPr>
              <a:t>Faltantes</a:t>
            </a:r>
            <a:r>
              <a:rPr sz="2300" b="1" spc="75" dirty="0">
                <a:solidFill>
                  <a:srgbClr val="0056B3"/>
                </a:solidFill>
                <a:latin typeface="Arial"/>
                <a:cs typeface="Arial"/>
              </a:rPr>
              <a:t> </a:t>
            </a:r>
            <a:r>
              <a:rPr sz="2200" dirty="0">
                <a:solidFill>
                  <a:srgbClr val="333333"/>
                </a:solidFill>
                <a:latin typeface="Microsoft Sans Serif"/>
                <a:cs typeface="Microsoft Sans Serif"/>
              </a:rPr>
              <a:t>(missing</a:t>
            </a:r>
            <a:r>
              <a:rPr sz="2200" spc="120" dirty="0">
                <a:solidFill>
                  <a:srgbClr val="333333"/>
                </a:solidFill>
                <a:latin typeface="Microsoft Sans Serif"/>
                <a:cs typeface="Microsoft Sans Serif"/>
              </a:rPr>
              <a:t> </a:t>
            </a:r>
            <a:r>
              <a:rPr sz="2200" spc="-10" dirty="0">
                <a:solidFill>
                  <a:srgbClr val="333333"/>
                </a:solidFill>
                <a:latin typeface="Microsoft Sans Serif"/>
                <a:cs typeface="Microsoft Sans Serif"/>
              </a:rPr>
              <a:t>data).</a:t>
            </a:r>
            <a:endParaRPr lang="es-ES" sz="2200" spc="-10" dirty="0">
              <a:solidFill>
                <a:srgbClr val="333333"/>
              </a:solidFill>
              <a:latin typeface="Microsoft Sans Serif"/>
              <a:cs typeface="Microsoft Sans Serif"/>
            </a:endParaRPr>
          </a:p>
        </p:txBody>
      </p:sp>
      <p:sp>
        <p:nvSpPr>
          <p:cNvPr id="9" name="object 9"/>
          <p:cNvSpPr txBox="1">
            <a:spLocks noGrp="1"/>
          </p:cNvSpPr>
          <p:nvPr>
            <p:ph type="sldNum" sz="quarter" idx="7"/>
          </p:nvPr>
        </p:nvSpPr>
        <p:spPr>
          <a:xfrm>
            <a:off x="9195643" y="6656892"/>
            <a:ext cx="237490" cy="141064"/>
          </a:xfrm>
          <a:prstGeom prst="rect">
            <a:avLst/>
          </a:prstGeom>
        </p:spPr>
        <p:txBody>
          <a:bodyPr vert="horz" wrap="square" lIns="0" tIns="0" rIns="0" bIns="0" rtlCol="0">
            <a:spAutoFit/>
          </a:bodyPr>
          <a:lstStyle/>
          <a:p>
            <a:pPr marL="111760">
              <a:lnSpc>
                <a:spcPts val="1120"/>
              </a:lnSpc>
            </a:pPr>
            <a:fld id="{81D60167-4931-47E6-BA6A-407CBD079E47}" type="slidenum">
              <a:rPr b="1" spc="-50" dirty="0">
                <a:solidFill>
                  <a:schemeClr val="tx1"/>
                </a:solidFill>
              </a:rPr>
              <a:t>4</a:t>
            </a:fld>
            <a:endParaRPr b="1" spc="-50" dirty="0">
              <a:solidFill>
                <a:schemeClr val="tx1"/>
              </a:solidFill>
            </a:endParaRPr>
          </a:p>
        </p:txBody>
      </p:sp>
      <p:graphicFrame>
        <p:nvGraphicFramePr>
          <p:cNvPr id="21" name="Tabla 20">
            <a:extLst>
              <a:ext uri="{FF2B5EF4-FFF2-40B4-BE49-F238E27FC236}">
                <a16:creationId xmlns:a16="http://schemas.microsoft.com/office/drawing/2014/main" id="{4F7697F9-F91D-09AE-E052-A68E2504CA1C}"/>
              </a:ext>
            </a:extLst>
          </p:cNvPr>
          <p:cNvGraphicFramePr>
            <a:graphicFrameLocks noGrp="1"/>
          </p:cNvGraphicFramePr>
          <p:nvPr>
            <p:extLst>
              <p:ext uri="{D42A27DB-BD31-4B8C-83A1-F6EECF244321}">
                <p14:modId xmlns:p14="http://schemas.microsoft.com/office/powerpoint/2010/main" val="4150980366"/>
              </p:ext>
            </p:extLst>
          </p:nvPr>
        </p:nvGraphicFramePr>
        <p:xfrm>
          <a:off x="1185940" y="3853584"/>
          <a:ext cx="6477000" cy="1616840"/>
        </p:xfrm>
        <a:graphic>
          <a:graphicData uri="http://schemas.openxmlformats.org/drawingml/2006/table">
            <a:tbl>
              <a:tblPr firstRow="1" bandRow="1">
                <a:tableStyleId>{5C22544A-7EE6-4342-B048-85BDC9FD1C3A}</a:tableStyleId>
              </a:tblPr>
              <a:tblGrid>
                <a:gridCol w="3124200">
                  <a:extLst>
                    <a:ext uri="{9D8B030D-6E8A-4147-A177-3AD203B41FA5}">
                      <a16:colId xmlns:a16="http://schemas.microsoft.com/office/drawing/2014/main" val="3235780697"/>
                    </a:ext>
                  </a:extLst>
                </a:gridCol>
                <a:gridCol w="1573774">
                  <a:extLst>
                    <a:ext uri="{9D8B030D-6E8A-4147-A177-3AD203B41FA5}">
                      <a16:colId xmlns:a16="http://schemas.microsoft.com/office/drawing/2014/main" val="845933476"/>
                    </a:ext>
                  </a:extLst>
                </a:gridCol>
                <a:gridCol w="1779026">
                  <a:extLst>
                    <a:ext uri="{9D8B030D-6E8A-4147-A177-3AD203B41FA5}">
                      <a16:colId xmlns:a16="http://schemas.microsoft.com/office/drawing/2014/main" val="3869085358"/>
                    </a:ext>
                  </a:extLst>
                </a:gridCol>
              </a:tblGrid>
              <a:tr h="181421">
                <a:tc>
                  <a:txBody>
                    <a:bodyPr/>
                    <a:lstStyle/>
                    <a:p>
                      <a:r>
                        <a:rPr lang="es-ES" dirty="0"/>
                        <a:t>Periodo</a:t>
                      </a:r>
                    </a:p>
                  </a:txBody>
                  <a:tcPr/>
                </a:tc>
                <a:tc>
                  <a:txBody>
                    <a:bodyPr/>
                    <a:lstStyle/>
                    <a:p>
                      <a:r>
                        <a:rPr lang="es-ES" dirty="0"/>
                        <a:t>Filas x Columnas</a:t>
                      </a:r>
                    </a:p>
                  </a:txBody>
                  <a:tcPr/>
                </a:tc>
                <a:tc>
                  <a:txBody>
                    <a:bodyPr/>
                    <a:lstStyle/>
                    <a:p>
                      <a:r>
                        <a:rPr lang="es-ES" dirty="0"/>
                        <a:t>Porcentaje Datos faltantes</a:t>
                      </a:r>
                    </a:p>
                  </a:txBody>
                  <a:tcPr/>
                </a:tc>
                <a:extLst>
                  <a:ext uri="{0D108BD9-81ED-4DB2-BD59-A6C34878D82A}">
                    <a16:rowId xmlns:a16="http://schemas.microsoft.com/office/drawing/2014/main" val="3094573162"/>
                  </a:ext>
                </a:extLst>
              </a:tr>
              <a:tr h="488380">
                <a:tc>
                  <a:txBody>
                    <a:bodyPr/>
                    <a:lstStyle/>
                    <a:p>
                      <a:r>
                        <a:rPr lang="es-ES" dirty="0"/>
                        <a:t>1er: 18/01/2023-14/03/2023</a:t>
                      </a:r>
                    </a:p>
                  </a:txBody>
                  <a:tcPr/>
                </a:tc>
                <a:tc>
                  <a:txBody>
                    <a:bodyPr/>
                    <a:lstStyle/>
                    <a:p>
                      <a:r>
                        <a:rPr lang="es-ES" dirty="0"/>
                        <a:t>1332x114</a:t>
                      </a:r>
                    </a:p>
                  </a:txBody>
                  <a:tcPr/>
                </a:tc>
                <a:tc>
                  <a:txBody>
                    <a:bodyPr/>
                    <a:lstStyle/>
                    <a:p>
                      <a:r>
                        <a:rPr lang="es-ES" b="1" dirty="0"/>
                        <a:t>28.3%</a:t>
                      </a:r>
                    </a:p>
                  </a:txBody>
                  <a:tcPr/>
                </a:tc>
                <a:extLst>
                  <a:ext uri="{0D108BD9-81ED-4DB2-BD59-A6C34878D82A}">
                    <a16:rowId xmlns:a16="http://schemas.microsoft.com/office/drawing/2014/main" val="202529473"/>
                  </a:ext>
                </a:extLst>
              </a:tr>
              <a:tr h="488380">
                <a:tc>
                  <a:txBody>
                    <a:bodyPr/>
                    <a:lstStyle/>
                    <a:p>
                      <a:r>
                        <a:rPr lang="es-ES" dirty="0"/>
                        <a:t>2do: 07/06/2023-26/06/2023</a:t>
                      </a:r>
                    </a:p>
                  </a:txBody>
                  <a:tcPr/>
                </a:tc>
                <a:tc>
                  <a:txBody>
                    <a:bodyPr/>
                    <a:lstStyle/>
                    <a:p>
                      <a:r>
                        <a:rPr lang="es-ES" dirty="0"/>
                        <a:t>480x114</a:t>
                      </a:r>
                    </a:p>
                  </a:txBody>
                  <a:tcPr/>
                </a:tc>
                <a:tc>
                  <a:txBody>
                    <a:bodyPr/>
                    <a:lstStyle/>
                    <a:p>
                      <a:r>
                        <a:rPr lang="es-ES" b="1" dirty="0"/>
                        <a:t>28.7%</a:t>
                      </a:r>
                    </a:p>
                  </a:txBody>
                  <a:tcPr/>
                </a:tc>
                <a:extLst>
                  <a:ext uri="{0D108BD9-81ED-4DB2-BD59-A6C34878D82A}">
                    <a16:rowId xmlns:a16="http://schemas.microsoft.com/office/drawing/2014/main" val="433162028"/>
                  </a:ext>
                </a:extLst>
              </a:tr>
            </a:tbl>
          </a:graphicData>
        </a:graphic>
      </p:graphicFrame>
      <p:sp>
        <p:nvSpPr>
          <p:cNvPr id="5" name="CuadroTexto 4">
            <a:extLst>
              <a:ext uri="{FF2B5EF4-FFF2-40B4-BE49-F238E27FC236}">
                <a16:creationId xmlns:a16="http://schemas.microsoft.com/office/drawing/2014/main" id="{430EC0BE-1652-528D-0055-492DC1F433A1}"/>
              </a:ext>
            </a:extLst>
          </p:cNvPr>
          <p:cNvSpPr txBox="1"/>
          <p:nvPr/>
        </p:nvSpPr>
        <p:spPr>
          <a:xfrm>
            <a:off x="1154190" y="249521"/>
            <a:ext cx="1441420" cy="369332"/>
          </a:xfrm>
          <a:prstGeom prst="rect">
            <a:avLst/>
          </a:prstGeom>
          <a:noFill/>
        </p:spPr>
        <p:txBody>
          <a:bodyPr wrap="none" rtlCol="0">
            <a:spAutoFit/>
          </a:bodyPr>
          <a:lstStyle/>
          <a:p>
            <a:r>
              <a:rPr lang="es-ES" dirty="0"/>
              <a:t>Introducción</a:t>
            </a:r>
          </a:p>
        </p:txBody>
      </p:sp>
      <p:sp>
        <p:nvSpPr>
          <p:cNvPr id="3" name="Rectángulo 2" descr="Clapper board">
            <a:extLst>
              <a:ext uri="{FF2B5EF4-FFF2-40B4-BE49-F238E27FC236}">
                <a16:creationId xmlns:a16="http://schemas.microsoft.com/office/drawing/2014/main" id="{4170BB28-F05A-071B-7CC7-2D5D3AB19445}"/>
              </a:ext>
            </a:extLst>
          </p:cNvPr>
          <p:cNvSpPr/>
          <p:nvPr/>
        </p:nvSpPr>
        <p:spPr>
          <a:xfrm>
            <a:off x="481845" y="253234"/>
            <a:ext cx="365619" cy="365619"/>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s-ES" dirty="0"/>
          </a:p>
        </p:txBody>
      </p:sp>
      <p:sp>
        <p:nvSpPr>
          <p:cNvPr id="7" name="CuadroTexto 6">
            <a:extLst>
              <a:ext uri="{FF2B5EF4-FFF2-40B4-BE49-F238E27FC236}">
                <a16:creationId xmlns:a16="http://schemas.microsoft.com/office/drawing/2014/main" id="{3B5C1FAD-09B1-D6CF-65E5-9843AFAF747A}"/>
              </a:ext>
            </a:extLst>
          </p:cNvPr>
          <p:cNvSpPr txBox="1"/>
          <p:nvPr/>
        </p:nvSpPr>
        <p:spPr>
          <a:xfrm>
            <a:off x="565150" y="1991741"/>
            <a:ext cx="8632788" cy="1754326"/>
          </a:xfrm>
          <a:prstGeom prst="rect">
            <a:avLst/>
          </a:prstGeom>
          <a:noFill/>
        </p:spPr>
        <p:txBody>
          <a:bodyPr wrap="square" rtlCol="0">
            <a:spAutoFit/>
          </a:bodyPr>
          <a:lstStyle/>
          <a:p>
            <a:pPr marL="285750" indent="-285750">
              <a:buFont typeface="Arial" panose="020B0604020202020204" pitchFamily="34" charset="0"/>
              <a:buChar char="•"/>
            </a:pPr>
            <a:r>
              <a:rPr lang="es-ES" b="1" dirty="0"/>
              <a:t>CO </a:t>
            </a:r>
            <a:r>
              <a:rPr lang="es-ES" dirty="0"/>
              <a:t>: mónóxido de carbono</a:t>
            </a:r>
          </a:p>
          <a:p>
            <a:pPr marL="285750" indent="-285750">
              <a:buFont typeface="Arial" panose="020B0604020202020204" pitchFamily="34" charset="0"/>
              <a:buChar char="•"/>
            </a:pPr>
            <a:r>
              <a:rPr lang="es-ES" b="1" dirty="0"/>
              <a:t>NO2: </a:t>
            </a:r>
            <a:r>
              <a:rPr lang="es-ES" dirty="0"/>
              <a:t>dióxido de nitrógeno</a:t>
            </a:r>
          </a:p>
          <a:p>
            <a:pPr marL="285750" indent="-285750">
              <a:buFont typeface="Arial" panose="020B0604020202020204" pitchFamily="34" charset="0"/>
              <a:buChar char="•"/>
            </a:pPr>
            <a:r>
              <a:rPr lang="es-ES" b="1" dirty="0"/>
              <a:t>PM10</a:t>
            </a:r>
            <a:r>
              <a:rPr lang="es-ES" dirty="0"/>
              <a:t>: partículas en suspensión</a:t>
            </a:r>
          </a:p>
          <a:p>
            <a:pPr marL="285750" indent="-285750">
              <a:buFont typeface="Arial" panose="020B0604020202020204" pitchFamily="34" charset="0"/>
              <a:buChar char="•"/>
            </a:pPr>
            <a:r>
              <a:rPr lang="es-ES" b="1" dirty="0"/>
              <a:t>eBC_ff: </a:t>
            </a:r>
            <a:r>
              <a:rPr lang="es-ES" dirty="0"/>
              <a:t>hollín</a:t>
            </a:r>
            <a:r>
              <a:rPr lang="es-ES" b="1" dirty="0"/>
              <a:t> </a:t>
            </a:r>
            <a:r>
              <a:rPr lang="es-ES" dirty="0"/>
              <a:t>de combustibles fósiles </a:t>
            </a:r>
          </a:p>
          <a:p>
            <a:pPr marL="285750" indent="-285750">
              <a:buFont typeface="Arial" panose="020B0604020202020204" pitchFamily="34" charset="0"/>
              <a:buChar char="•"/>
            </a:pPr>
            <a:r>
              <a:rPr lang="es-ES" b="1" dirty="0"/>
              <a:t>eBC_bb: </a:t>
            </a:r>
            <a:r>
              <a:rPr lang="es-ES" dirty="0"/>
              <a:t>hollín de quema biomasa</a:t>
            </a:r>
          </a:p>
          <a:p>
            <a:pPr marL="285750" indent="-285750">
              <a:buFont typeface="Arial" panose="020B0604020202020204" pitchFamily="34" charset="0"/>
              <a:buChar char="•"/>
            </a:pPr>
            <a:r>
              <a:rPr lang="es-ES" b="1" dirty="0"/>
              <a:t>…. </a:t>
            </a:r>
          </a:p>
        </p:txBody>
      </p:sp>
      <p:sp>
        <p:nvSpPr>
          <p:cNvPr id="14" name="CuadroTexto 13">
            <a:extLst>
              <a:ext uri="{FF2B5EF4-FFF2-40B4-BE49-F238E27FC236}">
                <a16:creationId xmlns:a16="http://schemas.microsoft.com/office/drawing/2014/main" id="{ECFA1885-37CE-7F6C-44BB-9658DD0D071D}"/>
              </a:ext>
            </a:extLst>
          </p:cNvPr>
          <p:cNvSpPr txBox="1"/>
          <p:nvPr/>
        </p:nvSpPr>
        <p:spPr>
          <a:xfrm>
            <a:off x="336550" y="1514173"/>
            <a:ext cx="6789038" cy="369332"/>
          </a:xfrm>
          <a:prstGeom prst="rect">
            <a:avLst/>
          </a:prstGeom>
          <a:noFill/>
        </p:spPr>
        <p:txBody>
          <a:bodyPr wrap="none" rtlCol="0">
            <a:spAutoFit/>
          </a:bodyPr>
          <a:lstStyle/>
          <a:p>
            <a:r>
              <a:rPr lang="es-ES" dirty="0"/>
              <a:t>Al analizar los datos registrados </a:t>
            </a:r>
            <a:r>
              <a:rPr lang="es-ES" b="1" dirty="0"/>
              <a:t>cada hora </a:t>
            </a:r>
            <a:r>
              <a:rPr lang="es-ES" dirty="0"/>
              <a:t>de las 114 variables: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D425C829-A95B-BB97-5CD0-FF9D060940A9}"/>
              </a:ext>
            </a:extLst>
          </p:cNvPr>
          <p:cNvSpPr txBox="1">
            <a:spLocks noGrp="1"/>
          </p:cNvSpPr>
          <p:nvPr>
            <p:ph type="title"/>
          </p:nvPr>
        </p:nvSpPr>
        <p:spPr>
          <a:xfrm>
            <a:off x="1154190" y="631711"/>
            <a:ext cx="7801183" cy="634917"/>
          </a:xfrm>
          <a:prstGeom prst="rect">
            <a:avLst/>
          </a:prstGeom>
        </p:spPr>
        <p:txBody>
          <a:bodyPr vert="horz" wrap="square" lIns="0" tIns="83185" rIns="0" bIns="0" rtlCol="0">
            <a:spAutoFit/>
          </a:bodyPr>
          <a:lstStyle/>
          <a:p>
            <a:pPr marL="2313305" marR="5080" indent="-2301240">
              <a:lnSpc>
                <a:spcPts val="4950"/>
              </a:lnSpc>
              <a:spcBef>
                <a:spcPts val="655"/>
              </a:spcBef>
            </a:pPr>
            <a:r>
              <a:rPr lang="es-ES" sz="2400" dirty="0"/>
              <a:t>I. Introducción: </a:t>
            </a:r>
            <a:r>
              <a:rPr lang="es-ES" sz="2400" spc="250" dirty="0"/>
              <a:t>Series Temporales. Motivación.</a:t>
            </a:r>
            <a:endParaRPr sz="2400" spc="185" dirty="0"/>
          </a:p>
        </p:txBody>
      </p:sp>
      <p:pic>
        <p:nvPicPr>
          <p:cNvPr id="9" name="Imagen 8" descr="Gráfico&#10;&#10;El contenido generado por IA puede ser incorrecto.">
            <a:extLst>
              <a:ext uri="{FF2B5EF4-FFF2-40B4-BE49-F238E27FC236}">
                <a16:creationId xmlns:a16="http://schemas.microsoft.com/office/drawing/2014/main" id="{B464C165-1969-EE28-41CF-052CD286DE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350" y="2628900"/>
            <a:ext cx="8489110" cy="3357633"/>
          </a:xfrm>
          <a:prstGeom prst="rect">
            <a:avLst/>
          </a:prstGeom>
        </p:spPr>
      </p:pic>
      <p:sp>
        <p:nvSpPr>
          <p:cNvPr id="11" name="CuadroTexto 10">
            <a:extLst>
              <a:ext uri="{FF2B5EF4-FFF2-40B4-BE49-F238E27FC236}">
                <a16:creationId xmlns:a16="http://schemas.microsoft.com/office/drawing/2014/main" id="{926966AD-F688-FE6D-F2EF-8D2AA4ECD5B5}"/>
              </a:ext>
            </a:extLst>
          </p:cNvPr>
          <p:cNvSpPr txBox="1"/>
          <p:nvPr/>
        </p:nvSpPr>
        <p:spPr>
          <a:xfrm>
            <a:off x="793750" y="1706595"/>
            <a:ext cx="4839786" cy="369332"/>
          </a:xfrm>
          <a:prstGeom prst="rect">
            <a:avLst/>
          </a:prstGeom>
          <a:noFill/>
        </p:spPr>
        <p:txBody>
          <a:bodyPr wrap="none" rtlCol="0">
            <a:spAutoFit/>
          </a:bodyPr>
          <a:lstStyle/>
          <a:p>
            <a:r>
              <a:rPr lang="es-ES" dirty="0"/>
              <a:t>Series Temporales Parcialmente Observadas</a:t>
            </a:r>
          </a:p>
        </p:txBody>
      </p:sp>
      <p:sp>
        <p:nvSpPr>
          <p:cNvPr id="3" name="Marcador de número de diapositiva 2">
            <a:extLst>
              <a:ext uri="{FF2B5EF4-FFF2-40B4-BE49-F238E27FC236}">
                <a16:creationId xmlns:a16="http://schemas.microsoft.com/office/drawing/2014/main" id="{57ABB546-86D0-2AD9-A4FB-7861D94E9665}"/>
              </a:ext>
            </a:extLst>
          </p:cNvPr>
          <p:cNvSpPr>
            <a:spLocks noGrp="1"/>
          </p:cNvSpPr>
          <p:nvPr>
            <p:ph type="sldNum" sz="quarter" idx="7"/>
          </p:nvPr>
        </p:nvSpPr>
        <p:spPr>
          <a:xfrm>
            <a:off x="9195643" y="6656892"/>
            <a:ext cx="237490" cy="141064"/>
          </a:xfrm>
        </p:spPr>
        <p:txBody>
          <a:bodyPr/>
          <a:lstStyle/>
          <a:p>
            <a:pPr marL="111760">
              <a:lnSpc>
                <a:spcPts val="1120"/>
              </a:lnSpc>
            </a:pPr>
            <a:fld id="{81D60167-4931-47E6-BA6A-407CBD079E47}" type="slidenum">
              <a:rPr lang="es-ES" spc="-50" smtClean="0">
                <a:solidFill>
                  <a:schemeClr val="tx1"/>
                </a:solidFill>
              </a:rPr>
              <a:t>5</a:t>
            </a:fld>
            <a:endParaRPr lang="es-ES" spc="-50" dirty="0">
              <a:solidFill>
                <a:schemeClr val="tx1"/>
              </a:solidFill>
            </a:endParaRPr>
          </a:p>
        </p:txBody>
      </p:sp>
      <p:sp>
        <p:nvSpPr>
          <p:cNvPr id="4" name="CuadroTexto 3">
            <a:extLst>
              <a:ext uri="{FF2B5EF4-FFF2-40B4-BE49-F238E27FC236}">
                <a16:creationId xmlns:a16="http://schemas.microsoft.com/office/drawing/2014/main" id="{35AF2626-D5B9-7E9F-DFD9-BB1CBFE1708B}"/>
              </a:ext>
            </a:extLst>
          </p:cNvPr>
          <p:cNvSpPr txBox="1"/>
          <p:nvPr/>
        </p:nvSpPr>
        <p:spPr>
          <a:xfrm>
            <a:off x="1154190" y="249521"/>
            <a:ext cx="1441420" cy="369332"/>
          </a:xfrm>
          <a:prstGeom prst="rect">
            <a:avLst/>
          </a:prstGeom>
          <a:noFill/>
        </p:spPr>
        <p:txBody>
          <a:bodyPr wrap="none" rtlCol="0">
            <a:spAutoFit/>
          </a:bodyPr>
          <a:lstStyle/>
          <a:p>
            <a:r>
              <a:rPr lang="es-ES" dirty="0"/>
              <a:t>Introducción</a:t>
            </a:r>
          </a:p>
        </p:txBody>
      </p:sp>
      <p:sp>
        <p:nvSpPr>
          <p:cNvPr id="5" name="Rectángulo 4" descr="Clapper board">
            <a:extLst>
              <a:ext uri="{FF2B5EF4-FFF2-40B4-BE49-F238E27FC236}">
                <a16:creationId xmlns:a16="http://schemas.microsoft.com/office/drawing/2014/main" id="{39E853CA-CFDE-4EA4-F4EE-2174CB6F63E7}"/>
              </a:ext>
            </a:extLst>
          </p:cNvPr>
          <p:cNvSpPr/>
          <p:nvPr/>
        </p:nvSpPr>
        <p:spPr>
          <a:xfrm>
            <a:off x="481845" y="253234"/>
            <a:ext cx="365619" cy="365619"/>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s-ES" dirty="0"/>
          </a:p>
        </p:txBody>
      </p:sp>
      <p:sp>
        <p:nvSpPr>
          <p:cNvPr id="6" name="Elipse 5">
            <a:extLst>
              <a:ext uri="{FF2B5EF4-FFF2-40B4-BE49-F238E27FC236}">
                <a16:creationId xmlns:a16="http://schemas.microsoft.com/office/drawing/2014/main" id="{0FF53702-1286-F3DB-F090-C7A8E886C2D5}"/>
              </a:ext>
            </a:extLst>
          </p:cNvPr>
          <p:cNvSpPr/>
          <p:nvPr/>
        </p:nvSpPr>
        <p:spPr>
          <a:xfrm>
            <a:off x="2201140" y="3924300"/>
            <a:ext cx="788940" cy="11430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15" name="Conector angular 14">
            <a:extLst>
              <a:ext uri="{FF2B5EF4-FFF2-40B4-BE49-F238E27FC236}">
                <a16:creationId xmlns:a16="http://schemas.microsoft.com/office/drawing/2014/main" id="{B689ED17-20AD-B50D-7B95-11FDF3C0393B}"/>
              </a:ext>
            </a:extLst>
          </p:cNvPr>
          <p:cNvCxnSpPr>
            <a:cxnSpLocks/>
          </p:cNvCxnSpPr>
          <p:nvPr/>
        </p:nvCxnSpPr>
        <p:spPr>
          <a:xfrm rot="16200000" flipH="1">
            <a:off x="2314160" y="5463216"/>
            <a:ext cx="1284073" cy="514893"/>
          </a:xfrm>
          <a:prstGeom prst="bentConnector3">
            <a:avLst>
              <a:gd name="adj1" fmla="val 10004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4DA0FA4F-16BB-1038-1249-E12EBBB04261}"/>
              </a:ext>
            </a:extLst>
          </p:cNvPr>
          <p:cNvSpPr txBox="1"/>
          <p:nvPr/>
        </p:nvSpPr>
        <p:spPr>
          <a:xfrm>
            <a:off x="3496962" y="6351373"/>
            <a:ext cx="184731" cy="369332"/>
          </a:xfrm>
          <a:prstGeom prst="rect">
            <a:avLst/>
          </a:prstGeom>
          <a:noFill/>
        </p:spPr>
        <p:txBody>
          <a:bodyPr wrap="none" rtlCol="0">
            <a:spAutoFit/>
          </a:bodyPr>
          <a:lstStyle/>
          <a:p>
            <a:endParaRPr lang="es-ES" dirty="0"/>
          </a:p>
        </p:txBody>
      </p:sp>
      <p:sp>
        <p:nvSpPr>
          <p:cNvPr id="34" name="CuadroTexto 33">
            <a:extLst>
              <a:ext uri="{FF2B5EF4-FFF2-40B4-BE49-F238E27FC236}">
                <a16:creationId xmlns:a16="http://schemas.microsoft.com/office/drawing/2014/main" id="{6CEF8E7D-93C5-0B07-E1B7-463F896BEAD9}"/>
              </a:ext>
            </a:extLst>
          </p:cNvPr>
          <p:cNvSpPr txBox="1"/>
          <p:nvPr/>
        </p:nvSpPr>
        <p:spPr>
          <a:xfrm>
            <a:off x="3226858" y="6136845"/>
            <a:ext cx="1800493" cy="369332"/>
          </a:xfrm>
          <a:prstGeom prst="rect">
            <a:avLst/>
          </a:prstGeom>
          <a:noFill/>
        </p:spPr>
        <p:txBody>
          <a:bodyPr wrap="none" rtlCol="0">
            <a:spAutoFit/>
          </a:bodyPr>
          <a:lstStyle/>
          <a:p>
            <a:r>
              <a:rPr lang="es-ES" dirty="0"/>
              <a:t>Datos Faltantes</a:t>
            </a:r>
          </a:p>
        </p:txBody>
      </p:sp>
    </p:spTree>
    <p:extLst>
      <p:ext uri="{BB962C8B-B14F-4D97-AF65-F5344CB8AC3E}">
        <p14:creationId xmlns:p14="http://schemas.microsoft.com/office/powerpoint/2010/main" val="7160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509921" cy="6934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descr="Diana">
            <a:extLst>
              <a:ext uri="{FF2B5EF4-FFF2-40B4-BE49-F238E27FC236}">
                <a16:creationId xmlns:a16="http://schemas.microsoft.com/office/drawing/2014/main" id="{4830A103-0984-4D3E-90FE-B20EA5FA2A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81699" y="1428678"/>
            <a:ext cx="4076844" cy="4076844"/>
          </a:xfrm>
          <a:prstGeom prst="rect">
            <a:avLst/>
          </a:prstGeom>
        </p:spPr>
      </p:pic>
      <p:sp>
        <p:nvSpPr>
          <p:cNvPr id="7" name="CuadroTexto 6">
            <a:extLst>
              <a:ext uri="{FF2B5EF4-FFF2-40B4-BE49-F238E27FC236}">
                <a16:creationId xmlns:a16="http://schemas.microsoft.com/office/drawing/2014/main" id="{E12418B0-1FFA-029D-39A3-52156696F037}"/>
              </a:ext>
            </a:extLst>
          </p:cNvPr>
          <p:cNvSpPr txBox="1"/>
          <p:nvPr/>
        </p:nvSpPr>
        <p:spPr>
          <a:xfrm>
            <a:off x="547473" y="1492278"/>
            <a:ext cx="4970677" cy="1290097"/>
          </a:xfrm>
          <a:prstGeom prst="rect">
            <a:avLst/>
          </a:prstGeom>
          <a:noFill/>
        </p:spPr>
        <p:txBody>
          <a:bodyPr wrap="square">
            <a:spAutoFit/>
          </a:bodyPr>
          <a:lstStyle/>
          <a:p>
            <a:pPr marL="12700">
              <a:lnSpc>
                <a:spcPct val="100000"/>
              </a:lnSpc>
              <a:spcBef>
                <a:spcPts val="650"/>
              </a:spcBef>
            </a:pPr>
            <a:r>
              <a:rPr lang="es-ES" sz="1800" b="1" spc="-10" dirty="0">
                <a:solidFill>
                  <a:srgbClr val="333333"/>
                </a:solidFill>
                <a:latin typeface="Microsoft Sans Serif"/>
                <a:cs typeface="Microsoft Sans Serif"/>
              </a:rPr>
              <a:t>Pregunta de investigación:</a:t>
            </a:r>
          </a:p>
          <a:p>
            <a:pPr marL="12700">
              <a:lnSpc>
                <a:spcPct val="100000"/>
              </a:lnSpc>
              <a:spcBef>
                <a:spcPts val="650"/>
              </a:spcBef>
            </a:pPr>
            <a:r>
              <a:rPr lang="es-ES" sz="1800" spc="-10" dirty="0">
                <a:solidFill>
                  <a:srgbClr val="333333"/>
                </a:solidFill>
                <a:latin typeface="Microsoft Sans Serif"/>
                <a:cs typeface="Microsoft Sans Serif"/>
              </a:rPr>
              <a:t>¿En qué medida los diversos métodos de imputación pueden recuperar eficazmente valores faltantes? ¿Y Transformer?</a:t>
            </a:r>
            <a:endParaRPr lang="es-ES" sz="1800" dirty="0">
              <a:latin typeface="Microsoft Sans Serif"/>
              <a:cs typeface="Microsoft Sans Serif"/>
            </a:endParaRPr>
          </a:p>
        </p:txBody>
      </p:sp>
      <p:sp>
        <p:nvSpPr>
          <p:cNvPr id="8" name="object 2">
            <a:extLst>
              <a:ext uri="{FF2B5EF4-FFF2-40B4-BE49-F238E27FC236}">
                <a16:creationId xmlns:a16="http://schemas.microsoft.com/office/drawing/2014/main" id="{1E476370-FDFB-B7FD-023E-48D7F2D7C92F}"/>
              </a:ext>
            </a:extLst>
          </p:cNvPr>
          <p:cNvSpPr txBox="1">
            <a:spLocks/>
          </p:cNvSpPr>
          <p:nvPr/>
        </p:nvSpPr>
        <p:spPr>
          <a:xfrm>
            <a:off x="2100305" y="647700"/>
            <a:ext cx="5322845" cy="507189"/>
          </a:xfrm>
          <a:prstGeom prst="rect">
            <a:avLst/>
          </a:prstGeom>
        </p:spPr>
        <p:txBody>
          <a:bodyPr vert="horz" wrap="square" lIns="0" tIns="14604" rIns="0" bIns="0" rtlCol="0">
            <a:spAutoFit/>
          </a:bodyPr>
          <a:lstStyle>
            <a:lvl1pPr>
              <a:defRPr sz="4500" b="0" i="0">
                <a:solidFill>
                  <a:srgbClr val="0056B3"/>
                </a:solidFill>
                <a:latin typeface="Arial MT"/>
                <a:ea typeface="+mj-ea"/>
                <a:cs typeface="Arial MT"/>
              </a:defRPr>
            </a:lvl1pPr>
          </a:lstStyle>
          <a:p>
            <a:pPr marL="12700">
              <a:spcBef>
                <a:spcPts val="114"/>
              </a:spcBef>
            </a:pPr>
            <a:r>
              <a:rPr lang="es-ES" sz="3200" spc="15" dirty="0"/>
              <a:t>I. Objetivos del Trabajo</a:t>
            </a:r>
            <a:endParaRPr lang="es-ES" sz="3200" spc="50" dirty="0"/>
          </a:p>
        </p:txBody>
      </p:sp>
      <p:sp>
        <p:nvSpPr>
          <p:cNvPr id="12" name="CuadroTexto 11">
            <a:extLst>
              <a:ext uri="{FF2B5EF4-FFF2-40B4-BE49-F238E27FC236}">
                <a16:creationId xmlns:a16="http://schemas.microsoft.com/office/drawing/2014/main" id="{2F970B92-8862-2A74-77B2-C31F1D5263D4}"/>
              </a:ext>
            </a:extLst>
          </p:cNvPr>
          <p:cNvSpPr txBox="1"/>
          <p:nvPr/>
        </p:nvSpPr>
        <p:spPr>
          <a:xfrm>
            <a:off x="533915" y="3224910"/>
            <a:ext cx="4742077" cy="2585323"/>
          </a:xfrm>
          <a:prstGeom prst="rect">
            <a:avLst/>
          </a:prstGeom>
          <a:noFill/>
        </p:spPr>
        <p:txBody>
          <a:bodyPr wrap="square" rtlCol="0">
            <a:spAutoFit/>
          </a:bodyPr>
          <a:lstStyle/>
          <a:p>
            <a:r>
              <a:rPr lang="es-ES" b="1" dirty="0"/>
              <a:t>Principal: </a:t>
            </a:r>
            <a:r>
              <a:rPr lang="es-ES" dirty="0"/>
              <a:t>Estudio de Modelos Transformer para imputar series temporales.</a:t>
            </a:r>
          </a:p>
          <a:p>
            <a:endParaRPr lang="es-ES" dirty="0"/>
          </a:p>
          <a:p>
            <a:r>
              <a:rPr lang="es-ES" b="1" dirty="0"/>
              <a:t>Específicos:</a:t>
            </a:r>
          </a:p>
          <a:p>
            <a:endParaRPr lang="es-ES" dirty="0"/>
          </a:p>
          <a:p>
            <a:pPr marL="285750" indent="-285750">
              <a:buFont typeface="Arial" panose="020B0604020202020204" pitchFamily="34" charset="0"/>
              <a:buChar char="•"/>
            </a:pPr>
            <a:r>
              <a:rPr lang="es-ES" dirty="0"/>
              <a:t>Análisis del Estado del Arte</a:t>
            </a:r>
          </a:p>
          <a:p>
            <a:pPr marL="285750" indent="-285750">
              <a:buFont typeface="Arial" panose="020B0604020202020204" pitchFamily="34" charset="0"/>
              <a:buChar char="•"/>
            </a:pPr>
            <a:r>
              <a:rPr lang="es-ES" dirty="0"/>
              <a:t>Fundamentación Matemática.</a:t>
            </a:r>
          </a:p>
          <a:p>
            <a:pPr marL="285750" indent="-285750">
              <a:buFont typeface="Arial" panose="020B0604020202020204" pitchFamily="34" charset="0"/>
              <a:buChar char="•"/>
            </a:pPr>
            <a:r>
              <a:rPr lang="es-ES" dirty="0"/>
              <a:t>Desarrollo del Pipeline y Paquete Python.</a:t>
            </a:r>
          </a:p>
          <a:p>
            <a:pPr marL="285750" indent="-285750">
              <a:buFont typeface="Arial" panose="020B0604020202020204" pitchFamily="34" charset="0"/>
              <a:buChar char="•"/>
            </a:pPr>
            <a:r>
              <a:rPr lang="es-ES" dirty="0"/>
              <a:t>Evaluación del Rendimiento.</a:t>
            </a:r>
          </a:p>
        </p:txBody>
      </p:sp>
      <p:sp>
        <p:nvSpPr>
          <p:cNvPr id="2" name="Marcador de número de diapositiva 1">
            <a:extLst>
              <a:ext uri="{FF2B5EF4-FFF2-40B4-BE49-F238E27FC236}">
                <a16:creationId xmlns:a16="http://schemas.microsoft.com/office/drawing/2014/main" id="{5BCA5D81-B341-BA28-A6E0-EAA2C0E1A51F}"/>
              </a:ext>
            </a:extLst>
          </p:cNvPr>
          <p:cNvSpPr>
            <a:spLocks noGrp="1"/>
          </p:cNvSpPr>
          <p:nvPr>
            <p:ph type="sldNum" sz="quarter" idx="7"/>
          </p:nvPr>
        </p:nvSpPr>
        <p:spPr>
          <a:xfrm>
            <a:off x="9195643" y="6656892"/>
            <a:ext cx="237490" cy="141064"/>
          </a:xfrm>
        </p:spPr>
        <p:txBody>
          <a:bodyPr/>
          <a:lstStyle/>
          <a:p>
            <a:pPr marL="111760">
              <a:lnSpc>
                <a:spcPts val="1120"/>
              </a:lnSpc>
            </a:pPr>
            <a:fld id="{81D60167-4931-47E6-BA6A-407CBD079E47}" type="slidenum">
              <a:rPr lang="es-ES" spc="-50" smtClean="0">
                <a:solidFill>
                  <a:schemeClr val="tx1"/>
                </a:solidFill>
              </a:rPr>
              <a:t>6</a:t>
            </a:fld>
            <a:endParaRPr lang="es-ES" spc="-50" dirty="0">
              <a:solidFill>
                <a:schemeClr val="tx1"/>
              </a:solidFill>
            </a:endParaRPr>
          </a:p>
        </p:txBody>
      </p:sp>
      <p:sp>
        <p:nvSpPr>
          <p:cNvPr id="4" name="CuadroTexto 3">
            <a:extLst>
              <a:ext uri="{FF2B5EF4-FFF2-40B4-BE49-F238E27FC236}">
                <a16:creationId xmlns:a16="http://schemas.microsoft.com/office/drawing/2014/main" id="{D4B2101E-38C9-5BB3-DED2-31EB8B61F1E7}"/>
              </a:ext>
            </a:extLst>
          </p:cNvPr>
          <p:cNvSpPr txBox="1"/>
          <p:nvPr/>
        </p:nvSpPr>
        <p:spPr>
          <a:xfrm>
            <a:off x="1154190" y="249521"/>
            <a:ext cx="1441420" cy="369332"/>
          </a:xfrm>
          <a:prstGeom prst="rect">
            <a:avLst/>
          </a:prstGeom>
          <a:noFill/>
        </p:spPr>
        <p:txBody>
          <a:bodyPr wrap="none" rtlCol="0">
            <a:spAutoFit/>
          </a:bodyPr>
          <a:lstStyle/>
          <a:p>
            <a:r>
              <a:rPr lang="es-ES" dirty="0"/>
              <a:t>Introducción</a:t>
            </a:r>
          </a:p>
        </p:txBody>
      </p:sp>
      <p:sp>
        <p:nvSpPr>
          <p:cNvPr id="5" name="Rectángulo 4" descr="Clapper board">
            <a:extLst>
              <a:ext uri="{FF2B5EF4-FFF2-40B4-BE49-F238E27FC236}">
                <a16:creationId xmlns:a16="http://schemas.microsoft.com/office/drawing/2014/main" id="{A800FBD9-15BB-5FD0-B648-B79604A03390}"/>
              </a:ext>
            </a:extLst>
          </p:cNvPr>
          <p:cNvSpPr/>
          <p:nvPr/>
        </p:nvSpPr>
        <p:spPr>
          <a:xfrm>
            <a:off x="481845" y="253234"/>
            <a:ext cx="365619" cy="365619"/>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s-E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65937" y="718215"/>
            <a:ext cx="6172199" cy="507189"/>
          </a:xfrm>
          <a:prstGeom prst="rect">
            <a:avLst/>
          </a:prstGeom>
        </p:spPr>
        <p:txBody>
          <a:bodyPr vert="horz" wrap="square" lIns="0" tIns="14604" rIns="0" bIns="0" rtlCol="0">
            <a:spAutoFit/>
          </a:bodyPr>
          <a:lstStyle/>
          <a:p>
            <a:pPr marL="12700">
              <a:lnSpc>
                <a:spcPct val="100000"/>
              </a:lnSpc>
              <a:spcBef>
                <a:spcPts val="114"/>
              </a:spcBef>
            </a:pPr>
            <a:r>
              <a:rPr lang="es-ES" sz="3200" spc="50" dirty="0"/>
              <a:t>I. El Problema de la Imputación</a:t>
            </a:r>
            <a:endParaRPr sz="3200" spc="50" dirty="0"/>
          </a:p>
        </p:txBody>
      </p:sp>
      <p:pic>
        <p:nvPicPr>
          <p:cNvPr id="6" name="Imagen 5">
            <a:extLst>
              <a:ext uri="{FF2B5EF4-FFF2-40B4-BE49-F238E27FC236}">
                <a16:creationId xmlns:a16="http://schemas.microsoft.com/office/drawing/2014/main" id="{FA7007AA-8240-1640-96C8-F7982D9805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0904" y="1519304"/>
            <a:ext cx="4214290" cy="507189"/>
          </a:xfrm>
          <a:prstGeom prst="rect">
            <a:avLst/>
          </a:prstGeom>
          <a:solidFill>
            <a:schemeClr val="bg1"/>
          </a:solidFill>
        </p:spPr>
      </p:pic>
      <p:pic>
        <p:nvPicPr>
          <p:cNvPr id="16" name="Imagen 15" descr="Forma&#10;&#10;El contenido generado por IA puede ser incorrecto.">
            <a:extLst>
              <a:ext uri="{FF2B5EF4-FFF2-40B4-BE49-F238E27FC236}">
                <a16:creationId xmlns:a16="http://schemas.microsoft.com/office/drawing/2014/main" id="{C628DAD4-0038-1BDC-B1A1-83F6D6FEC8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3347" y="5803257"/>
            <a:ext cx="649431" cy="236772"/>
          </a:xfrm>
          <a:prstGeom prst="rect">
            <a:avLst/>
          </a:prstGeom>
        </p:spPr>
      </p:pic>
      <p:sp>
        <p:nvSpPr>
          <p:cNvPr id="30" name="CuadroTexto 29">
            <a:extLst>
              <a:ext uri="{FF2B5EF4-FFF2-40B4-BE49-F238E27FC236}">
                <a16:creationId xmlns:a16="http://schemas.microsoft.com/office/drawing/2014/main" id="{501E1637-9445-0D5A-71FD-EF29E900719A}"/>
              </a:ext>
            </a:extLst>
          </p:cNvPr>
          <p:cNvSpPr txBox="1"/>
          <p:nvPr/>
        </p:nvSpPr>
        <p:spPr>
          <a:xfrm>
            <a:off x="2610904" y="5578364"/>
            <a:ext cx="5033333" cy="923330"/>
          </a:xfrm>
          <a:prstGeom prst="rect">
            <a:avLst/>
          </a:prstGeom>
          <a:noFill/>
        </p:spPr>
        <p:txBody>
          <a:bodyPr wrap="square" rtlCol="0">
            <a:spAutoFit/>
          </a:bodyPr>
          <a:lstStyle/>
          <a:p>
            <a:r>
              <a:rPr lang="es-ES" dirty="0"/>
              <a:t>Máscara binaria que indica con 1s donde se eliminaron valores artificialmente y 0s donde hay valores observados o faltantes naturales.</a:t>
            </a:r>
          </a:p>
        </p:txBody>
      </p:sp>
      <p:pic>
        <p:nvPicPr>
          <p:cNvPr id="11" name="Imagen 10" descr="Gráfico&#10;&#10;El contenido generado por IA puede ser incorrecto.">
            <a:extLst>
              <a:ext uri="{FF2B5EF4-FFF2-40B4-BE49-F238E27FC236}">
                <a16:creationId xmlns:a16="http://schemas.microsoft.com/office/drawing/2014/main" id="{30624731-3EAF-A4A7-FA27-16710F08AB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6405" y="2095500"/>
            <a:ext cx="8631264" cy="3413857"/>
          </a:xfrm>
          <a:prstGeom prst="rect">
            <a:avLst/>
          </a:prstGeom>
        </p:spPr>
      </p:pic>
      <p:sp>
        <p:nvSpPr>
          <p:cNvPr id="3" name="Marcador de número de diapositiva 2">
            <a:extLst>
              <a:ext uri="{FF2B5EF4-FFF2-40B4-BE49-F238E27FC236}">
                <a16:creationId xmlns:a16="http://schemas.microsoft.com/office/drawing/2014/main" id="{C7B5C8F2-0056-BF8C-5A66-814AB46B5C14}"/>
              </a:ext>
            </a:extLst>
          </p:cNvPr>
          <p:cNvSpPr>
            <a:spLocks noGrp="1"/>
          </p:cNvSpPr>
          <p:nvPr>
            <p:ph type="sldNum" sz="quarter" idx="7"/>
          </p:nvPr>
        </p:nvSpPr>
        <p:spPr>
          <a:xfrm>
            <a:off x="9195643" y="6656892"/>
            <a:ext cx="237490" cy="141064"/>
          </a:xfrm>
        </p:spPr>
        <p:txBody>
          <a:bodyPr/>
          <a:lstStyle/>
          <a:p>
            <a:pPr marL="111760">
              <a:lnSpc>
                <a:spcPts val="1120"/>
              </a:lnSpc>
            </a:pPr>
            <a:fld id="{81D60167-4931-47E6-BA6A-407CBD079E47}" type="slidenum">
              <a:rPr lang="es-ES" spc="-50" smtClean="0">
                <a:solidFill>
                  <a:schemeClr val="tx1"/>
                </a:solidFill>
              </a:rPr>
              <a:t>7</a:t>
            </a:fld>
            <a:endParaRPr lang="es-ES" spc="-50" dirty="0">
              <a:solidFill>
                <a:schemeClr val="tx1"/>
              </a:solidFill>
            </a:endParaRPr>
          </a:p>
        </p:txBody>
      </p:sp>
      <p:sp>
        <p:nvSpPr>
          <p:cNvPr id="4" name="CuadroTexto 3">
            <a:extLst>
              <a:ext uri="{FF2B5EF4-FFF2-40B4-BE49-F238E27FC236}">
                <a16:creationId xmlns:a16="http://schemas.microsoft.com/office/drawing/2014/main" id="{F679E210-0C12-85A6-482A-974B309B65C1}"/>
              </a:ext>
            </a:extLst>
          </p:cNvPr>
          <p:cNvSpPr txBox="1"/>
          <p:nvPr/>
        </p:nvSpPr>
        <p:spPr>
          <a:xfrm>
            <a:off x="1154190" y="249521"/>
            <a:ext cx="1441420" cy="369332"/>
          </a:xfrm>
          <a:prstGeom prst="rect">
            <a:avLst/>
          </a:prstGeom>
          <a:noFill/>
        </p:spPr>
        <p:txBody>
          <a:bodyPr wrap="none" rtlCol="0">
            <a:spAutoFit/>
          </a:bodyPr>
          <a:lstStyle/>
          <a:p>
            <a:r>
              <a:rPr lang="es-ES" dirty="0"/>
              <a:t>Introducción</a:t>
            </a:r>
          </a:p>
        </p:txBody>
      </p:sp>
      <p:sp>
        <p:nvSpPr>
          <p:cNvPr id="5" name="Rectángulo 4" descr="Clapper board">
            <a:extLst>
              <a:ext uri="{FF2B5EF4-FFF2-40B4-BE49-F238E27FC236}">
                <a16:creationId xmlns:a16="http://schemas.microsoft.com/office/drawing/2014/main" id="{35E47EC0-4EDA-7062-6DB5-C8B3E53CE31F}"/>
              </a:ext>
            </a:extLst>
          </p:cNvPr>
          <p:cNvSpPr/>
          <p:nvPr/>
        </p:nvSpPr>
        <p:spPr>
          <a:xfrm>
            <a:off x="481845" y="253234"/>
            <a:ext cx="365619" cy="365619"/>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s-E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C786BD2-3653-4D8B-E084-B120CB07F7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0124" y="4871877"/>
            <a:ext cx="4972050" cy="398053"/>
          </a:xfrm>
          <a:prstGeom prst="rect">
            <a:avLst/>
          </a:prstGeom>
        </p:spPr>
      </p:pic>
      <p:sp>
        <p:nvSpPr>
          <p:cNvPr id="7" name="CuadroTexto 6">
            <a:extLst>
              <a:ext uri="{FF2B5EF4-FFF2-40B4-BE49-F238E27FC236}">
                <a16:creationId xmlns:a16="http://schemas.microsoft.com/office/drawing/2014/main" id="{4451909A-38BD-3977-FECD-D9394D06B523}"/>
              </a:ext>
            </a:extLst>
          </p:cNvPr>
          <p:cNvSpPr txBox="1"/>
          <p:nvPr/>
        </p:nvSpPr>
        <p:spPr>
          <a:xfrm>
            <a:off x="662255" y="1664270"/>
            <a:ext cx="7855636" cy="646331"/>
          </a:xfrm>
          <a:prstGeom prst="rect">
            <a:avLst/>
          </a:prstGeom>
          <a:noFill/>
        </p:spPr>
        <p:txBody>
          <a:bodyPr wrap="square" rtlCol="0">
            <a:spAutoFit/>
          </a:bodyPr>
          <a:lstStyle/>
          <a:p>
            <a:r>
              <a:rPr lang="es-ES" dirty="0"/>
              <a:t>La eliminación artificial permite comparar los valores imputados con su valor verdadero (ground truth) mediante diversas métricas de error:</a:t>
            </a:r>
          </a:p>
        </p:txBody>
      </p:sp>
      <p:sp>
        <p:nvSpPr>
          <p:cNvPr id="13" name="object 2">
            <a:extLst>
              <a:ext uri="{FF2B5EF4-FFF2-40B4-BE49-F238E27FC236}">
                <a16:creationId xmlns:a16="http://schemas.microsoft.com/office/drawing/2014/main" id="{DBF83DEC-0C5F-D8BD-9C35-B8DC6702CA23}"/>
              </a:ext>
            </a:extLst>
          </p:cNvPr>
          <p:cNvSpPr txBox="1">
            <a:spLocks noGrp="1"/>
          </p:cNvSpPr>
          <p:nvPr>
            <p:ph type="title"/>
          </p:nvPr>
        </p:nvSpPr>
        <p:spPr>
          <a:xfrm>
            <a:off x="3079750" y="692153"/>
            <a:ext cx="6597650" cy="507189"/>
          </a:xfrm>
          <a:prstGeom prst="rect">
            <a:avLst/>
          </a:prstGeom>
        </p:spPr>
        <p:txBody>
          <a:bodyPr vert="horz" wrap="square" lIns="0" tIns="14604" rIns="0" bIns="0" rtlCol="0">
            <a:spAutoFit/>
          </a:bodyPr>
          <a:lstStyle/>
          <a:p>
            <a:pPr marL="12700">
              <a:lnSpc>
                <a:spcPct val="100000"/>
              </a:lnSpc>
              <a:spcBef>
                <a:spcPts val="114"/>
              </a:spcBef>
            </a:pPr>
            <a:r>
              <a:rPr lang="es-ES" sz="3200" spc="50" dirty="0"/>
              <a:t>I. Evaluación.</a:t>
            </a:r>
            <a:endParaRPr sz="3200" spc="50" dirty="0"/>
          </a:p>
        </p:txBody>
      </p:sp>
      <p:sp>
        <p:nvSpPr>
          <p:cNvPr id="34" name="CuadroTexto 33">
            <a:extLst>
              <a:ext uri="{FF2B5EF4-FFF2-40B4-BE49-F238E27FC236}">
                <a16:creationId xmlns:a16="http://schemas.microsoft.com/office/drawing/2014/main" id="{2AFA26C7-6A61-CAA5-6B43-917705000AE3}"/>
              </a:ext>
            </a:extLst>
          </p:cNvPr>
          <p:cNvSpPr txBox="1"/>
          <p:nvPr/>
        </p:nvSpPr>
        <p:spPr>
          <a:xfrm>
            <a:off x="662255" y="4114106"/>
            <a:ext cx="546615" cy="369332"/>
          </a:xfrm>
          <a:prstGeom prst="rect">
            <a:avLst/>
          </a:prstGeom>
          <a:noFill/>
        </p:spPr>
        <p:txBody>
          <a:bodyPr wrap="square" rtlCol="0">
            <a:spAutoFit/>
          </a:bodyPr>
          <a:lstStyle/>
          <a:p>
            <a:pPr marL="285750" indent="-285750">
              <a:buFont typeface="Arial" panose="020B0604020202020204" pitchFamily="34" charset="0"/>
              <a:buChar char="•"/>
            </a:pPr>
            <a:endParaRPr lang="es-ES" dirty="0"/>
          </a:p>
        </p:txBody>
      </p:sp>
      <p:sp>
        <p:nvSpPr>
          <p:cNvPr id="3" name="Marcador de número de diapositiva 2">
            <a:extLst>
              <a:ext uri="{FF2B5EF4-FFF2-40B4-BE49-F238E27FC236}">
                <a16:creationId xmlns:a16="http://schemas.microsoft.com/office/drawing/2014/main" id="{B8A91558-D850-ACD4-36AC-7CED4E192267}"/>
              </a:ext>
            </a:extLst>
          </p:cNvPr>
          <p:cNvSpPr>
            <a:spLocks noGrp="1"/>
          </p:cNvSpPr>
          <p:nvPr>
            <p:ph type="sldNum" sz="quarter" idx="7"/>
          </p:nvPr>
        </p:nvSpPr>
        <p:spPr>
          <a:xfrm>
            <a:off x="9195643" y="6656892"/>
            <a:ext cx="237490" cy="141064"/>
          </a:xfrm>
        </p:spPr>
        <p:txBody>
          <a:bodyPr/>
          <a:lstStyle/>
          <a:p>
            <a:pPr marL="111760">
              <a:lnSpc>
                <a:spcPts val="1120"/>
              </a:lnSpc>
            </a:pPr>
            <a:fld id="{81D60167-4931-47E6-BA6A-407CBD079E47}" type="slidenum">
              <a:rPr lang="es-ES" spc="-50" smtClean="0">
                <a:solidFill>
                  <a:schemeClr val="tx1"/>
                </a:solidFill>
              </a:rPr>
              <a:t>8</a:t>
            </a:fld>
            <a:endParaRPr lang="es-ES" spc="-50" dirty="0">
              <a:solidFill>
                <a:schemeClr val="tx1"/>
              </a:solidFill>
            </a:endParaRPr>
          </a:p>
        </p:txBody>
      </p:sp>
      <p:sp>
        <p:nvSpPr>
          <p:cNvPr id="2" name="CuadroTexto 1">
            <a:extLst>
              <a:ext uri="{FF2B5EF4-FFF2-40B4-BE49-F238E27FC236}">
                <a16:creationId xmlns:a16="http://schemas.microsoft.com/office/drawing/2014/main" id="{7B592EEB-14CE-5E66-D4F4-DDCCD4DED7B7}"/>
              </a:ext>
            </a:extLst>
          </p:cNvPr>
          <p:cNvSpPr txBox="1"/>
          <p:nvPr/>
        </p:nvSpPr>
        <p:spPr>
          <a:xfrm>
            <a:off x="1154190" y="249521"/>
            <a:ext cx="1441420" cy="369332"/>
          </a:xfrm>
          <a:prstGeom prst="rect">
            <a:avLst/>
          </a:prstGeom>
          <a:noFill/>
        </p:spPr>
        <p:txBody>
          <a:bodyPr wrap="none" rtlCol="0">
            <a:spAutoFit/>
          </a:bodyPr>
          <a:lstStyle/>
          <a:p>
            <a:r>
              <a:rPr lang="es-ES" dirty="0"/>
              <a:t>Introducción</a:t>
            </a:r>
          </a:p>
        </p:txBody>
      </p:sp>
      <p:sp>
        <p:nvSpPr>
          <p:cNvPr id="4" name="Rectángulo 3" descr="Clapper board">
            <a:extLst>
              <a:ext uri="{FF2B5EF4-FFF2-40B4-BE49-F238E27FC236}">
                <a16:creationId xmlns:a16="http://schemas.microsoft.com/office/drawing/2014/main" id="{F8931122-E838-E22A-6D1E-EF582DB0AE39}"/>
              </a:ext>
            </a:extLst>
          </p:cNvPr>
          <p:cNvSpPr/>
          <p:nvPr/>
        </p:nvSpPr>
        <p:spPr>
          <a:xfrm>
            <a:off x="481845" y="253234"/>
            <a:ext cx="365619" cy="365619"/>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s-ES"/>
          </a:p>
        </p:txBody>
      </p:sp>
      <p:pic>
        <p:nvPicPr>
          <p:cNvPr id="1026" name="Picture 2" descr="No description has been provided for this image">
            <a:extLst>
              <a:ext uri="{FF2B5EF4-FFF2-40B4-BE49-F238E27FC236}">
                <a16:creationId xmlns:a16="http://schemas.microsoft.com/office/drawing/2014/main" id="{4851611C-B619-BEE7-C28C-523CD9FBA82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69117"/>
          <a:stretch>
            <a:fillRect/>
          </a:stretch>
        </p:blipFill>
        <p:spPr bwMode="auto">
          <a:xfrm>
            <a:off x="398687" y="2891090"/>
            <a:ext cx="8714925" cy="1780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6877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4D2468A-A8DA-4624-AFBC-FEA1308FC4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3550" y="1692476"/>
            <a:ext cx="2743200" cy="335106"/>
          </a:xfrm>
          <a:prstGeom prst="rect">
            <a:avLst/>
          </a:prstGeom>
        </p:spPr>
      </p:pic>
      <p:sp>
        <p:nvSpPr>
          <p:cNvPr id="20" name="object 2">
            <a:extLst>
              <a:ext uri="{FF2B5EF4-FFF2-40B4-BE49-F238E27FC236}">
                <a16:creationId xmlns:a16="http://schemas.microsoft.com/office/drawing/2014/main" id="{60575185-E1DE-6612-5115-4A1A052A3CFE}"/>
              </a:ext>
            </a:extLst>
          </p:cNvPr>
          <p:cNvSpPr txBox="1">
            <a:spLocks noGrp="1"/>
          </p:cNvSpPr>
          <p:nvPr>
            <p:ph type="title"/>
          </p:nvPr>
        </p:nvSpPr>
        <p:spPr>
          <a:xfrm>
            <a:off x="2021944" y="800080"/>
            <a:ext cx="5468412" cy="322523"/>
          </a:xfrm>
          <a:prstGeom prst="rect">
            <a:avLst/>
          </a:prstGeom>
        </p:spPr>
        <p:txBody>
          <a:bodyPr vert="horz" wrap="square" lIns="0" tIns="14604" rIns="0" bIns="0" rtlCol="0">
            <a:spAutoFit/>
          </a:bodyPr>
          <a:lstStyle/>
          <a:p>
            <a:pPr marL="12700">
              <a:lnSpc>
                <a:spcPct val="100000"/>
              </a:lnSpc>
              <a:spcBef>
                <a:spcPts val="114"/>
              </a:spcBef>
            </a:pPr>
            <a:r>
              <a:rPr lang="es-ES" sz="2000" spc="50" dirty="0"/>
              <a:t> II. Taxonomía de Métodos de Imputación</a:t>
            </a:r>
            <a:endParaRPr sz="2000" spc="50" dirty="0"/>
          </a:p>
        </p:txBody>
      </p:sp>
      <p:sp>
        <p:nvSpPr>
          <p:cNvPr id="3" name="Marcador de número de diapositiva 2">
            <a:extLst>
              <a:ext uri="{FF2B5EF4-FFF2-40B4-BE49-F238E27FC236}">
                <a16:creationId xmlns:a16="http://schemas.microsoft.com/office/drawing/2014/main" id="{3EDA5AC0-351E-D85D-83F8-06744CB749B9}"/>
              </a:ext>
            </a:extLst>
          </p:cNvPr>
          <p:cNvSpPr>
            <a:spLocks noGrp="1"/>
          </p:cNvSpPr>
          <p:nvPr>
            <p:ph type="sldNum" sz="quarter" idx="7"/>
          </p:nvPr>
        </p:nvSpPr>
        <p:spPr>
          <a:xfrm>
            <a:off x="9195643" y="6656892"/>
            <a:ext cx="237490" cy="141064"/>
          </a:xfrm>
        </p:spPr>
        <p:txBody>
          <a:bodyPr/>
          <a:lstStyle/>
          <a:p>
            <a:pPr marL="111760">
              <a:lnSpc>
                <a:spcPts val="1120"/>
              </a:lnSpc>
            </a:pPr>
            <a:fld id="{81D60167-4931-47E6-BA6A-407CBD079E47}" type="slidenum">
              <a:rPr lang="es-ES" spc="-50" smtClean="0">
                <a:solidFill>
                  <a:schemeClr val="tx1"/>
                </a:solidFill>
              </a:rPr>
              <a:t>9</a:t>
            </a:fld>
            <a:endParaRPr lang="es-ES" spc="-50" dirty="0">
              <a:solidFill>
                <a:schemeClr val="tx1"/>
              </a:solidFill>
            </a:endParaRPr>
          </a:p>
        </p:txBody>
      </p:sp>
      <p:sp>
        <p:nvSpPr>
          <p:cNvPr id="2" name="Rectángulo 1" descr="Paleta">
            <a:extLst>
              <a:ext uri="{FF2B5EF4-FFF2-40B4-BE49-F238E27FC236}">
                <a16:creationId xmlns:a16="http://schemas.microsoft.com/office/drawing/2014/main" id="{CC365F86-6C00-09AE-F21E-C133DC92AD22}"/>
              </a:ext>
            </a:extLst>
          </p:cNvPr>
          <p:cNvSpPr/>
          <p:nvPr/>
        </p:nvSpPr>
        <p:spPr>
          <a:xfrm>
            <a:off x="546951" y="229468"/>
            <a:ext cx="304800" cy="376877"/>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s-ES"/>
          </a:p>
        </p:txBody>
      </p:sp>
      <p:sp>
        <p:nvSpPr>
          <p:cNvPr id="4" name="CuadroTexto 3">
            <a:extLst>
              <a:ext uri="{FF2B5EF4-FFF2-40B4-BE49-F238E27FC236}">
                <a16:creationId xmlns:a16="http://schemas.microsoft.com/office/drawing/2014/main" id="{2B281BF6-6B87-9637-93F4-319DBA771EC0}"/>
              </a:ext>
            </a:extLst>
          </p:cNvPr>
          <p:cNvSpPr txBox="1"/>
          <p:nvPr/>
        </p:nvSpPr>
        <p:spPr>
          <a:xfrm>
            <a:off x="851751" y="263610"/>
            <a:ext cx="1409360" cy="307777"/>
          </a:xfrm>
          <a:prstGeom prst="rect">
            <a:avLst/>
          </a:prstGeom>
          <a:noFill/>
        </p:spPr>
        <p:txBody>
          <a:bodyPr wrap="none" rtlCol="0">
            <a:spAutoFit/>
          </a:bodyPr>
          <a:lstStyle/>
          <a:p>
            <a:r>
              <a:rPr lang="es-ES" sz="1400" dirty="0">
                <a:solidFill>
                  <a:schemeClr val="bg1">
                    <a:lumMod val="50000"/>
                  </a:schemeClr>
                </a:solidFill>
              </a:rPr>
              <a:t>Estado del Arte</a:t>
            </a:r>
          </a:p>
        </p:txBody>
      </p:sp>
      <p:graphicFrame>
        <p:nvGraphicFramePr>
          <p:cNvPr id="6" name="Tabla 5">
            <a:extLst>
              <a:ext uri="{FF2B5EF4-FFF2-40B4-BE49-F238E27FC236}">
                <a16:creationId xmlns:a16="http://schemas.microsoft.com/office/drawing/2014/main" id="{4B325303-A255-5F35-E371-E5C5A9B26AA7}"/>
              </a:ext>
            </a:extLst>
          </p:cNvPr>
          <p:cNvGraphicFramePr>
            <a:graphicFrameLocks noGrp="1"/>
          </p:cNvGraphicFramePr>
          <p:nvPr>
            <p:extLst>
              <p:ext uri="{D42A27DB-BD31-4B8C-83A1-F6EECF244321}">
                <p14:modId xmlns:p14="http://schemas.microsoft.com/office/powerpoint/2010/main" val="791587180"/>
              </p:ext>
            </p:extLst>
          </p:nvPr>
        </p:nvGraphicFramePr>
        <p:xfrm>
          <a:off x="2515658" y="2597455"/>
          <a:ext cx="3718984" cy="3383280"/>
        </p:xfrm>
        <a:graphic>
          <a:graphicData uri="http://schemas.openxmlformats.org/drawingml/2006/table">
            <a:tbl>
              <a:tblPr firstRow="1" bandRow="1">
                <a:tableStyleId>{5C22544A-7EE6-4342-B048-85BDC9FD1C3A}</a:tableStyleId>
              </a:tblPr>
              <a:tblGrid>
                <a:gridCol w="3718984">
                  <a:extLst>
                    <a:ext uri="{9D8B030D-6E8A-4147-A177-3AD203B41FA5}">
                      <a16:colId xmlns:a16="http://schemas.microsoft.com/office/drawing/2014/main" val="1307121868"/>
                    </a:ext>
                  </a:extLst>
                </a:gridCol>
              </a:tblGrid>
              <a:tr h="239855">
                <a:tc>
                  <a:txBody>
                    <a:bodyPr/>
                    <a:lstStyle/>
                    <a:p>
                      <a:r>
                        <a:rPr lang="es-ES" dirty="0"/>
                        <a:t>Clasificación</a:t>
                      </a:r>
                    </a:p>
                  </a:txBody>
                  <a:tcPr/>
                </a:tc>
                <a:extLst>
                  <a:ext uri="{0D108BD9-81ED-4DB2-BD59-A6C34878D82A}">
                    <a16:rowId xmlns:a16="http://schemas.microsoft.com/office/drawing/2014/main" val="1468040270"/>
                  </a:ext>
                </a:extLst>
              </a:tr>
              <a:tr h="413996">
                <a:tc>
                  <a:txBody>
                    <a:bodyPr/>
                    <a:lstStyle/>
                    <a:p>
                      <a:pPr marL="0" indent="0">
                        <a:buFont typeface="Arial" panose="020B0604020202020204" pitchFamily="34" charset="0"/>
                        <a:buNone/>
                      </a:pPr>
                      <a:endParaRPr lang="es-ES" sz="1800" dirty="0"/>
                    </a:p>
                    <a:p>
                      <a:pPr marL="0" indent="0">
                        <a:buFont typeface="Arial" panose="020B0604020202020204" pitchFamily="34" charset="0"/>
                        <a:buNone/>
                      </a:pPr>
                      <a:r>
                        <a:rPr lang="es-ES" sz="1800" dirty="0"/>
                        <a:t>Estacionarios</a:t>
                      </a:r>
                    </a:p>
                    <a:p>
                      <a:pPr marL="0" indent="0">
                        <a:buFont typeface="Arial" panose="020B0604020202020204" pitchFamily="34" charset="0"/>
                        <a:buNone/>
                      </a:pPr>
                      <a:endParaRPr lang="es-ES" sz="1800" dirty="0"/>
                    </a:p>
                  </a:txBody>
                  <a:tcPr/>
                </a:tc>
                <a:extLst>
                  <a:ext uri="{0D108BD9-81ED-4DB2-BD59-A6C34878D82A}">
                    <a16:rowId xmlns:a16="http://schemas.microsoft.com/office/drawing/2014/main" val="1676282190"/>
                  </a:ext>
                </a:extLst>
              </a:tr>
              <a:tr h="591423">
                <a:tc>
                  <a:txBody>
                    <a:bodyPr/>
                    <a:lstStyle/>
                    <a:p>
                      <a:pPr marL="0" indent="0">
                        <a:buFont typeface="Arial" panose="020B0604020202020204" pitchFamily="34" charset="0"/>
                        <a:buNone/>
                      </a:pPr>
                      <a:endParaRPr lang="es-ES" sz="1800" dirty="0"/>
                    </a:p>
                    <a:p>
                      <a:pPr marL="0" indent="0">
                        <a:buFont typeface="Arial" panose="020B0604020202020204" pitchFamily="34" charset="0"/>
                        <a:buNone/>
                      </a:pPr>
                      <a:r>
                        <a:rPr lang="es-ES" sz="1800" dirty="0"/>
                        <a:t>Con Información Local</a:t>
                      </a:r>
                    </a:p>
                    <a:p>
                      <a:pPr marL="0" indent="0">
                        <a:buFont typeface="Arial" panose="020B0604020202020204" pitchFamily="34" charset="0"/>
                        <a:buNone/>
                      </a:pPr>
                      <a:endParaRPr lang="es-ES" sz="1800" dirty="0"/>
                    </a:p>
                  </a:txBody>
                  <a:tcPr/>
                </a:tc>
                <a:extLst>
                  <a:ext uri="{0D108BD9-81ED-4DB2-BD59-A6C34878D82A}">
                    <a16:rowId xmlns:a16="http://schemas.microsoft.com/office/drawing/2014/main" val="2849552"/>
                  </a:ext>
                </a:extLst>
              </a:tr>
              <a:tr h="413996">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s-ES" sz="1800" dirty="0"/>
                        <a:t>Modelos:</a:t>
                      </a:r>
                      <a:br>
                        <a:rPr lang="es-ES" sz="1800" dirty="0"/>
                      </a:br>
                      <a:r>
                        <a:rPr lang="es-ES" sz="1800" dirty="0"/>
                        <a:t>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800" dirty="0"/>
                        <a:t>Matrices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800" dirty="0"/>
                        <a:t>Deep Learning</a:t>
                      </a:r>
                      <a:endParaRPr lang="es-ES" dirty="0"/>
                    </a:p>
                  </a:txBody>
                  <a:tcPr/>
                </a:tc>
                <a:extLst>
                  <a:ext uri="{0D108BD9-81ED-4DB2-BD59-A6C34878D82A}">
                    <a16:rowId xmlns:a16="http://schemas.microsoft.com/office/drawing/2014/main" val="1823801630"/>
                  </a:ext>
                </a:extLst>
              </a:tr>
            </a:tbl>
          </a:graphicData>
        </a:graphic>
      </p:graphicFrame>
    </p:spTree>
    <p:extLst>
      <p:ext uri="{BB962C8B-B14F-4D97-AF65-F5344CB8AC3E}">
        <p14:creationId xmlns:p14="http://schemas.microsoft.com/office/powerpoint/2010/main" val="400953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1DD32D47-B441-6451-BE57-D9DD2C23ED41}"/>
              </a:ext>
            </a:extLst>
          </p:cNvPr>
          <p:cNvSpPr txBox="1">
            <a:spLocks/>
          </p:cNvSpPr>
          <p:nvPr/>
        </p:nvSpPr>
        <p:spPr>
          <a:xfrm>
            <a:off x="2450147" y="765238"/>
            <a:ext cx="6705600" cy="384078"/>
          </a:xfrm>
          <a:prstGeom prst="rect">
            <a:avLst/>
          </a:prstGeom>
        </p:spPr>
        <p:txBody>
          <a:bodyPr vert="horz" wrap="square" lIns="0" tIns="14604" rIns="0" bIns="0" rtlCol="0">
            <a:spAutoFit/>
          </a:bodyPr>
          <a:lstStyle>
            <a:lvl1pPr>
              <a:defRPr sz="4500" b="0" i="0">
                <a:solidFill>
                  <a:srgbClr val="0056B3"/>
                </a:solidFill>
                <a:latin typeface="Arial MT"/>
                <a:ea typeface="+mj-ea"/>
                <a:cs typeface="Arial MT"/>
              </a:defRPr>
            </a:lvl1pPr>
          </a:lstStyle>
          <a:p>
            <a:pPr marL="12700">
              <a:spcBef>
                <a:spcPts val="114"/>
              </a:spcBef>
            </a:pPr>
            <a:r>
              <a:rPr lang="es-ES" sz="2400" spc="50" dirty="0"/>
              <a:t>II. Taxonomía. Estacionarios</a:t>
            </a:r>
          </a:p>
        </p:txBody>
      </p:sp>
      <p:pic>
        <p:nvPicPr>
          <p:cNvPr id="7" name="Imagen 6" descr="Forma&#10;&#10;El contenido generado por IA puede ser incorrecto.">
            <a:extLst>
              <a:ext uri="{FF2B5EF4-FFF2-40B4-BE49-F238E27FC236}">
                <a16:creationId xmlns:a16="http://schemas.microsoft.com/office/drawing/2014/main" id="{9CD0C602-14BF-6495-B378-BEC8DD8ED3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8034" y="2482798"/>
            <a:ext cx="4204164" cy="963632"/>
          </a:xfrm>
          <a:prstGeom prst="rect">
            <a:avLst/>
          </a:prstGeom>
        </p:spPr>
      </p:pic>
      <p:sp>
        <p:nvSpPr>
          <p:cNvPr id="9" name="CuadroTexto 8">
            <a:extLst>
              <a:ext uri="{FF2B5EF4-FFF2-40B4-BE49-F238E27FC236}">
                <a16:creationId xmlns:a16="http://schemas.microsoft.com/office/drawing/2014/main" id="{1F0433D5-DA40-4A4C-B721-21BF0585DE0D}"/>
              </a:ext>
            </a:extLst>
          </p:cNvPr>
          <p:cNvSpPr txBox="1"/>
          <p:nvPr/>
        </p:nvSpPr>
        <p:spPr>
          <a:xfrm>
            <a:off x="768089" y="1720037"/>
            <a:ext cx="1543718" cy="400110"/>
          </a:xfrm>
          <a:prstGeom prst="rect">
            <a:avLst/>
          </a:prstGeom>
          <a:noFill/>
        </p:spPr>
        <p:txBody>
          <a:bodyPr wrap="square" rtlCol="0">
            <a:spAutoFit/>
          </a:bodyPr>
          <a:lstStyle/>
          <a:p>
            <a:r>
              <a:rPr lang="es-ES" sz="2000" dirty="0"/>
              <a:t>Media</a:t>
            </a:r>
            <a:r>
              <a:rPr lang="es-ES" sz="1200" dirty="0"/>
              <a:t> </a:t>
            </a:r>
          </a:p>
        </p:txBody>
      </p:sp>
      <p:sp>
        <p:nvSpPr>
          <p:cNvPr id="10" name="CuadroTexto 9">
            <a:extLst>
              <a:ext uri="{FF2B5EF4-FFF2-40B4-BE49-F238E27FC236}">
                <a16:creationId xmlns:a16="http://schemas.microsoft.com/office/drawing/2014/main" id="{0739377F-E18F-4198-FC24-7A9D32595967}"/>
              </a:ext>
            </a:extLst>
          </p:cNvPr>
          <p:cNvSpPr txBox="1"/>
          <p:nvPr/>
        </p:nvSpPr>
        <p:spPr>
          <a:xfrm>
            <a:off x="793750" y="3747525"/>
            <a:ext cx="1367682" cy="461665"/>
          </a:xfrm>
          <a:prstGeom prst="rect">
            <a:avLst/>
          </a:prstGeom>
          <a:noFill/>
        </p:spPr>
        <p:txBody>
          <a:bodyPr wrap="none" rtlCol="0">
            <a:spAutoFit/>
          </a:bodyPr>
          <a:lstStyle/>
          <a:p>
            <a:r>
              <a:rPr lang="es-ES" sz="2400" dirty="0"/>
              <a:t>Mediana</a:t>
            </a:r>
            <a:endParaRPr lang="es-ES" sz="2000" dirty="0"/>
          </a:p>
        </p:txBody>
      </p:sp>
      <p:pic>
        <p:nvPicPr>
          <p:cNvPr id="12" name="Imagen 11">
            <a:extLst>
              <a:ext uri="{FF2B5EF4-FFF2-40B4-BE49-F238E27FC236}">
                <a16:creationId xmlns:a16="http://schemas.microsoft.com/office/drawing/2014/main" id="{F1481887-ADE6-F2BC-CBE7-F566294CD3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1872" y="4971951"/>
            <a:ext cx="3276600" cy="337875"/>
          </a:xfrm>
          <a:prstGeom prst="rect">
            <a:avLst/>
          </a:prstGeom>
        </p:spPr>
      </p:pic>
      <p:pic>
        <p:nvPicPr>
          <p:cNvPr id="1026" name="Picture 2">
            <a:extLst>
              <a:ext uri="{FF2B5EF4-FFF2-40B4-BE49-F238E27FC236}">
                <a16:creationId xmlns:a16="http://schemas.microsoft.com/office/drawing/2014/main" id="{8268F5B7-724E-CF02-CF9C-407D94F022B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3354"/>
          <a:stretch>
            <a:fillRect/>
          </a:stretch>
        </p:blipFill>
        <p:spPr bwMode="auto">
          <a:xfrm>
            <a:off x="5518150" y="1871449"/>
            <a:ext cx="3421334" cy="3216725"/>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número de diapositiva 2">
            <a:extLst>
              <a:ext uri="{FF2B5EF4-FFF2-40B4-BE49-F238E27FC236}">
                <a16:creationId xmlns:a16="http://schemas.microsoft.com/office/drawing/2014/main" id="{7003B4D3-349F-10A1-548B-E041AA9DC0C0}"/>
              </a:ext>
            </a:extLst>
          </p:cNvPr>
          <p:cNvSpPr>
            <a:spLocks noGrp="1"/>
          </p:cNvSpPr>
          <p:nvPr>
            <p:ph type="sldNum" sz="quarter" idx="7"/>
          </p:nvPr>
        </p:nvSpPr>
        <p:spPr>
          <a:xfrm>
            <a:off x="8939484" y="6591301"/>
            <a:ext cx="464866" cy="331304"/>
          </a:xfrm>
        </p:spPr>
        <p:txBody>
          <a:bodyPr/>
          <a:lstStyle/>
          <a:p>
            <a:pPr marL="111760">
              <a:lnSpc>
                <a:spcPts val="1120"/>
              </a:lnSpc>
            </a:pPr>
            <a:r>
              <a:rPr lang="es-ES" spc="-50" dirty="0">
                <a:solidFill>
                  <a:schemeClr val="tx1"/>
                </a:solidFill>
              </a:rPr>
              <a:t>10</a:t>
            </a:r>
          </a:p>
        </p:txBody>
      </p:sp>
      <p:sp>
        <p:nvSpPr>
          <p:cNvPr id="4" name="Rectángulo 3" descr="Paleta">
            <a:extLst>
              <a:ext uri="{FF2B5EF4-FFF2-40B4-BE49-F238E27FC236}">
                <a16:creationId xmlns:a16="http://schemas.microsoft.com/office/drawing/2014/main" id="{0D2C23CE-C28C-D3BF-732B-D1B7A424C607}"/>
              </a:ext>
            </a:extLst>
          </p:cNvPr>
          <p:cNvSpPr/>
          <p:nvPr/>
        </p:nvSpPr>
        <p:spPr>
          <a:xfrm>
            <a:off x="546951" y="229468"/>
            <a:ext cx="304800" cy="376877"/>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s-ES"/>
          </a:p>
        </p:txBody>
      </p:sp>
      <p:sp>
        <p:nvSpPr>
          <p:cNvPr id="6" name="CuadroTexto 5">
            <a:extLst>
              <a:ext uri="{FF2B5EF4-FFF2-40B4-BE49-F238E27FC236}">
                <a16:creationId xmlns:a16="http://schemas.microsoft.com/office/drawing/2014/main" id="{9CF00C61-1513-27D5-5FB0-3A48F7A3953F}"/>
              </a:ext>
            </a:extLst>
          </p:cNvPr>
          <p:cNvSpPr txBox="1"/>
          <p:nvPr/>
        </p:nvSpPr>
        <p:spPr>
          <a:xfrm>
            <a:off x="851751" y="263610"/>
            <a:ext cx="1409360" cy="307777"/>
          </a:xfrm>
          <a:prstGeom prst="rect">
            <a:avLst/>
          </a:prstGeom>
          <a:noFill/>
        </p:spPr>
        <p:txBody>
          <a:bodyPr wrap="none" rtlCol="0">
            <a:spAutoFit/>
          </a:bodyPr>
          <a:lstStyle/>
          <a:p>
            <a:r>
              <a:rPr lang="es-ES" sz="1400" dirty="0">
                <a:solidFill>
                  <a:schemeClr val="bg1">
                    <a:lumMod val="50000"/>
                  </a:schemeClr>
                </a:solidFill>
              </a:rPr>
              <a:t>Estado del Arte</a:t>
            </a:r>
          </a:p>
        </p:txBody>
      </p:sp>
    </p:spTree>
    <p:extLst>
      <p:ext uri="{BB962C8B-B14F-4D97-AF65-F5344CB8AC3E}">
        <p14:creationId xmlns:p14="http://schemas.microsoft.com/office/powerpoint/2010/main" val="1634621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14249AC-7E71-8BEA-DFC1-8A901CA036A5}"/>
              </a:ext>
            </a:extLst>
          </p:cNvPr>
          <p:cNvSpPr txBox="1"/>
          <p:nvPr/>
        </p:nvSpPr>
        <p:spPr>
          <a:xfrm>
            <a:off x="501286" y="4050365"/>
            <a:ext cx="2480166" cy="369332"/>
          </a:xfrm>
          <a:prstGeom prst="rect">
            <a:avLst/>
          </a:prstGeom>
          <a:noFill/>
        </p:spPr>
        <p:txBody>
          <a:bodyPr wrap="none" rtlCol="0">
            <a:spAutoFit/>
          </a:bodyPr>
          <a:lstStyle/>
          <a:p>
            <a:r>
              <a:rPr lang="es-ES" dirty="0"/>
              <a:t>Backward Fill o NOCB</a:t>
            </a:r>
          </a:p>
        </p:txBody>
      </p:sp>
      <p:sp>
        <p:nvSpPr>
          <p:cNvPr id="10" name="CuadroTexto 9">
            <a:extLst>
              <a:ext uri="{FF2B5EF4-FFF2-40B4-BE49-F238E27FC236}">
                <a16:creationId xmlns:a16="http://schemas.microsoft.com/office/drawing/2014/main" id="{B41A5882-F72C-CD60-E047-71131E9CDFD6}"/>
              </a:ext>
            </a:extLst>
          </p:cNvPr>
          <p:cNvSpPr txBox="1"/>
          <p:nvPr/>
        </p:nvSpPr>
        <p:spPr>
          <a:xfrm>
            <a:off x="520637" y="1391028"/>
            <a:ext cx="2262158" cy="369332"/>
          </a:xfrm>
          <a:prstGeom prst="rect">
            <a:avLst/>
          </a:prstGeom>
          <a:noFill/>
        </p:spPr>
        <p:txBody>
          <a:bodyPr wrap="none" rtlCol="0">
            <a:spAutoFit/>
          </a:bodyPr>
          <a:lstStyle/>
          <a:p>
            <a:r>
              <a:rPr lang="es-ES" dirty="0"/>
              <a:t>Forward Fill o LOCF</a:t>
            </a:r>
          </a:p>
        </p:txBody>
      </p:sp>
      <p:sp>
        <p:nvSpPr>
          <p:cNvPr id="14" name="object 2">
            <a:extLst>
              <a:ext uri="{FF2B5EF4-FFF2-40B4-BE49-F238E27FC236}">
                <a16:creationId xmlns:a16="http://schemas.microsoft.com/office/drawing/2014/main" id="{B9F71914-C399-FB37-9932-E52F7AE9E2D9}"/>
              </a:ext>
            </a:extLst>
          </p:cNvPr>
          <p:cNvSpPr txBox="1">
            <a:spLocks noGrp="1"/>
          </p:cNvSpPr>
          <p:nvPr>
            <p:ph type="title"/>
          </p:nvPr>
        </p:nvSpPr>
        <p:spPr>
          <a:xfrm>
            <a:off x="2782795" y="523764"/>
            <a:ext cx="4859731" cy="322523"/>
          </a:xfrm>
          <a:prstGeom prst="rect">
            <a:avLst/>
          </a:prstGeom>
        </p:spPr>
        <p:txBody>
          <a:bodyPr vert="horz" wrap="square" lIns="0" tIns="14604" rIns="0" bIns="0" rtlCol="0">
            <a:spAutoFit/>
          </a:bodyPr>
          <a:lstStyle/>
          <a:p>
            <a:pPr marL="12700">
              <a:lnSpc>
                <a:spcPct val="100000"/>
              </a:lnSpc>
              <a:spcBef>
                <a:spcPts val="114"/>
              </a:spcBef>
            </a:pPr>
            <a:r>
              <a:rPr lang="es-ES" sz="2000" spc="50" dirty="0"/>
              <a:t>II. Taxonomía. Información Local</a:t>
            </a:r>
            <a:endParaRPr sz="2000" spc="50" dirty="0"/>
          </a:p>
        </p:txBody>
      </p:sp>
      <p:pic>
        <p:nvPicPr>
          <p:cNvPr id="31" name="Imagen 30" descr="Gráfico, Gráfico de líneas&#10;&#10;El contenido generado por IA puede ser incorrecto.">
            <a:extLst>
              <a:ext uri="{FF2B5EF4-FFF2-40B4-BE49-F238E27FC236}">
                <a16:creationId xmlns:a16="http://schemas.microsoft.com/office/drawing/2014/main" id="{3D04680F-8BF3-33BF-D51E-19C740E238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0133" y="1326382"/>
            <a:ext cx="2432847" cy="2243888"/>
          </a:xfrm>
          <a:prstGeom prst="rect">
            <a:avLst/>
          </a:prstGeom>
        </p:spPr>
      </p:pic>
      <p:pic>
        <p:nvPicPr>
          <p:cNvPr id="33" name="Imagen 32" descr="Gráfico, Gráfico de líneas&#10;&#10;El contenido generado por IA puede ser incorrecto.">
            <a:extLst>
              <a:ext uri="{FF2B5EF4-FFF2-40B4-BE49-F238E27FC236}">
                <a16:creationId xmlns:a16="http://schemas.microsoft.com/office/drawing/2014/main" id="{E2351BAD-B0E5-999C-B1E2-B036ED4EF6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35140" y="4050365"/>
            <a:ext cx="2417840" cy="2230047"/>
          </a:xfrm>
          <a:prstGeom prst="rect">
            <a:avLst/>
          </a:prstGeom>
        </p:spPr>
      </p:pic>
      <p:sp>
        <p:nvSpPr>
          <p:cNvPr id="2" name="Marcador de número de diapositiva 1">
            <a:extLst>
              <a:ext uri="{FF2B5EF4-FFF2-40B4-BE49-F238E27FC236}">
                <a16:creationId xmlns:a16="http://schemas.microsoft.com/office/drawing/2014/main" id="{4C045221-FD63-E8CF-24EF-69E4EE59E2E5}"/>
              </a:ext>
            </a:extLst>
          </p:cNvPr>
          <p:cNvSpPr>
            <a:spLocks noGrp="1"/>
          </p:cNvSpPr>
          <p:nvPr>
            <p:ph type="sldNum" sz="quarter" idx="7"/>
          </p:nvPr>
        </p:nvSpPr>
        <p:spPr>
          <a:xfrm>
            <a:off x="9023350" y="6649744"/>
            <a:ext cx="409783" cy="289277"/>
          </a:xfrm>
        </p:spPr>
        <p:txBody>
          <a:bodyPr/>
          <a:lstStyle/>
          <a:p>
            <a:pPr marL="111760">
              <a:lnSpc>
                <a:spcPts val="1120"/>
              </a:lnSpc>
            </a:pPr>
            <a:r>
              <a:rPr lang="es-ES" spc="-50" dirty="0">
                <a:solidFill>
                  <a:schemeClr val="tx1"/>
                </a:solidFill>
              </a:rPr>
              <a:t>11</a:t>
            </a:r>
          </a:p>
        </p:txBody>
      </p:sp>
      <p:sp>
        <p:nvSpPr>
          <p:cNvPr id="7" name="Rectángulo 6" descr="Paleta">
            <a:extLst>
              <a:ext uri="{FF2B5EF4-FFF2-40B4-BE49-F238E27FC236}">
                <a16:creationId xmlns:a16="http://schemas.microsoft.com/office/drawing/2014/main" id="{F43A71BC-E486-A88C-CCB6-439CD6E48F20}"/>
              </a:ext>
            </a:extLst>
          </p:cNvPr>
          <p:cNvSpPr/>
          <p:nvPr/>
        </p:nvSpPr>
        <p:spPr>
          <a:xfrm>
            <a:off x="546951" y="229468"/>
            <a:ext cx="304800" cy="37687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s-ES"/>
          </a:p>
        </p:txBody>
      </p:sp>
      <p:sp>
        <p:nvSpPr>
          <p:cNvPr id="11" name="CuadroTexto 10">
            <a:extLst>
              <a:ext uri="{FF2B5EF4-FFF2-40B4-BE49-F238E27FC236}">
                <a16:creationId xmlns:a16="http://schemas.microsoft.com/office/drawing/2014/main" id="{8A87E585-7954-4231-A522-3E4B060085F5}"/>
              </a:ext>
            </a:extLst>
          </p:cNvPr>
          <p:cNvSpPr txBox="1"/>
          <p:nvPr/>
        </p:nvSpPr>
        <p:spPr>
          <a:xfrm>
            <a:off x="851751" y="263610"/>
            <a:ext cx="1409360" cy="307777"/>
          </a:xfrm>
          <a:prstGeom prst="rect">
            <a:avLst/>
          </a:prstGeom>
          <a:noFill/>
        </p:spPr>
        <p:txBody>
          <a:bodyPr wrap="none" rtlCol="0">
            <a:spAutoFit/>
          </a:bodyPr>
          <a:lstStyle/>
          <a:p>
            <a:r>
              <a:rPr lang="es-ES" sz="1400" dirty="0">
                <a:solidFill>
                  <a:schemeClr val="bg1">
                    <a:lumMod val="50000"/>
                  </a:schemeClr>
                </a:solidFill>
              </a:rPr>
              <a:t>Estado del Arte</a:t>
            </a:r>
          </a:p>
        </p:txBody>
      </p:sp>
      <p:pic>
        <p:nvPicPr>
          <p:cNvPr id="2050" name="Picture 2">
            <a:extLst>
              <a:ext uri="{FF2B5EF4-FFF2-40B4-BE49-F238E27FC236}">
                <a16:creationId xmlns:a16="http://schemas.microsoft.com/office/drawing/2014/main" id="{0F205C60-CA93-A01C-B31C-A2A6C299017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5150" y="2088234"/>
            <a:ext cx="3868160" cy="60294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3754A3C2-A195-F44E-2A34-8D85C939487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8953" y="3170181"/>
            <a:ext cx="4263398" cy="22839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D4CAE9AB-E105-41C9-5CA5-D6230CA6E89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0637" y="4705747"/>
            <a:ext cx="4692713" cy="73147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9F44EF47-1EE8-B2BE-57B1-37489E9F05A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1286" y="5905500"/>
            <a:ext cx="4340964" cy="234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4254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8CFBB6B8-FFD9-5B2F-69C6-F5746B5D8D71}"/>
              </a:ext>
            </a:extLst>
          </p:cNvPr>
          <p:cNvSpPr txBox="1">
            <a:spLocks/>
          </p:cNvSpPr>
          <p:nvPr/>
        </p:nvSpPr>
        <p:spPr>
          <a:xfrm>
            <a:off x="2261111" y="971357"/>
            <a:ext cx="6705600" cy="445634"/>
          </a:xfrm>
          <a:prstGeom prst="rect">
            <a:avLst/>
          </a:prstGeom>
        </p:spPr>
        <p:txBody>
          <a:bodyPr vert="horz" wrap="square" lIns="0" tIns="14604" rIns="0" bIns="0" rtlCol="0">
            <a:spAutoFit/>
          </a:bodyPr>
          <a:lstStyle>
            <a:lvl1pPr>
              <a:defRPr sz="4500" b="0" i="0">
                <a:solidFill>
                  <a:srgbClr val="0056B3"/>
                </a:solidFill>
                <a:latin typeface="Arial MT"/>
                <a:ea typeface="+mj-ea"/>
                <a:cs typeface="Arial MT"/>
              </a:defRPr>
            </a:lvl1pPr>
          </a:lstStyle>
          <a:p>
            <a:pPr marL="12700">
              <a:spcBef>
                <a:spcPts val="114"/>
              </a:spcBef>
            </a:pPr>
            <a:r>
              <a:rPr lang="es-ES" sz="2800" spc="50" dirty="0"/>
              <a:t>II. </a:t>
            </a:r>
            <a:r>
              <a:rPr lang="es-ES" sz="2400" spc="50" dirty="0"/>
              <a:t>Taxonomía</a:t>
            </a:r>
            <a:r>
              <a:rPr lang="es-ES" sz="2800" spc="50" dirty="0"/>
              <a:t>. Información Local. </a:t>
            </a:r>
          </a:p>
        </p:txBody>
      </p:sp>
      <p:sp>
        <p:nvSpPr>
          <p:cNvPr id="9" name="CuadroTexto 8">
            <a:extLst>
              <a:ext uri="{FF2B5EF4-FFF2-40B4-BE49-F238E27FC236}">
                <a16:creationId xmlns:a16="http://schemas.microsoft.com/office/drawing/2014/main" id="{C78E333F-90C3-04FB-34E6-E2D99B19606F}"/>
              </a:ext>
            </a:extLst>
          </p:cNvPr>
          <p:cNvSpPr txBox="1"/>
          <p:nvPr/>
        </p:nvSpPr>
        <p:spPr>
          <a:xfrm>
            <a:off x="625172" y="2005355"/>
            <a:ext cx="5248797" cy="461665"/>
          </a:xfrm>
          <a:prstGeom prst="rect">
            <a:avLst/>
          </a:prstGeom>
          <a:noFill/>
        </p:spPr>
        <p:txBody>
          <a:bodyPr wrap="square">
            <a:spAutoFit/>
          </a:bodyPr>
          <a:lstStyle/>
          <a:p>
            <a:r>
              <a:rPr lang="es-ES" sz="2400" spc="50" dirty="0"/>
              <a:t>Interpolación Lineal</a:t>
            </a:r>
            <a:endParaRPr lang="es-ES" sz="2400" dirty="0"/>
          </a:p>
        </p:txBody>
      </p:sp>
      <p:pic>
        <p:nvPicPr>
          <p:cNvPr id="11" name="Imagen 10" descr="Gráfico, Gráfico de líneas&#10;&#10;El contenido generado por IA puede ser incorrecto.">
            <a:extLst>
              <a:ext uri="{FF2B5EF4-FFF2-40B4-BE49-F238E27FC236}">
                <a16:creationId xmlns:a16="http://schemas.microsoft.com/office/drawing/2014/main" id="{EB33A98F-0E70-E91D-833E-351BE7AE7A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0550" y="2057756"/>
            <a:ext cx="2898089" cy="2898089"/>
          </a:xfrm>
          <a:prstGeom prst="rect">
            <a:avLst/>
          </a:prstGeom>
        </p:spPr>
      </p:pic>
      <p:pic>
        <p:nvPicPr>
          <p:cNvPr id="13" name="Imagen 12" descr="Forma&#10;&#10;El contenido generado por IA puede ser incorrecto.">
            <a:extLst>
              <a:ext uri="{FF2B5EF4-FFF2-40B4-BE49-F238E27FC236}">
                <a16:creationId xmlns:a16="http://schemas.microsoft.com/office/drawing/2014/main" id="{86603465-9D0B-DF93-218F-3A09016CE8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4223" y="3278201"/>
            <a:ext cx="3959528" cy="684267"/>
          </a:xfrm>
          <a:prstGeom prst="rect">
            <a:avLst/>
          </a:prstGeom>
        </p:spPr>
      </p:pic>
      <p:sp>
        <p:nvSpPr>
          <p:cNvPr id="2" name="Marcador de número de diapositiva 1">
            <a:extLst>
              <a:ext uri="{FF2B5EF4-FFF2-40B4-BE49-F238E27FC236}">
                <a16:creationId xmlns:a16="http://schemas.microsoft.com/office/drawing/2014/main" id="{21B57BFE-EAD2-F5B0-25EC-84510D8FBA1F}"/>
              </a:ext>
            </a:extLst>
          </p:cNvPr>
          <p:cNvSpPr>
            <a:spLocks noGrp="1"/>
          </p:cNvSpPr>
          <p:nvPr>
            <p:ph type="sldNum" sz="quarter" idx="7"/>
          </p:nvPr>
        </p:nvSpPr>
        <p:spPr>
          <a:xfrm>
            <a:off x="9023350" y="6591300"/>
            <a:ext cx="409783" cy="347721"/>
          </a:xfrm>
        </p:spPr>
        <p:txBody>
          <a:bodyPr/>
          <a:lstStyle/>
          <a:p>
            <a:pPr marL="111760">
              <a:lnSpc>
                <a:spcPts val="1120"/>
              </a:lnSpc>
            </a:pPr>
            <a:fld id="{81D60167-4931-47E6-BA6A-407CBD079E47}" type="slidenum">
              <a:rPr lang="es-ES" spc="-50" smtClean="0">
                <a:solidFill>
                  <a:schemeClr val="tx1"/>
                </a:solidFill>
              </a:rPr>
              <a:t>12</a:t>
            </a:fld>
            <a:endParaRPr lang="es-ES" spc="-50" dirty="0">
              <a:solidFill>
                <a:schemeClr val="tx1"/>
              </a:solidFill>
            </a:endParaRPr>
          </a:p>
        </p:txBody>
      </p:sp>
      <p:sp>
        <p:nvSpPr>
          <p:cNvPr id="5" name="Rectángulo 4" descr="Paleta">
            <a:extLst>
              <a:ext uri="{FF2B5EF4-FFF2-40B4-BE49-F238E27FC236}">
                <a16:creationId xmlns:a16="http://schemas.microsoft.com/office/drawing/2014/main" id="{3C2F3B12-7FE9-D661-7194-0909119DD26E}"/>
              </a:ext>
            </a:extLst>
          </p:cNvPr>
          <p:cNvSpPr/>
          <p:nvPr/>
        </p:nvSpPr>
        <p:spPr>
          <a:xfrm>
            <a:off x="546951" y="229468"/>
            <a:ext cx="304800" cy="37687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s-ES" dirty="0"/>
          </a:p>
        </p:txBody>
      </p:sp>
      <p:sp>
        <p:nvSpPr>
          <p:cNvPr id="6" name="CuadroTexto 5">
            <a:extLst>
              <a:ext uri="{FF2B5EF4-FFF2-40B4-BE49-F238E27FC236}">
                <a16:creationId xmlns:a16="http://schemas.microsoft.com/office/drawing/2014/main" id="{AB3B3716-4613-431A-087D-6AB8C41D4BD9}"/>
              </a:ext>
            </a:extLst>
          </p:cNvPr>
          <p:cNvSpPr txBox="1"/>
          <p:nvPr/>
        </p:nvSpPr>
        <p:spPr>
          <a:xfrm>
            <a:off x="851751" y="263610"/>
            <a:ext cx="1409360" cy="307777"/>
          </a:xfrm>
          <a:prstGeom prst="rect">
            <a:avLst/>
          </a:prstGeom>
          <a:noFill/>
        </p:spPr>
        <p:txBody>
          <a:bodyPr wrap="none" rtlCol="0">
            <a:spAutoFit/>
          </a:bodyPr>
          <a:lstStyle/>
          <a:p>
            <a:r>
              <a:rPr lang="es-ES" sz="1400" dirty="0">
                <a:solidFill>
                  <a:schemeClr val="bg1">
                    <a:lumMod val="50000"/>
                  </a:schemeClr>
                </a:solidFill>
              </a:rPr>
              <a:t>Estado del Arte</a:t>
            </a:r>
          </a:p>
        </p:txBody>
      </p:sp>
    </p:spTree>
    <p:extLst>
      <p:ext uri="{BB962C8B-B14F-4D97-AF65-F5344CB8AC3E}">
        <p14:creationId xmlns:p14="http://schemas.microsoft.com/office/powerpoint/2010/main" val="1809546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uadroTexto 13">
            <a:extLst>
              <a:ext uri="{FF2B5EF4-FFF2-40B4-BE49-F238E27FC236}">
                <a16:creationId xmlns:a16="http://schemas.microsoft.com/office/drawing/2014/main" id="{ACF74992-D948-960B-4B05-A9A81D08C6ED}"/>
              </a:ext>
            </a:extLst>
          </p:cNvPr>
          <p:cNvSpPr txBox="1"/>
          <p:nvPr/>
        </p:nvSpPr>
        <p:spPr>
          <a:xfrm>
            <a:off x="10076" y="1991418"/>
            <a:ext cx="9512300" cy="3231654"/>
          </a:xfrm>
          <a:prstGeom prst="rect">
            <a:avLst/>
          </a:prstGeom>
          <a:solidFill>
            <a:schemeClr val="accent1">
              <a:alpha val="25528"/>
            </a:schemeClr>
          </a:solidFill>
          <a:ln>
            <a:noFill/>
          </a:ln>
          <a:effectLst>
            <a:softEdge rad="244958"/>
          </a:effectLst>
        </p:spPr>
        <p:txBody>
          <a:bodyPr wrap="square" rtlCol="0">
            <a:spAutoFit/>
          </a:bodyPr>
          <a:lstStyle/>
          <a:p>
            <a:endParaRPr lang="es-ES" dirty="0"/>
          </a:p>
          <a:p>
            <a:r>
              <a:rPr lang="es-ES" dirty="0"/>
              <a:t>     </a:t>
            </a:r>
            <a:r>
              <a:rPr lang="es-ES" sz="2000" b="1" dirty="0"/>
              <a:t>Definición:</a:t>
            </a:r>
            <a:r>
              <a:rPr lang="es-ES" dirty="0"/>
              <a:t> Se define la </a:t>
            </a:r>
            <a:r>
              <a:rPr lang="es-ES" b="1" dirty="0"/>
              <a:t>Matriz de Hankel </a:t>
            </a:r>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p:txBody>
      </p:sp>
      <p:sp>
        <p:nvSpPr>
          <p:cNvPr id="5" name="object 2">
            <a:extLst>
              <a:ext uri="{FF2B5EF4-FFF2-40B4-BE49-F238E27FC236}">
                <a16:creationId xmlns:a16="http://schemas.microsoft.com/office/drawing/2014/main" id="{66330F66-25B1-936A-BCBF-C0A7DB829A14}"/>
              </a:ext>
            </a:extLst>
          </p:cNvPr>
          <p:cNvSpPr txBox="1">
            <a:spLocks/>
          </p:cNvSpPr>
          <p:nvPr/>
        </p:nvSpPr>
        <p:spPr>
          <a:xfrm>
            <a:off x="1552924" y="876536"/>
            <a:ext cx="7071904" cy="384078"/>
          </a:xfrm>
          <a:prstGeom prst="rect">
            <a:avLst/>
          </a:prstGeom>
        </p:spPr>
        <p:txBody>
          <a:bodyPr vert="horz" wrap="square" lIns="0" tIns="14604" rIns="0" bIns="0" rtlCol="0">
            <a:spAutoFit/>
          </a:bodyPr>
          <a:lstStyle>
            <a:lvl1pPr>
              <a:defRPr sz="4500" b="0" i="0">
                <a:solidFill>
                  <a:srgbClr val="0056B3"/>
                </a:solidFill>
                <a:latin typeface="Arial MT"/>
                <a:ea typeface="+mj-ea"/>
                <a:cs typeface="Arial MT"/>
              </a:defRPr>
            </a:lvl1pPr>
          </a:lstStyle>
          <a:p>
            <a:pPr marL="12700">
              <a:spcBef>
                <a:spcPts val="114"/>
              </a:spcBef>
            </a:pPr>
            <a:r>
              <a:rPr lang="es-ES" sz="2400" spc="50" dirty="0"/>
              <a:t>II. Taxonomía. Con Matrices: Hankel Imputation</a:t>
            </a:r>
          </a:p>
        </p:txBody>
      </p:sp>
      <p:pic>
        <p:nvPicPr>
          <p:cNvPr id="7" name="Imagen 6" descr="Forma&#10;&#10;El contenido generado por IA puede ser incorrecto.">
            <a:extLst>
              <a:ext uri="{FF2B5EF4-FFF2-40B4-BE49-F238E27FC236}">
                <a16:creationId xmlns:a16="http://schemas.microsoft.com/office/drawing/2014/main" id="{85ECF4B4-5AAF-2F8E-0C97-34C30EE04F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489" y="2824780"/>
            <a:ext cx="6705600" cy="1599303"/>
          </a:xfrm>
          <a:prstGeom prst="rect">
            <a:avLst/>
          </a:prstGeom>
        </p:spPr>
      </p:pic>
      <p:pic>
        <p:nvPicPr>
          <p:cNvPr id="11" name="Imagen 10">
            <a:extLst>
              <a:ext uri="{FF2B5EF4-FFF2-40B4-BE49-F238E27FC236}">
                <a16:creationId xmlns:a16="http://schemas.microsoft.com/office/drawing/2014/main" id="{D8AA321C-EA10-D412-5A27-92279108DA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7027" y="5325726"/>
            <a:ext cx="6320924" cy="425375"/>
          </a:xfrm>
          <a:prstGeom prst="rect">
            <a:avLst/>
          </a:prstGeom>
        </p:spPr>
      </p:pic>
      <p:pic>
        <p:nvPicPr>
          <p:cNvPr id="3" name="Imagen 2" descr="Forma&#10;&#10;El contenido generado por IA puede ser incorrecto.">
            <a:extLst>
              <a:ext uri="{FF2B5EF4-FFF2-40B4-BE49-F238E27FC236}">
                <a16:creationId xmlns:a16="http://schemas.microsoft.com/office/drawing/2014/main" id="{9C216489-88CB-E15C-7B7F-88973C1EF0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9256" y="1512870"/>
            <a:ext cx="2592001" cy="358548"/>
          </a:xfrm>
          <a:prstGeom prst="rect">
            <a:avLst/>
          </a:prstGeom>
        </p:spPr>
      </p:pic>
      <p:sp>
        <p:nvSpPr>
          <p:cNvPr id="9" name="CuadroTexto 8">
            <a:extLst>
              <a:ext uri="{FF2B5EF4-FFF2-40B4-BE49-F238E27FC236}">
                <a16:creationId xmlns:a16="http://schemas.microsoft.com/office/drawing/2014/main" id="{58595E37-FB31-7A9F-2F5D-A54D8E1BEC7E}"/>
              </a:ext>
            </a:extLst>
          </p:cNvPr>
          <p:cNvSpPr txBox="1"/>
          <p:nvPr/>
        </p:nvSpPr>
        <p:spPr>
          <a:xfrm>
            <a:off x="210248" y="1535519"/>
            <a:ext cx="595035" cy="369332"/>
          </a:xfrm>
          <a:prstGeom prst="rect">
            <a:avLst/>
          </a:prstGeom>
          <a:noFill/>
        </p:spPr>
        <p:txBody>
          <a:bodyPr wrap="none" rtlCol="0">
            <a:spAutoFit/>
          </a:bodyPr>
          <a:lstStyle/>
          <a:p>
            <a:r>
              <a:rPr lang="es-ES" dirty="0"/>
              <a:t>Sea</a:t>
            </a:r>
          </a:p>
        </p:txBody>
      </p:sp>
      <p:sp>
        <p:nvSpPr>
          <p:cNvPr id="10" name="CuadroTexto 9">
            <a:extLst>
              <a:ext uri="{FF2B5EF4-FFF2-40B4-BE49-F238E27FC236}">
                <a16:creationId xmlns:a16="http://schemas.microsoft.com/office/drawing/2014/main" id="{A5FE7E9B-1302-1891-F974-6DCD9ADEF47E}"/>
              </a:ext>
            </a:extLst>
          </p:cNvPr>
          <p:cNvSpPr txBox="1"/>
          <p:nvPr/>
        </p:nvSpPr>
        <p:spPr>
          <a:xfrm>
            <a:off x="2625940" y="5884474"/>
            <a:ext cx="8003007" cy="369332"/>
          </a:xfrm>
          <a:prstGeom prst="rect">
            <a:avLst/>
          </a:prstGeom>
          <a:noFill/>
        </p:spPr>
        <p:txBody>
          <a:bodyPr wrap="square" rtlCol="0">
            <a:spAutoFit/>
          </a:bodyPr>
          <a:lstStyle/>
          <a:p>
            <a:r>
              <a:rPr lang="es-ES" dirty="0"/>
              <a:t>: Norma nuclear, suma valores singulares</a:t>
            </a:r>
          </a:p>
        </p:txBody>
      </p:sp>
      <p:pic>
        <p:nvPicPr>
          <p:cNvPr id="13" name="Imagen 12" descr="Forma&#10;&#10;El contenido generado por IA puede ser incorrecto.">
            <a:extLst>
              <a:ext uri="{FF2B5EF4-FFF2-40B4-BE49-F238E27FC236}">
                <a16:creationId xmlns:a16="http://schemas.microsoft.com/office/drawing/2014/main" id="{C6E953F0-CD0F-3B00-BC4E-08CB81909A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96282" y="5884473"/>
            <a:ext cx="729658" cy="369333"/>
          </a:xfrm>
          <a:prstGeom prst="rect">
            <a:avLst/>
          </a:prstGeom>
        </p:spPr>
      </p:pic>
      <p:sp>
        <p:nvSpPr>
          <p:cNvPr id="4" name="Marcador de número de diapositiva 3">
            <a:extLst>
              <a:ext uri="{FF2B5EF4-FFF2-40B4-BE49-F238E27FC236}">
                <a16:creationId xmlns:a16="http://schemas.microsoft.com/office/drawing/2014/main" id="{3F8E427C-7392-16B7-9E6F-04710504B768}"/>
              </a:ext>
            </a:extLst>
          </p:cNvPr>
          <p:cNvSpPr>
            <a:spLocks noGrp="1"/>
          </p:cNvSpPr>
          <p:nvPr>
            <p:ph type="sldNum" sz="quarter" idx="7"/>
          </p:nvPr>
        </p:nvSpPr>
        <p:spPr>
          <a:xfrm>
            <a:off x="8870950" y="6455836"/>
            <a:ext cx="562183" cy="141064"/>
          </a:xfrm>
        </p:spPr>
        <p:txBody>
          <a:bodyPr/>
          <a:lstStyle/>
          <a:p>
            <a:pPr marL="111760">
              <a:lnSpc>
                <a:spcPts val="1120"/>
              </a:lnSpc>
            </a:pPr>
            <a:fld id="{81D60167-4931-47E6-BA6A-407CBD079E47}" type="slidenum">
              <a:rPr lang="es-ES" spc="-50" smtClean="0">
                <a:solidFill>
                  <a:schemeClr val="tx1"/>
                </a:solidFill>
              </a:rPr>
              <a:t>13</a:t>
            </a:fld>
            <a:endParaRPr lang="es-ES" spc="-50" dirty="0">
              <a:solidFill>
                <a:schemeClr val="tx1"/>
              </a:solidFill>
            </a:endParaRPr>
          </a:p>
        </p:txBody>
      </p:sp>
      <p:sp>
        <p:nvSpPr>
          <p:cNvPr id="8" name="Rectángulo 7" descr="Paleta">
            <a:extLst>
              <a:ext uri="{FF2B5EF4-FFF2-40B4-BE49-F238E27FC236}">
                <a16:creationId xmlns:a16="http://schemas.microsoft.com/office/drawing/2014/main" id="{E6B71375-6935-A081-3956-273737F8E893}"/>
              </a:ext>
            </a:extLst>
          </p:cNvPr>
          <p:cNvSpPr/>
          <p:nvPr/>
        </p:nvSpPr>
        <p:spPr>
          <a:xfrm>
            <a:off x="546951" y="229468"/>
            <a:ext cx="304800" cy="376877"/>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s-ES" dirty="0"/>
          </a:p>
        </p:txBody>
      </p:sp>
      <p:sp>
        <p:nvSpPr>
          <p:cNvPr id="12" name="CuadroTexto 11">
            <a:extLst>
              <a:ext uri="{FF2B5EF4-FFF2-40B4-BE49-F238E27FC236}">
                <a16:creationId xmlns:a16="http://schemas.microsoft.com/office/drawing/2014/main" id="{D391FEFE-CF73-59DE-E1AA-254F2D87A74B}"/>
              </a:ext>
            </a:extLst>
          </p:cNvPr>
          <p:cNvSpPr txBox="1"/>
          <p:nvPr/>
        </p:nvSpPr>
        <p:spPr>
          <a:xfrm>
            <a:off x="851751" y="263610"/>
            <a:ext cx="1409360" cy="307777"/>
          </a:xfrm>
          <a:prstGeom prst="rect">
            <a:avLst/>
          </a:prstGeom>
          <a:noFill/>
        </p:spPr>
        <p:txBody>
          <a:bodyPr wrap="none" rtlCol="0">
            <a:spAutoFit/>
          </a:bodyPr>
          <a:lstStyle/>
          <a:p>
            <a:r>
              <a:rPr lang="es-ES" sz="1400" dirty="0">
                <a:solidFill>
                  <a:schemeClr val="bg1">
                    <a:lumMod val="50000"/>
                  </a:schemeClr>
                </a:solidFill>
              </a:rPr>
              <a:t>Estado del Arte</a:t>
            </a:r>
          </a:p>
        </p:txBody>
      </p:sp>
      <p:pic>
        <p:nvPicPr>
          <p:cNvPr id="3074" name="Picture 2">
            <a:extLst>
              <a:ext uri="{FF2B5EF4-FFF2-40B4-BE49-F238E27FC236}">
                <a16:creationId xmlns:a16="http://schemas.microsoft.com/office/drawing/2014/main" id="{8CF08398-486A-9E5F-B143-274994C14DD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84750" y="2285684"/>
            <a:ext cx="2158685" cy="264197"/>
          </a:xfrm>
          <a:prstGeom prst="rect">
            <a:avLst/>
          </a:prstGeom>
          <a:noFill/>
          <a:extLst>
            <a:ext uri="{909E8E84-426E-40DD-AFC4-6F175D3DCCD1}">
              <a14:hiddenFill xmlns:a14="http://schemas.microsoft.com/office/drawing/2010/main">
                <a:solidFill>
                  <a:srgbClr val="FFFFFF"/>
                </a:solidFill>
              </a14:hiddenFill>
            </a:ext>
          </a:extLst>
        </p:spPr>
      </p:pic>
      <p:sp>
        <p:nvSpPr>
          <p:cNvPr id="16" name="CuadroTexto 15">
            <a:extLst>
              <a:ext uri="{FF2B5EF4-FFF2-40B4-BE49-F238E27FC236}">
                <a16:creationId xmlns:a16="http://schemas.microsoft.com/office/drawing/2014/main" id="{081549CC-B581-5670-B9CB-449781AE198E}"/>
              </a:ext>
            </a:extLst>
          </p:cNvPr>
          <p:cNvSpPr txBox="1"/>
          <p:nvPr/>
        </p:nvSpPr>
        <p:spPr>
          <a:xfrm>
            <a:off x="345319" y="4609463"/>
            <a:ext cx="8127940" cy="369332"/>
          </a:xfrm>
          <a:prstGeom prst="rect">
            <a:avLst/>
          </a:prstGeom>
          <a:noFill/>
        </p:spPr>
        <p:txBody>
          <a:bodyPr wrap="square">
            <a:spAutoFit/>
          </a:bodyPr>
          <a:lstStyle/>
          <a:p>
            <a:r>
              <a:rPr lang="es-ES" dirty="0"/>
              <a:t>donde cada fila contiene una ventana de longitud      de la serie temporal,</a:t>
            </a:r>
          </a:p>
        </p:txBody>
      </p:sp>
      <p:pic>
        <p:nvPicPr>
          <p:cNvPr id="3076" name="Picture 4">
            <a:extLst>
              <a:ext uri="{FF2B5EF4-FFF2-40B4-BE49-F238E27FC236}">
                <a16:creationId xmlns:a16="http://schemas.microsoft.com/office/drawing/2014/main" id="{D1F0D7F1-DDE7-33E9-4BC5-26D23BB6138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29820" y="4665510"/>
            <a:ext cx="152400" cy="230554"/>
          </a:xfrm>
          <a:prstGeom prst="rect">
            <a:avLst/>
          </a:prstGeom>
          <a:noFill/>
          <a:extLst>
            <a:ext uri="{909E8E84-426E-40DD-AFC4-6F175D3DCCD1}">
              <a14:hiddenFill xmlns:a14="http://schemas.microsoft.com/office/drawing/2010/main">
                <a:solidFill>
                  <a:srgbClr val="FFFFFF"/>
                </a:solidFill>
              </a14:hiddenFill>
            </a:ext>
          </a:extLst>
        </p:spPr>
      </p:pic>
      <p:sp>
        <p:nvSpPr>
          <p:cNvPr id="17" name="CuadroTexto 16">
            <a:extLst>
              <a:ext uri="{FF2B5EF4-FFF2-40B4-BE49-F238E27FC236}">
                <a16:creationId xmlns:a16="http://schemas.microsoft.com/office/drawing/2014/main" id="{3B35C709-3BBF-1780-A338-12117102EA5A}"/>
              </a:ext>
            </a:extLst>
          </p:cNvPr>
          <p:cNvSpPr txBox="1"/>
          <p:nvPr/>
        </p:nvSpPr>
        <p:spPr>
          <a:xfrm>
            <a:off x="3471358" y="1519147"/>
            <a:ext cx="2210862" cy="369332"/>
          </a:xfrm>
          <a:prstGeom prst="rect">
            <a:avLst/>
          </a:prstGeom>
          <a:noFill/>
        </p:spPr>
        <p:txBody>
          <a:bodyPr wrap="none" rtlCol="0">
            <a:spAutoFit/>
          </a:bodyPr>
          <a:lstStyle/>
          <a:p>
            <a:r>
              <a:rPr lang="es-ES" dirty="0"/>
              <a:t>una Serie Temporal</a:t>
            </a:r>
          </a:p>
        </p:txBody>
      </p:sp>
    </p:spTree>
    <p:extLst>
      <p:ext uri="{BB962C8B-B14F-4D97-AF65-F5344CB8AC3E}">
        <p14:creationId xmlns:p14="http://schemas.microsoft.com/office/powerpoint/2010/main" val="1556108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3" cstate="print"/>
          <a:stretch>
            <a:fillRect/>
          </a:stretch>
        </p:blipFill>
        <p:spPr>
          <a:xfrm>
            <a:off x="4756579" y="384498"/>
            <a:ext cx="4233640" cy="6214959"/>
          </a:xfrm>
          <a:prstGeom prst="rect">
            <a:avLst/>
          </a:prstGeom>
        </p:spPr>
      </p:pic>
      <p:sp>
        <p:nvSpPr>
          <p:cNvPr id="2" name="object 2"/>
          <p:cNvSpPr txBox="1">
            <a:spLocks noGrp="1"/>
          </p:cNvSpPr>
          <p:nvPr>
            <p:ph type="title"/>
          </p:nvPr>
        </p:nvSpPr>
        <p:spPr>
          <a:xfrm>
            <a:off x="1801560" y="339764"/>
            <a:ext cx="6209665" cy="634917"/>
          </a:xfrm>
          <a:prstGeom prst="rect">
            <a:avLst/>
          </a:prstGeom>
        </p:spPr>
        <p:txBody>
          <a:bodyPr vert="horz" wrap="square" lIns="0" tIns="83185" rIns="0" bIns="0" rtlCol="0">
            <a:spAutoFit/>
          </a:bodyPr>
          <a:lstStyle/>
          <a:p>
            <a:pPr marL="657860" marR="5080" indent="-645795">
              <a:lnSpc>
                <a:spcPts val="4950"/>
              </a:lnSpc>
              <a:spcBef>
                <a:spcPts val="655"/>
              </a:spcBef>
            </a:pPr>
            <a:r>
              <a:rPr lang="es-ES" sz="2400" spc="50" dirty="0"/>
              <a:t>III. Arquitectura del </a:t>
            </a:r>
            <a:r>
              <a:rPr sz="2400" spc="175" dirty="0"/>
              <a:t>Transformer</a:t>
            </a:r>
          </a:p>
        </p:txBody>
      </p:sp>
      <p:sp>
        <p:nvSpPr>
          <p:cNvPr id="13" name="CuadroTexto 12">
            <a:extLst>
              <a:ext uri="{FF2B5EF4-FFF2-40B4-BE49-F238E27FC236}">
                <a16:creationId xmlns:a16="http://schemas.microsoft.com/office/drawing/2014/main" id="{F15381FA-AD4D-FAFD-C8EB-C0B6D69E6D90}"/>
              </a:ext>
            </a:extLst>
          </p:cNvPr>
          <p:cNvSpPr txBox="1"/>
          <p:nvPr/>
        </p:nvSpPr>
        <p:spPr>
          <a:xfrm>
            <a:off x="468246" y="1931684"/>
            <a:ext cx="3926187" cy="861774"/>
          </a:xfrm>
          <a:prstGeom prst="rect">
            <a:avLst/>
          </a:prstGeom>
          <a:noFill/>
        </p:spPr>
        <p:txBody>
          <a:bodyPr wrap="square" rtlCol="0">
            <a:spAutoFit/>
          </a:bodyPr>
          <a:lstStyle/>
          <a:p>
            <a:r>
              <a:rPr lang="es-ES" sz="1600" dirty="0"/>
              <a:t>Conocido por su aplicación al campo </a:t>
            </a:r>
          </a:p>
          <a:p>
            <a:r>
              <a:rPr lang="es-ES" sz="1600" dirty="0"/>
              <a:t>del NLP.</a:t>
            </a:r>
          </a:p>
          <a:p>
            <a:endParaRPr lang="es-ES" sz="1600" dirty="0"/>
          </a:p>
        </p:txBody>
      </p:sp>
      <p:pic>
        <p:nvPicPr>
          <p:cNvPr id="15" name="Imagen 14" descr="Diagrama&#10;&#10;El contenido generado por IA puede ser incorrecto.">
            <a:extLst>
              <a:ext uri="{FF2B5EF4-FFF2-40B4-BE49-F238E27FC236}">
                <a16:creationId xmlns:a16="http://schemas.microsoft.com/office/drawing/2014/main" id="{7C162391-3123-175D-E185-445AC8E18EA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899" b="95134" l="9963" r="89944">
                        <a14:foregroundMark x1="57169" y1="67114" x2="70298" y2="67785"/>
                        <a14:foregroundMark x1="55587" y1="56040" x2="80074" y2="53020"/>
                        <a14:foregroundMark x1="56331" y1="30201" x2="71508" y2="30872"/>
                        <a14:foregroundMark x1="56797" y1="39094" x2="64153" y2="39765"/>
                        <a14:foregroundMark x1="14618" y1="30872" x2="31006" y2="31711"/>
                        <a14:foregroundMark x1="22812" y1="30201" x2="29330" y2="30201"/>
                        <a14:foregroundMark x1="12570" y1="39094" x2="28492" y2="39765"/>
                        <a14:foregroundMark x1="28492" y1="39765" x2="31006" y2="39094"/>
                        <a14:foregroundMark x1="13873" y1="47148" x2="31006" y2="47987"/>
                        <a14:foregroundMark x1="12570" y1="67114" x2="28957" y2="67785"/>
                        <a14:foregroundMark x1="17505" y1="58221" x2="29330" y2="58893"/>
                        <a14:foregroundMark x1="41620" y1="31711" x2="44507" y2="39094"/>
                        <a14:foregroundMark x1="33892" y1="25000" x2="49721" y2="25000"/>
                        <a14:foregroundMark x1="49721" y1="25000" x2="51862" y2="28020"/>
                        <a14:foregroundMark x1="38734" y1="30201" x2="46834" y2="56376"/>
                        <a14:foregroundMark x1="46834" y1="56376" x2="49814" y2="61242"/>
                        <a14:foregroundMark x1="39572" y1="27349" x2="60428" y2="46477"/>
                        <a14:foregroundMark x1="39572" y1="30201" x2="59218" y2="50839"/>
                        <a14:foregroundMark x1="41620" y1="34564" x2="59218" y2="65604"/>
                        <a14:foregroundMark x1="40037" y1="43456" x2="52235" y2="62081"/>
                        <a14:foregroundMark x1="52235" y1="62081" x2="52700" y2="63423"/>
                        <a14:foregroundMark x1="46182" y1="64094" x2="54749" y2="71477"/>
                        <a14:foregroundMark x1="41620" y1="46477" x2="50652" y2="75839"/>
                        <a14:foregroundMark x1="37151" y1="23658" x2="53631" y2="24832"/>
                        <a14:foregroundMark x1="53631" y1="24832" x2="53911" y2="25000"/>
                        <a14:foregroundMark x1="27281" y1="23658" x2="43575" y2="21309"/>
                        <a14:foregroundMark x1="43575" y1="21309" x2="44134" y2="21309"/>
                        <a14:foregroundMark x1="23277" y1="29530" x2="36778" y2="27349"/>
                        <a14:foregroundMark x1="53911" y1="25000" x2="69553" y2="25000"/>
                        <a14:foregroundMark x1="69553" y1="25000" x2="78864" y2="48490"/>
                        <a14:foregroundMark x1="78864" y1="48490" x2="78399" y2="76510"/>
                        <a14:foregroundMark x1="78399" y1="76510" x2="61825" y2="78691"/>
                        <a14:foregroundMark x1="61825" y1="78691" x2="54283" y2="71477"/>
                        <a14:foregroundMark x1="66574" y1="29530" x2="79702" y2="25000"/>
                        <a14:foregroundMark x1="11359" y1="64933" x2="33054" y2="65604"/>
                        <a14:foregroundMark x1="18715" y1="93624" x2="23650" y2="95134"/>
                        <a14:foregroundMark x1="19181" y1="93624" x2="24488" y2="91443"/>
                        <a14:foregroundMark x1="19178" y1="92243" x2="26536" y2="94295"/>
                        <a14:foregroundMark x1="22439" y1="86913" x2="21601" y2="75839"/>
                        <a14:foregroundMark x1="22812" y1="82550" x2="22439" y2="73658"/>
                        <a14:foregroundMark x1="23650" y1="92114" x2="22812" y2="78188"/>
                        <a14:foregroundMark x1="23277" y1="82550" x2="25698" y2="69966"/>
                        <a14:foregroundMark x1="21601" y1="90604" x2="23277" y2="76678"/>
                        <a14:foregroundMark x1="23277" y1="84060" x2="23277" y2="74497"/>
                        <a14:foregroundMark x1="23650" y1="75839" x2="23277" y2="90604"/>
                        <a14:foregroundMark x1="23650" y1="85570" x2="22812" y2="84060"/>
                        <a14:foregroundMark x1="22812" y1="85570" x2="23277" y2="92114"/>
                        <a14:backgroundMark x1="45717" y1="76678" x2="40782" y2="55201"/>
                        <a14:backgroundMark x1="17877" y1="98993" x2="20112" y2="99497"/>
                        <a14:backgroundMark x1="16853" y1="91107" x2="18156" y2="93624"/>
                      </a14:backgroundRemoval>
                    </a14:imgEffect>
                  </a14:imgLayer>
                </a14:imgProps>
              </a:ext>
              <a:ext uri="{28A0092B-C50C-407E-A947-70E740481C1C}">
                <a14:useLocalDpi xmlns:a14="http://schemas.microsoft.com/office/drawing/2010/main" val="0"/>
              </a:ext>
            </a:extLst>
          </a:blip>
          <a:stretch>
            <a:fillRect/>
          </a:stretch>
        </p:blipFill>
        <p:spPr>
          <a:xfrm>
            <a:off x="318432" y="2691168"/>
            <a:ext cx="4437290" cy="2227729"/>
          </a:xfrm>
          <a:prstGeom prst="rect">
            <a:avLst/>
          </a:prstGeom>
        </p:spPr>
      </p:pic>
      <p:sp>
        <p:nvSpPr>
          <p:cNvPr id="16" name="object 4">
            <a:extLst>
              <a:ext uri="{FF2B5EF4-FFF2-40B4-BE49-F238E27FC236}">
                <a16:creationId xmlns:a16="http://schemas.microsoft.com/office/drawing/2014/main" id="{0258AACB-145C-AB9B-5EDA-9A4D5E2A7009}"/>
              </a:ext>
            </a:extLst>
          </p:cNvPr>
          <p:cNvSpPr txBox="1"/>
          <p:nvPr/>
        </p:nvSpPr>
        <p:spPr>
          <a:xfrm>
            <a:off x="522081" y="2674139"/>
            <a:ext cx="6759012" cy="308226"/>
          </a:xfrm>
          <a:prstGeom prst="rect">
            <a:avLst/>
          </a:prstGeom>
        </p:spPr>
        <p:txBody>
          <a:bodyPr vert="horz" wrap="square" lIns="0" tIns="12700" rIns="0" bIns="0" rtlCol="0">
            <a:spAutoFit/>
          </a:bodyPr>
          <a:lstStyle/>
          <a:p>
            <a:pPr marL="12700" marR="2345690">
              <a:lnSpc>
                <a:spcPct val="116799"/>
              </a:lnSpc>
              <a:spcBef>
                <a:spcPts val="100"/>
              </a:spcBef>
            </a:pPr>
            <a:r>
              <a:rPr lang="es-ES" b="1" spc="-110" dirty="0">
                <a:solidFill>
                  <a:srgbClr val="0056B3"/>
                </a:solidFill>
                <a:latin typeface="Arial"/>
                <a:cs typeface="Arial"/>
              </a:rPr>
              <a:t>          </a:t>
            </a:r>
            <a:r>
              <a:rPr b="1" spc="-110" dirty="0">
                <a:solidFill>
                  <a:srgbClr val="0056B3"/>
                </a:solidFill>
                <a:latin typeface="Arial"/>
                <a:cs typeface="Arial"/>
              </a:rPr>
              <a:t>Encoder</a:t>
            </a:r>
            <a:r>
              <a:rPr lang="es-ES" spc="-10" dirty="0">
                <a:solidFill>
                  <a:srgbClr val="333333"/>
                </a:solidFill>
                <a:latin typeface="Microsoft Sans Serif"/>
                <a:cs typeface="Microsoft Sans Serif"/>
              </a:rPr>
              <a:t>                   </a:t>
            </a:r>
            <a:r>
              <a:rPr b="1" spc="-95" dirty="0">
                <a:solidFill>
                  <a:srgbClr val="0056B3"/>
                </a:solidFill>
                <a:latin typeface="Arial"/>
                <a:cs typeface="Arial"/>
              </a:rPr>
              <a:t>Decoder</a:t>
            </a:r>
            <a:endParaRPr dirty="0">
              <a:latin typeface="Microsoft Sans Serif"/>
              <a:cs typeface="Microsoft Sans Serif"/>
            </a:endParaRPr>
          </a:p>
        </p:txBody>
      </p:sp>
      <p:sp>
        <p:nvSpPr>
          <p:cNvPr id="8" name="CuadroTexto 7">
            <a:extLst>
              <a:ext uri="{FF2B5EF4-FFF2-40B4-BE49-F238E27FC236}">
                <a16:creationId xmlns:a16="http://schemas.microsoft.com/office/drawing/2014/main" id="{DC29FF29-5B9D-CFAC-F725-96DE6B0D322C}"/>
              </a:ext>
            </a:extLst>
          </p:cNvPr>
          <p:cNvSpPr txBox="1"/>
          <p:nvPr/>
        </p:nvSpPr>
        <p:spPr>
          <a:xfrm>
            <a:off x="468246" y="1422354"/>
            <a:ext cx="5760688" cy="369332"/>
          </a:xfrm>
          <a:prstGeom prst="rect">
            <a:avLst/>
          </a:prstGeom>
          <a:noFill/>
        </p:spPr>
        <p:txBody>
          <a:bodyPr wrap="square">
            <a:spAutoFit/>
          </a:bodyPr>
          <a:lstStyle/>
          <a:p>
            <a:r>
              <a:rPr lang="es-ES" i="1" dirty="0"/>
              <a:t>Attention is All You Need</a:t>
            </a:r>
            <a:r>
              <a:rPr lang="es-ES" dirty="0"/>
              <a:t>.</a:t>
            </a:r>
            <a:r>
              <a:rPr lang="es-ES" b="1" dirty="0"/>
              <a:t> </a:t>
            </a:r>
            <a:r>
              <a:rPr lang="es-ES" dirty="0"/>
              <a:t>(Vaswani et al., 2017)</a:t>
            </a:r>
          </a:p>
        </p:txBody>
      </p:sp>
      <p:sp>
        <p:nvSpPr>
          <p:cNvPr id="7" name="Marcador de número de diapositiva 2">
            <a:extLst>
              <a:ext uri="{FF2B5EF4-FFF2-40B4-BE49-F238E27FC236}">
                <a16:creationId xmlns:a16="http://schemas.microsoft.com/office/drawing/2014/main" id="{2C4793BF-3EC9-E8F6-382A-A54425716CAA}"/>
              </a:ext>
            </a:extLst>
          </p:cNvPr>
          <p:cNvSpPr>
            <a:spLocks noGrp="1"/>
          </p:cNvSpPr>
          <p:nvPr>
            <p:ph type="sldNum" sz="quarter" idx="7"/>
          </p:nvPr>
        </p:nvSpPr>
        <p:spPr>
          <a:xfrm>
            <a:off x="8845943" y="6538031"/>
            <a:ext cx="1019383" cy="141064"/>
          </a:xfrm>
        </p:spPr>
        <p:txBody>
          <a:bodyPr/>
          <a:lstStyle/>
          <a:p>
            <a:pPr marL="111760">
              <a:lnSpc>
                <a:spcPts val="1120"/>
              </a:lnSpc>
            </a:pPr>
            <a:fld id="{81D60167-4931-47E6-BA6A-407CBD079E47}" type="slidenum">
              <a:rPr lang="es-ES" spc="-50" smtClean="0">
                <a:solidFill>
                  <a:schemeClr val="tx1"/>
                </a:solidFill>
              </a:rPr>
              <a:t>14</a:t>
            </a:fld>
            <a:endParaRPr lang="es-ES" spc="-50" dirty="0">
              <a:solidFill>
                <a:schemeClr val="tx1"/>
              </a:solidFill>
            </a:endParaRPr>
          </a:p>
        </p:txBody>
      </p:sp>
      <p:sp>
        <p:nvSpPr>
          <p:cNvPr id="5" name="CuadroTexto 4">
            <a:extLst>
              <a:ext uri="{FF2B5EF4-FFF2-40B4-BE49-F238E27FC236}">
                <a16:creationId xmlns:a16="http://schemas.microsoft.com/office/drawing/2014/main" id="{8DD346E7-32D3-133C-14DC-76DE97FD71D8}"/>
              </a:ext>
            </a:extLst>
          </p:cNvPr>
          <p:cNvSpPr txBox="1"/>
          <p:nvPr/>
        </p:nvSpPr>
        <p:spPr>
          <a:xfrm>
            <a:off x="946150" y="275377"/>
            <a:ext cx="2510624" cy="307777"/>
          </a:xfrm>
          <a:prstGeom prst="rect">
            <a:avLst/>
          </a:prstGeom>
          <a:noFill/>
        </p:spPr>
        <p:txBody>
          <a:bodyPr wrap="none" rtlCol="0">
            <a:spAutoFit/>
          </a:bodyPr>
          <a:lstStyle/>
          <a:p>
            <a:r>
              <a:rPr lang="es-ES" sz="1400" dirty="0">
                <a:solidFill>
                  <a:schemeClr val="bg1">
                    <a:lumMod val="50000"/>
                  </a:schemeClr>
                </a:solidFill>
              </a:rPr>
              <a:t>Arquitectura del Transformer</a:t>
            </a:r>
          </a:p>
        </p:txBody>
      </p:sp>
      <p:sp>
        <p:nvSpPr>
          <p:cNvPr id="6" name="Rectángulo 5" descr="Inteligencia artificial con relleno sólido">
            <a:extLst>
              <a:ext uri="{FF2B5EF4-FFF2-40B4-BE49-F238E27FC236}">
                <a16:creationId xmlns:a16="http://schemas.microsoft.com/office/drawing/2014/main" id="{456D7AB8-22B5-52C1-0357-FA319BDF29AE}"/>
              </a:ext>
            </a:extLst>
          </p:cNvPr>
          <p:cNvSpPr/>
          <p:nvPr/>
        </p:nvSpPr>
        <p:spPr>
          <a:xfrm>
            <a:off x="514903" y="275143"/>
            <a:ext cx="377092" cy="345999"/>
          </a:xfrm>
          <a:prstGeom prst="rect">
            <a:avLst/>
          </a:prstGeom>
          <a:blipFill>
            <a:blip r:embed="rId6">
              <a:extLst>
                <a:ext uri="{96DAC541-7B7A-43D3-8B79-37D633B846F1}">
                  <asvg:svgBlip xmlns:asvg="http://schemas.microsoft.com/office/drawing/2016/SVG/main" r:embed="rId7"/>
                </a:ext>
              </a:extLst>
            </a:blip>
            <a:srcRect/>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s-ES"/>
          </a:p>
        </p:txBody>
      </p:sp>
      <p:pic>
        <p:nvPicPr>
          <p:cNvPr id="9" name="Imagen 8" descr="Forma&#10;&#10;El contenido generado por IA puede ser incorrecto.">
            <a:extLst>
              <a:ext uri="{FF2B5EF4-FFF2-40B4-BE49-F238E27FC236}">
                <a16:creationId xmlns:a16="http://schemas.microsoft.com/office/drawing/2014/main" id="{17802584-02AA-129B-9237-66DC8AA8D97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8432" y="5742184"/>
            <a:ext cx="4984750" cy="659655"/>
          </a:xfrm>
          <a:prstGeom prst="rect">
            <a:avLst/>
          </a:prstGeom>
          <a:solidFill>
            <a:srgbClr val="B9D3BF"/>
          </a:solidFill>
        </p:spPr>
      </p:pic>
      <p:pic>
        <p:nvPicPr>
          <p:cNvPr id="10" name="Imagen 9" descr="Forma&#10;&#10;El contenido generado por IA puede ser incorrecto.">
            <a:extLst>
              <a:ext uri="{FF2B5EF4-FFF2-40B4-BE49-F238E27FC236}">
                <a16:creationId xmlns:a16="http://schemas.microsoft.com/office/drawing/2014/main" id="{92876B60-4245-2E9A-D8B7-315F945EEE4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8432" y="4996718"/>
            <a:ext cx="3810000" cy="574606"/>
          </a:xfrm>
          <a:prstGeom prst="rect">
            <a:avLst/>
          </a:prstGeom>
          <a:solidFill>
            <a:srgbClr val="FDDFB9"/>
          </a:solid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0B1CAC9-5E10-A645-61B2-75C849514142}"/>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13E8B94E-96D8-D56C-2360-D5CA238FC5E0}"/>
              </a:ext>
            </a:extLst>
          </p:cNvPr>
          <p:cNvPicPr/>
          <p:nvPr/>
        </p:nvPicPr>
        <p:blipFill>
          <a:blip r:embed="rId3" cstate="print"/>
          <a:stretch>
            <a:fillRect/>
          </a:stretch>
        </p:blipFill>
        <p:spPr>
          <a:xfrm>
            <a:off x="4756150" y="376341"/>
            <a:ext cx="4233640" cy="6214959"/>
          </a:xfrm>
          <a:prstGeom prst="rect">
            <a:avLst/>
          </a:prstGeom>
        </p:spPr>
      </p:pic>
      <p:sp>
        <p:nvSpPr>
          <p:cNvPr id="2" name="object 2">
            <a:extLst>
              <a:ext uri="{FF2B5EF4-FFF2-40B4-BE49-F238E27FC236}">
                <a16:creationId xmlns:a16="http://schemas.microsoft.com/office/drawing/2014/main" id="{D56A0132-52BA-1F49-F9F1-1DBCFB8B0E3C}"/>
              </a:ext>
            </a:extLst>
          </p:cNvPr>
          <p:cNvSpPr txBox="1">
            <a:spLocks noGrp="1"/>
          </p:cNvSpPr>
          <p:nvPr>
            <p:ph type="title"/>
          </p:nvPr>
        </p:nvSpPr>
        <p:spPr>
          <a:xfrm>
            <a:off x="1860550" y="476807"/>
            <a:ext cx="6209665" cy="1276119"/>
          </a:xfrm>
          <a:prstGeom prst="rect">
            <a:avLst/>
          </a:prstGeom>
        </p:spPr>
        <p:txBody>
          <a:bodyPr vert="horz" wrap="square" lIns="0" tIns="83185" rIns="0" bIns="0" rtlCol="0">
            <a:spAutoFit/>
          </a:bodyPr>
          <a:lstStyle/>
          <a:p>
            <a:pPr marL="657860" marR="5080" indent="-645795">
              <a:lnSpc>
                <a:spcPts val="4950"/>
              </a:lnSpc>
              <a:spcBef>
                <a:spcPts val="655"/>
              </a:spcBef>
            </a:pPr>
            <a:r>
              <a:rPr lang="es-ES" sz="2400" spc="50" dirty="0"/>
              <a:t>IV. Arquitectura del </a:t>
            </a:r>
            <a:r>
              <a:rPr sz="2400" spc="175" dirty="0"/>
              <a:t>Transformer</a:t>
            </a:r>
            <a:r>
              <a:rPr lang="es-ES" sz="2400" spc="175" dirty="0"/>
              <a:t>: Positional Encoding</a:t>
            </a:r>
            <a:endParaRPr sz="2400" spc="175" dirty="0"/>
          </a:p>
        </p:txBody>
      </p:sp>
      <p:sp>
        <p:nvSpPr>
          <p:cNvPr id="4" name="CuadroTexto 3">
            <a:extLst>
              <a:ext uri="{FF2B5EF4-FFF2-40B4-BE49-F238E27FC236}">
                <a16:creationId xmlns:a16="http://schemas.microsoft.com/office/drawing/2014/main" id="{BAE74ECC-FE8D-A419-74EB-054264B5EA6E}"/>
              </a:ext>
            </a:extLst>
          </p:cNvPr>
          <p:cNvSpPr txBox="1"/>
          <p:nvPr/>
        </p:nvSpPr>
        <p:spPr>
          <a:xfrm>
            <a:off x="628093" y="2684047"/>
            <a:ext cx="3733800" cy="747897"/>
          </a:xfrm>
          <a:prstGeom prst="rect">
            <a:avLst/>
          </a:prstGeom>
          <a:solidFill>
            <a:srgbClr val="F9E2E2"/>
          </a:solidFill>
        </p:spPr>
        <p:txBody>
          <a:bodyPr wrap="square" rtlCol="0">
            <a:spAutoFit/>
          </a:bodyPr>
          <a:lstStyle/>
          <a:p>
            <a:pPr marL="298450" marR="5080" indent="-285750">
              <a:lnSpc>
                <a:spcPct val="122200"/>
              </a:lnSpc>
              <a:spcBef>
                <a:spcPts val="95"/>
              </a:spcBef>
              <a:buFont typeface="Arial" panose="020B0604020202020204" pitchFamily="34" charset="0"/>
              <a:buChar char="•"/>
            </a:pPr>
            <a:r>
              <a:rPr lang="es-ES" b="1" spc="-10" dirty="0">
                <a:solidFill>
                  <a:srgbClr val="333333"/>
                </a:solidFill>
                <a:latin typeface="Microsoft Sans Serif"/>
                <a:cs typeface="Microsoft Sans Serif"/>
              </a:rPr>
              <a:t>Input Embedding</a:t>
            </a:r>
          </a:p>
          <a:p>
            <a:pPr marL="298450" marR="5080" indent="-285750">
              <a:lnSpc>
                <a:spcPct val="122200"/>
              </a:lnSpc>
              <a:spcBef>
                <a:spcPts val="95"/>
              </a:spcBef>
              <a:buFont typeface="Arial" panose="020B0604020202020204" pitchFamily="34" charset="0"/>
              <a:buChar char="•"/>
            </a:pPr>
            <a:r>
              <a:rPr lang="es-ES" b="1" spc="-10" dirty="0">
                <a:solidFill>
                  <a:srgbClr val="333333"/>
                </a:solidFill>
                <a:latin typeface="Microsoft Sans Serif"/>
                <a:cs typeface="Microsoft Sans Serif"/>
              </a:rPr>
              <a:t>Positional Encodings</a:t>
            </a:r>
            <a:endParaRPr lang="es-ES" spc="-10" dirty="0">
              <a:solidFill>
                <a:srgbClr val="333333"/>
              </a:solidFill>
              <a:latin typeface="Microsoft Sans Serif"/>
              <a:cs typeface="Microsoft Sans Serif"/>
            </a:endParaRPr>
          </a:p>
        </p:txBody>
      </p:sp>
      <p:cxnSp>
        <p:nvCxnSpPr>
          <p:cNvPr id="8" name="Conector curvado 7">
            <a:extLst>
              <a:ext uri="{FF2B5EF4-FFF2-40B4-BE49-F238E27FC236}">
                <a16:creationId xmlns:a16="http://schemas.microsoft.com/office/drawing/2014/main" id="{1E4F39B8-6866-8414-0E0D-85C703CBF246}"/>
              </a:ext>
            </a:extLst>
          </p:cNvPr>
          <p:cNvCxnSpPr>
            <a:cxnSpLocks/>
          </p:cNvCxnSpPr>
          <p:nvPr/>
        </p:nvCxnSpPr>
        <p:spPr>
          <a:xfrm>
            <a:off x="4258998" y="4690354"/>
            <a:ext cx="393831" cy="312762"/>
          </a:xfrm>
          <a:prstGeom prst="curvedConnector3">
            <a:avLst>
              <a:gd name="adj1" fmla="val 50000"/>
            </a:avLst>
          </a:prstGeom>
          <a:ln w="25400">
            <a:tailEnd type="triangle"/>
          </a:ln>
        </p:spPr>
        <p:style>
          <a:lnRef idx="1">
            <a:schemeClr val="accent1"/>
          </a:lnRef>
          <a:fillRef idx="0">
            <a:schemeClr val="accent1"/>
          </a:fillRef>
          <a:effectRef idx="0">
            <a:schemeClr val="accent1"/>
          </a:effectRef>
          <a:fontRef idx="minor">
            <a:schemeClr val="tx1"/>
          </a:fontRef>
        </p:style>
      </p:cxnSp>
      <p:pic>
        <p:nvPicPr>
          <p:cNvPr id="10" name="Imagen 9" descr="Forma&#10;&#10;El contenido generado por IA puede ser incorrecto.">
            <a:extLst>
              <a:ext uri="{FF2B5EF4-FFF2-40B4-BE49-F238E27FC236}">
                <a16:creationId xmlns:a16="http://schemas.microsoft.com/office/drawing/2014/main" id="{A4CAFB52-FFDD-8AE4-4A57-70F3218947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8224" y="3744706"/>
            <a:ext cx="3650774" cy="945648"/>
          </a:xfrm>
          <a:prstGeom prst="rect">
            <a:avLst/>
          </a:prstGeom>
          <a:solidFill>
            <a:srgbClr val="F9E3E2"/>
          </a:solidFill>
        </p:spPr>
      </p:pic>
      <p:sp>
        <p:nvSpPr>
          <p:cNvPr id="7" name="Marcador de número de diapositiva 2">
            <a:extLst>
              <a:ext uri="{FF2B5EF4-FFF2-40B4-BE49-F238E27FC236}">
                <a16:creationId xmlns:a16="http://schemas.microsoft.com/office/drawing/2014/main" id="{7BE21068-CBA1-2FF6-EFD5-C1671CC8D870}"/>
              </a:ext>
            </a:extLst>
          </p:cNvPr>
          <p:cNvSpPr>
            <a:spLocks noGrp="1"/>
          </p:cNvSpPr>
          <p:nvPr>
            <p:ph type="sldNum" sz="quarter" idx="7"/>
          </p:nvPr>
        </p:nvSpPr>
        <p:spPr>
          <a:xfrm>
            <a:off x="8845943" y="6538031"/>
            <a:ext cx="1019383" cy="141064"/>
          </a:xfrm>
        </p:spPr>
        <p:txBody>
          <a:bodyPr/>
          <a:lstStyle/>
          <a:p>
            <a:pPr marL="111760">
              <a:lnSpc>
                <a:spcPts val="1120"/>
              </a:lnSpc>
            </a:pPr>
            <a:fld id="{81D60167-4931-47E6-BA6A-407CBD079E47}" type="slidenum">
              <a:rPr lang="es-ES" spc="-50" smtClean="0">
                <a:solidFill>
                  <a:schemeClr val="tx1"/>
                </a:solidFill>
              </a:rPr>
              <a:t>15</a:t>
            </a:fld>
            <a:endParaRPr lang="es-ES" spc="-50" dirty="0">
              <a:solidFill>
                <a:schemeClr val="tx1"/>
              </a:solidFill>
            </a:endParaRPr>
          </a:p>
        </p:txBody>
      </p:sp>
      <p:sp>
        <p:nvSpPr>
          <p:cNvPr id="9" name="CuadroTexto 8">
            <a:extLst>
              <a:ext uri="{FF2B5EF4-FFF2-40B4-BE49-F238E27FC236}">
                <a16:creationId xmlns:a16="http://schemas.microsoft.com/office/drawing/2014/main" id="{17AC385D-2E59-C6DF-131B-C24BC781599D}"/>
              </a:ext>
            </a:extLst>
          </p:cNvPr>
          <p:cNvSpPr txBox="1"/>
          <p:nvPr/>
        </p:nvSpPr>
        <p:spPr>
          <a:xfrm>
            <a:off x="946150" y="275377"/>
            <a:ext cx="2510624" cy="307777"/>
          </a:xfrm>
          <a:prstGeom prst="rect">
            <a:avLst/>
          </a:prstGeom>
          <a:noFill/>
        </p:spPr>
        <p:txBody>
          <a:bodyPr wrap="none" rtlCol="0">
            <a:spAutoFit/>
          </a:bodyPr>
          <a:lstStyle/>
          <a:p>
            <a:r>
              <a:rPr lang="es-ES" sz="1400" dirty="0">
                <a:solidFill>
                  <a:schemeClr val="bg1">
                    <a:lumMod val="50000"/>
                  </a:schemeClr>
                </a:solidFill>
              </a:rPr>
              <a:t>Arquitectura del Transformer</a:t>
            </a:r>
          </a:p>
        </p:txBody>
      </p:sp>
      <p:sp>
        <p:nvSpPr>
          <p:cNvPr id="11" name="Rectángulo 10" descr="Inteligencia artificial con relleno sólido">
            <a:extLst>
              <a:ext uri="{FF2B5EF4-FFF2-40B4-BE49-F238E27FC236}">
                <a16:creationId xmlns:a16="http://schemas.microsoft.com/office/drawing/2014/main" id="{5D91CFD0-7BED-5D16-1354-94027F906987}"/>
              </a:ext>
            </a:extLst>
          </p:cNvPr>
          <p:cNvSpPr/>
          <p:nvPr/>
        </p:nvSpPr>
        <p:spPr>
          <a:xfrm>
            <a:off x="514903" y="275143"/>
            <a:ext cx="377092" cy="345999"/>
          </a:xfrm>
          <a:prstGeom prst="rect">
            <a:avLst/>
          </a:prstGeom>
          <a:blipFill>
            <a:blip r:embed="rId5">
              <a:extLs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s-ES"/>
          </a:p>
        </p:txBody>
      </p:sp>
    </p:spTree>
    <p:extLst>
      <p:ext uri="{BB962C8B-B14F-4D97-AF65-F5344CB8AC3E}">
        <p14:creationId xmlns:p14="http://schemas.microsoft.com/office/powerpoint/2010/main" val="1657073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3BB9830-1B59-5D8A-2CDD-65932EE4FE38}"/>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B8B1B911-2B60-855A-16C5-877A31B02E61}"/>
              </a:ext>
            </a:extLst>
          </p:cNvPr>
          <p:cNvPicPr/>
          <p:nvPr/>
        </p:nvPicPr>
        <p:blipFill>
          <a:blip r:embed="rId3" cstate="print"/>
          <a:stretch>
            <a:fillRect/>
          </a:stretch>
        </p:blipFill>
        <p:spPr>
          <a:xfrm>
            <a:off x="4756150" y="359620"/>
            <a:ext cx="4233640" cy="6214959"/>
          </a:xfrm>
          <a:prstGeom prst="rect">
            <a:avLst/>
          </a:prstGeom>
        </p:spPr>
      </p:pic>
      <p:sp>
        <p:nvSpPr>
          <p:cNvPr id="2" name="object 2">
            <a:extLst>
              <a:ext uri="{FF2B5EF4-FFF2-40B4-BE49-F238E27FC236}">
                <a16:creationId xmlns:a16="http://schemas.microsoft.com/office/drawing/2014/main" id="{3C1AE6F3-7011-0391-29F9-0F2EA666ADCA}"/>
              </a:ext>
            </a:extLst>
          </p:cNvPr>
          <p:cNvSpPr txBox="1">
            <a:spLocks noGrp="1"/>
          </p:cNvSpPr>
          <p:nvPr>
            <p:ph type="title"/>
          </p:nvPr>
        </p:nvSpPr>
        <p:spPr>
          <a:xfrm>
            <a:off x="2012950" y="633498"/>
            <a:ext cx="5758964" cy="699550"/>
          </a:xfrm>
          <a:prstGeom prst="rect">
            <a:avLst/>
          </a:prstGeom>
        </p:spPr>
        <p:txBody>
          <a:bodyPr vert="horz" wrap="square" lIns="0" tIns="83185" rIns="0" bIns="0" rtlCol="0">
            <a:spAutoFit/>
          </a:bodyPr>
          <a:lstStyle/>
          <a:p>
            <a:pPr marL="657860" marR="5080" indent="-645795">
              <a:spcBef>
                <a:spcPts val="655"/>
              </a:spcBef>
            </a:pPr>
            <a:r>
              <a:rPr lang="es-ES" sz="2000" spc="50" dirty="0"/>
              <a:t>IV. Arquitectura del </a:t>
            </a:r>
            <a:r>
              <a:rPr sz="2000" spc="175" dirty="0"/>
              <a:t>Transformer</a:t>
            </a:r>
            <a:r>
              <a:rPr lang="es-ES" sz="2000" spc="175" dirty="0"/>
              <a:t>: </a:t>
            </a:r>
            <a:br>
              <a:rPr lang="es-ES" sz="2000" spc="175" dirty="0"/>
            </a:br>
            <a:r>
              <a:rPr lang="es-ES" sz="2000" spc="175" dirty="0"/>
              <a:t>Mecanismo de Atención</a:t>
            </a:r>
            <a:endParaRPr sz="2000" spc="175" dirty="0"/>
          </a:p>
        </p:txBody>
      </p:sp>
      <p:grpSp>
        <p:nvGrpSpPr>
          <p:cNvPr id="4" name="object 7">
            <a:extLst>
              <a:ext uri="{FF2B5EF4-FFF2-40B4-BE49-F238E27FC236}">
                <a16:creationId xmlns:a16="http://schemas.microsoft.com/office/drawing/2014/main" id="{8A8E6DF8-F946-4E95-E9DE-A0FD2B929074}"/>
              </a:ext>
            </a:extLst>
          </p:cNvPr>
          <p:cNvGrpSpPr/>
          <p:nvPr/>
        </p:nvGrpSpPr>
        <p:grpSpPr>
          <a:xfrm>
            <a:off x="293892" y="2604550"/>
            <a:ext cx="4495800" cy="1183537"/>
            <a:chOff x="588263" y="4075427"/>
            <a:chExt cx="8054361" cy="1088011"/>
          </a:xfrm>
          <a:solidFill>
            <a:srgbClr val="FDDFB9"/>
          </a:solidFill>
        </p:grpSpPr>
        <p:sp>
          <p:nvSpPr>
            <p:cNvPr id="6" name="object 8">
              <a:extLst>
                <a:ext uri="{FF2B5EF4-FFF2-40B4-BE49-F238E27FC236}">
                  <a16:creationId xmlns:a16="http://schemas.microsoft.com/office/drawing/2014/main" id="{D61C0325-C8ED-9554-A290-25A8B50112F5}"/>
                </a:ext>
              </a:extLst>
            </p:cNvPr>
            <p:cNvSpPr/>
            <p:nvPr/>
          </p:nvSpPr>
          <p:spPr>
            <a:xfrm>
              <a:off x="588263" y="4123944"/>
              <a:ext cx="8054361" cy="1039494"/>
            </a:xfrm>
            <a:custGeom>
              <a:avLst/>
              <a:gdLst/>
              <a:ahLst/>
              <a:cxnLst/>
              <a:rect l="l" t="t" r="r" b="b"/>
              <a:pathLst>
                <a:path w="8327390" h="1039495">
                  <a:moveTo>
                    <a:pt x="8327135" y="1039367"/>
                  </a:moveTo>
                  <a:lnTo>
                    <a:pt x="0" y="1039367"/>
                  </a:lnTo>
                  <a:lnTo>
                    <a:pt x="0" y="0"/>
                  </a:lnTo>
                  <a:lnTo>
                    <a:pt x="8327135" y="0"/>
                  </a:lnTo>
                  <a:lnTo>
                    <a:pt x="8327135" y="38480"/>
                  </a:lnTo>
                  <a:lnTo>
                    <a:pt x="70595" y="38480"/>
                  </a:lnTo>
                  <a:lnTo>
                    <a:pt x="63860" y="41270"/>
                  </a:lnTo>
                  <a:lnTo>
                    <a:pt x="52700" y="52429"/>
                  </a:lnTo>
                  <a:lnTo>
                    <a:pt x="49910" y="59164"/>
                  </a:lnTo>
                  <a:lnTo>
                    <a:pt x="49910" y="960771"/>
                  </a:lnTo>
                  <a:lnTo>
                    <a:pt x="52700" y="967506"/>
                  </a:lnTo>
                  <a:lnTo>
                    <a:pt x="63860" y="978665"/>
                  </a:lnTo>
                  <a:lnTo>
                    <a:pt x="70595" y="981455"/>
                  </a:lnTo>
                  <a:lnTo>
                    <a:pt x="8327135" y="981455"/>
                  </a:lnTo>
                  <a:lnTo>
                    <a:pt x="8327135" y="1039367"/>
                  </a:lnTo>
                  <a:close/>
                </a:path>
                <a:path w="8327390" h="1039495">
                  <a:moveTo>
                    <a:pt x="8327135" y="981455"/>
                  </a:moveTo>
                  <a:lnTo>
                    <a:pt x="8258825" y="981455"/>
                  </a:lnTo>
                  <a:lnTo>
                    <a:pt x="8265560" y="978665"/>
                  </a:lnTo>
                  <a:lnTo>
                    <a:pt x="8276720" y="967506"/>
                  </a:lnTo>
                  <a:lnTo>
                    <a:pt x="8279510" y="960771"/>
                  </a:lnTo>
                  <a:lnTo>
                    <a:pt x="8279510" y="59164"/>
                  </a:lnTo>
                  <a:lnTo>
                    <a:pt x="8276720" y="52429"/>
                  </a:lnTo>
                  <a:lnTo>
                    <a:pt x="8265560" y="41270"/>
                  </a:lnTo>
                  <a:lnTo>
                    <a:pt x="8258825" y="38480"/>
                  </a:lnTo>
                  <a:lnTo>
                    <a:pt x="8327135" y="38480"/>
                  </a:lnTo>
                  <a:lnTo>
                    <a:pt x="8327135" y="981455"/>
                  </a:lnTo>
                  <a:close/>
                </a:path>
              </a:pathLst>
            </a:custGeom>
            <a:grpFill/>
          </p:spPr>
          <p:txBody>
            <a:bodyPr wrap="square" lIns="0" tIns="0" rIns="0" bIns="0" rtlCol="0"/>
            <a:lstStyle/>
            <a:p>
              <a:endParaRPr/>
            </a:p>
          </p:txBody>
        </p:sp>
        <p:sp>
          <p:nvSpPr>
            <p:cNvPr id="7" name="object 9">
              <a:extLst>
                <a:ext uri="{FF2B5EF4-FFF2-40B4-BE49-F238E27FC236}">
                  <a16:creationId xmlns:a16="http://schemas.microsoft.com/office/drawing/2014/main" id="{E8D26381-8F80-362F-12DD-8A69DC24B65A}"/>
                </a:ext>
              </a:extLst>
            </p:cNvPr>
            <p:cNvSpPr/>
            <p:nvPr/>
          </p:nvSpPr>
          <p:spPr>
            <a:xfrm>
              <a:off x="628646" y="4075427"/>
              <a:ext cx="7974930" cy="1039493"/>
            </a:xfrm>
            <a:custGeom>
              <a:avLst/>
              <a:gdLst/>
              <a:ahLst/>
              <a:cxnLst/>
              <a:rect l="l" t="t" r="r" b="b"/>
              <a:pathLst>
                <a:path w="8248650" h="962025">
                  <a:moveTo>
                    <a:pt x="8215600" y="962015"/>
                  </a:moveTo>
                  <a:lnTo>
                    <a:pt x="33047" y="962015"/>
                  </a:lnTo>
                  <a:lnTo>
                    <a:pt x="28187" y="961048"/>
                  </a:lnTo>
                  <a:lnTo>
                    <a:pt x="966" y="933830"/>
                  </a:lnTo>
                  <a:lnTo>
                    <a:pt x="0" y="928976"/>
                  </a:lnTo>
                  <a:lnTo>
                    <a:pt x="0" y="923924"/>
                  </a:lnTo>
                  <a:lnTo>
                    <a:pt x="0" y="33048"/>
                  </a:lnTo>
                  <a:lnTo>
                    <a:pt x="28187" y="967"/>
                  </a:lnTo>
                  <a:lnTo>
                    <a:pt x="33047" y="0"/>
                  </a:lnTo>
                  <a:lnTo>
                    <a:pt x="8215600" y="0"/>
                  </a:lnTo>
                  <a:lnTo>
                    <a:pt x="8247681" y="28184"/>
                  </a:lnTo>
                  <a:lnTo>
                    <a:pt x="8248648" y="33048"/>
                  </a:lnTo>
                  <a:lnTo>
                    <a:pt x="8248648" y="928976"/>
                  </a:lnTo>
                  <a:lnTo>
                    <a:pt x="8220460" y="961048"/>
                  </a:lnTo>
                  <a:lnTo>
                    <a:pt x="8215600" y="962015"/>
                  </a:lnTo>
                  <a:close/>
                </a:path>
              </a:pathLst>
            </a:custGeom>
            <a:grpFill/>
          </p:spPr>
          <p:txBody>
            <a:bodyPr wrap="square" lIns="0" tIns="0" rIns="0" bIns="0" rtlCol="0"/>
            <a:lstStyle/>
            <a:p>
              <a:endParaRPr dirty="0"/>
            </a:p>
          </p:txBody>
        </p:sp>
      </p:grpSp>
      <p:pic>
        <p:nvPicPr>
          <p:cNvPr id="8" name="Imagen 7" descr="Forma&#10;&#10;El contenido generado por IA puede ser incorrecto.">
            <a:extLst>
              <a:ext uri="{FF2B5EF4-FFF2-40B4-BE49-F238E27FC236}">
                <a16:creationId xmlns:a16="http://schemas.microsoft.com/office/drawing/2014/main" id="{3EA1CE3A-9000-2F43-83E2-39998F568C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6341" y="2910311"/>
            <a:ext cx="4145519" cy="556789"/>
          </a:xfrm>
          <a:prstGeom prst="rect">
            <a:avLst/>
          </a:prstGeom>
        </p:spPr>
      </p:pic>
      <p:sp>
        <p:nvSpPr>
          <p:cNvPr id="11" name="object 5">
            <a:extLst>
              <a:ext uri="{FF2B5EF4-FFF2-40B4-BE49-F238E27FC236}">
                <a16:creationId xmlns:a16="http://schemas.microsoft.com/office/drawing/2014/main" id="{46E44868-7DCA-36A2-A282-01D1CE9730E1}"/>
              </a:ext>
            </a:extLst>
          </p:cNvPr>
          <p:cNvSpPr txBox="1"/>
          <p:nvPr/>
        </p:nvSpPr>
        <p:spPr>
          <a:xfrm>
            <a:off x="283846" y="1606925"/>
            <a:ext cx="5692459" cy="807016"/>
          </a:xfrm>
          <a:prstGeom prst="rect">
            <a:avLst/>
          </a:prstGeom>
        </p:spPr>
        <p:txBody>
          <a:bodyPr vert="horz" wrap="square" lIns="0" tIns="13970" rIns="0" bIns="0" rtlCol="0">
            <a:spAutoFit/>
          </a:bodyPr>
          <a:lstStyle/>
          <a:p>
            <a:pPr marL="434975" marR="5080">
              <a:lnSpc>
                <a:spcPct val="118400"/>
              </a:lnSpc>
              <a:spcBef>
                <a:spcPts val="110"/>
              </a:spcBef>
            </a:pPr>
            <a:r>
              <a:rPr lang="es-ES" sz="2200" spc="-10" dirty="0">
                <a:solidFill>
                  <a:srgbClr val="333333"/>
                </a:solidFill>
                <a:latin typeface="Microsoft Sans Serif"/>
                <a:cs typeface="Microsoft Sans Serif"/>
              </a:rPr>
              <a:t>Construye</a:t>
            </a:r>
            <a:r>
              <a:rPr sz="2200" spc="-65" dirty="0">
                <a:solidFill>
                  <a:srgbClr val="333333"/>
                </a:solidFill>
                <a:latin typeface="Microsoft Sans Serif"/>
                <a:cs typeface="Microsoft Sans Serif"/>
              </a:rPr>
              <a:t> </a:t>
            </a:r>
            <a:r>
              <a:rPr sz="2300" b="1" spc="-90" dirty="0">
                <a:solidFill>
                  <a:srgbClr val="0056B3"/>
                </a:solidFill>
                <a:latin typeface="Arial"/>
                <a:cs typeface="Arial"/>
              </a:rPr>
              <a:t>Q</a:t>
            </a:r>
            <a:r>
              <a:rPr sz="2300" b="1" spc="-110" dirty="0">
                <a:solidFill>
                  <a:srgbClr val="0056B3"/>
                </a:solidFill>
                <a:latin typeface="Arial"/>
                <a:cs typeface="Arial"/>
              </a:rPr>
              <a:t> </a:t>
            </a:r>
            <a:r>
              <a:rPr sz="2200" spc="-20" dirty="0">
                <a:solidFill>
                  <a:srgbClr val="333333"/>
                </a:solidFill>
                <a:latin typeface="Microsoft Sans Serif"/>
                <a:cs typeface="Microsoft Sans Serif"/>
              </a:rPr>
              <a:t>(Query),</a:t>
            </a:r>
            <a:r>
              <a:rPr sz="2200" spc="-55" dirty="0">
                <a:solidFill>
                  <a:srgbClr val="333333"/>
                </a:solidFill>
                <a:latin typeface="Microsoft Sans Serif"/>
                <a:cs typeface="Microsoft Sans Serif"/>
              </a:rPr>
              <a:t> </a:t>
            </a:r>
            <a:r>
              <a:rPr sz="2300" b="1" spc="-204" dirty="0">
                <a:solidFill>
                  <a:srgbClr val="0056B3"/>
                </a:solidFill>
                <a:latin typeface="Arial"/>
                <a:cs typeface="Arial"/>
              </a:rPr>
              <a:t>K</a:t>
            </a:r>
            <a:r>
              <a:rPr sz="2300" b="1" spc="-110" dirty="0">
                <a:solidFill>
                  <a:srgbClr val="0056B3"/>
                </a:solidFill>
                <a:latin typeface="Arial"/>
                <a:cs typeface="Arial"/>
              </a:rPr>
              <a:t> </a:t>
            </a:r>
            <a:r>
              <a:rPr sz="2200" spc="-80" dirty="0">
                <a:solidFill>
                  <a:srgbClr val="333333"/>
                </a:solidFill>
                <a:latin typeface="Microsoft Sans Serif"/>
                <a:cs typeface="Microsoft Sans Serif"/>
              </a:rPr>
              <a:t>(Key),</a:t>
            </a:r>
            <a:r>
              <a:rPr sz="2200" spc="-60" dirty="0">
                <a:solidFill>
                  <a:srgbClr val="333333"/>
                </a:solidFill>
                <a:latin typeface="Microsoft Sans Serif"/>
                <a:cs typeface="Microsoft Sans Serif"/>
              </a:rPr>
              <a:t> </a:t>
            </a:r>
            <a:r>
              <a:rPr sz="2300" b="1" spc="-85" dirty="0">
                <a:solidFill>
                  <a:srgbClr val="0056B3"/>
                </a:solidFill>
                <a:latin typeface="Arial"/>
                <a:cs typeface="Arial"/>
              </a:rPr>
              <a:t>V</a:t>
            </a:r>
            <a:r>
              <a:rPr sz="2300" b="1" spc="-110" dirty="0">
                <a:solidFill>
                  <a:srgbClr val="0056B3"/>
                </a:solidFill>
                <a:latin typeface="Arial"/>
                <a:cs typeface="Arial"/>
              </a:rPr>
              <a:t> </a:t>
            </a:r>
            <a:r>
              <a:rPr sz="2200" spc="-10" dirty="0">
                <a:solidFill>
                  <a:srgbClr val="333333"/>
                </a:solidFill>
                <a:latin typeface="Microsoft Sans Serif"/>
                <a:cs typeface="Microsoft Sans Serif"/>
              </a:rPr>
              <a:t>(Value).</a:t>
            </a:r>
            <a:endParaRPr lang="es-ES" sz="2200" spc="-10" dirty="0">
              <a:solidFill>
                <a:srgbClr val="333333"/>
              </a:solidFill>
              <a:latin typeface="Microsoft Sans Serif"/>
              <a:cs typeface="Microsoft Sans Serif"/>
            </a:endParaRPr>
          </a:p>
          <a:p>
            <a:pPr marL="434975" marR="5080">
              <a:lnSpc>
                <a:spcPct val="118400"/>
              </a:lnSpc>
              <a:spcBef>
                <a:spcPts val="110"/>
              </a:spcBef>
            </a:pPr>
            <a:r>
              <a:rPr lang="es-ES" sz="2200" dirty="0">
                <a:solidFill>
                  <a:srgbClr val="333333"/>
                </a:solidFill>
                <a:latin typeface="Microsoft Sans Serif"/>
                <a:cs typeface="Microsoft Sans Serif"/>
              </a:rPr>
              <a:t>Idea</a:t>
            </a:r>
            <a:r>
              <a:rPr lang="es-ES" sz="2200" spc="-70" dirty="0">
                <a:solidFill>
                  <a:srgbClr val="333333"/>
                </a:solidFill>
                <a:latin typeface="Microsoft Sans Serif"/>
                <a:cs typeface="Microsoft Sans Serif"/>
              </a:rPr>
              <a:t> </a:t>
            </a:r>
            <a:r>
              <a:rPr lang="es-ES" sz="2200" spc="-35" dirty="0">
                <a:solidFill>
                  <a:srgbClr val="333333"/>
                </a:solidFill>
                <a:latin typeface="Microsoft Sans Serif"/>
                <a:cs typeface="Microsoft Sans Serif"/>
              </a:rPr>
              <a:t>clave:</a:t>
            </a:r>
            <a:r>
              <a:rPr lang="es-ES" sz="2200" spc="-65" dirty="0">
                <a:solidFill>
                  <a:srgbClr val="333333"/>
                </a:solidFill>
                <a:latin typeface="Microsoft Sans Serif"/>
                <a:cs typeface="Microsoft Sans Serif"/>
              </a:rPr>
              <a:t> </a:t>
            </a:r>
            <a:r>
              <a:rPr lang="es-ES" sz="2200" dirty="0">
                <a:solidFill>
                  <a:srgbClr val="333333"/>
                </a:solidFill>
                <a:latin typeface="Microsoft Sans Serif"/>
                <a:cs typeface="Microsoft Sans Serif"/>
              </a:rPr>
              <a:t>Scaled</a:t>
            </a:r>
            <a:r>
              <a:rPr lang="es-ES" sz="2200" spc="-65" dirty="0">
                <a:solidFill>
                  <a:srgbClr val="333333"/>
                </a:solidFill>
                <a:latin typeface="Microsoft Sans Serif"/>
                <a:cs typeface="Microsoft Sans Serif"/>
              </a:rPr>
              <a:t> </a:t>
            </a:r>
            <a:r>
              <a:rPr lang="es-ES" sz="2200" spc="80" dirty="0">
                <a:solidFill>
                  <a:srgbClr val="333333"/>
                </a:solidFill>
                <a:latin typeface="Microsoft Sans Serif"/>
                <a:cs typeface="Microsoft Sans Serif"/>
              </a:rPr>
              <a:t>Dot-</a:t>
            </a:r>
            <a:r>
              <a:rPr lang="es-ES" sz="2200" spc="70" dirty="0">
                <a:solidFill>
                  <a:srgbClr val="333333"/>
                </a:solidFill>
                <a:latin typeface="Microsoft Sans Serif"/>
                <a:cs typeface="Microsoft Sans Serif"/>
              </a:rPr>
              <a:t>Product</a:t>
            </a:r>
            <a:r>
              <a:rPr lang="es-ES" sz="2200" spc="-65" dirty="0">
                <a:solidFill>
                  <a:srgbClr val="333333"/>
                </a:solidFill>
                <a:latin typeface="Microsoft Sans Serif"/>
                <a:cs typeface="Microsoft Sans Serif"/>
              </a:rPr>
              <a:t> </a:t>
            </a:r>
            <a:r>
              <a:rPr lang="es-ES" sz="2200" spc="45" dirty="0">
                <a:solidFill>
                  <a:srgbClr val="333333"/>
                </a:solidFill>
                <a:latin typeface="Microsoft Sans Serif"/>
                <a:cs typeface="Microsoft Sans Serif"/>
              </a:rPr>
              <a:t>Attention.</a:t>
            </a:r>
            <a:endParaRPr sz="2200" dirty="0">
              <a:latin typeface="Microsoft Sans Serif"/>
              <a:cs typeface="Microsoft Sans Serif"/>
            </a:endParaRPr>
          </a:p>
        </p:txBody>
      </p:sp>
      <p:pic>
        <p:nvPicPr>
          <p:cNvPr id="13" name="Imagen 12">
            <a:extLst>
              <a:ext uri="{FF2B5EF4-FFF2-40B4-BE49-F238E27FC236}">
                <a16:creationId xmlns:a16="http://schemas.microsoft.com/office/drawing/2014/main" id="{62D46192-110A-143F-C644-11DFD188D2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1474" y="5524500"/>
            <a:ext cx="5177973" cy="283448"/>
          </a:xfrm>
          <a:prstGeom prst="rect">
            <a:avLst/>
          </a:prstGeom>
          <a:solidFill>
            <a:srgbClr val="FDDFB9"/>
          </a:solidFill>
        </p:spPr>
      </p:pic>
      <p:sp>
        <p:nvSpPr>
          <p:cNvPr id="12" name="Marcador de número de diapositiva 11">
            <a:extLst>
              <a:ext uri="{FF2B5EF4-FFF2-40B4-BE49-F238E27FC236}">
                <a16:creationId xmlns:a16="http://schemas.microsoft.com/office/drawing/2014/main" id="{E7575AB4-7844-B970-0EEA-32507FD2E589}"/>
              </a:ext>
            </a:extLst>
          </p:cNvPr>
          <p:cNvSpPr>
            <a:spLocks noGrp="1"/>
          </p:cNvSpPr>
          <p:nvPr>
            <p:ph type="sldNum" sz="quarter" idx="7"/>
          </p:nvPr>
        </p:nvSpPr>
        <p:spPr/>
        <p:txBody>
          <a:bodyPr/>
          <a:lstStyle/>
          <a:p>
            <a:pPr marL="111760">
              <a:lnSpc>
                <a:spcPts val="1120"/>
              </a:lnSpc>
            </a:pPr>
            <a:fld id="{81D60167-4931-47E6-BA6A-407CBD079E47}" type="slidenum">
              <a:rPr lang="es-ES" spc="-50" smtClean="0"/>
              <a:t>16</a:t>
            </a:fld>
            <a:endParaRPr lang="es-ES" spc="-50" dirty="0"/>
          </a:p>
        </p:txBody>
      </p:sp>
      <p:sp>
        <p:nvSpPr>
          <p:cNvPr id="14" name="Marcador de número de diapositiva 2">
            <a:extLst>
              <a:ext uri="{FF2B5EF4-FFF2-40B4-BE49-F238E27FC236}">
                <a16:creationId xmlns:a16="http://schemas.microsoft.com/office/drawing/2014/main" id="{F90DF6FA-D4A6-93DA-7B3D-112C3302DE26}"/>
              </a:ext>
            </a:extLst>
          </p:cNvPr>
          <p:cNvSpPr txBox="1">
            <a:spLocks/>
          </p:cNvSpPr>
          <p:nvPr/>
        </p:nvSpPr>
        <p:spPr>
          <a:xfrm>
            <a:off x="8845943" y="6538031"/>
            <a:ext cx="1019383" cy="141064"/>
          </a:xfrm>
          <a:prstGeom prst="rect">
            <a:avLst/>
          </a:prstGeom>
        </p:spPr>
        <p:txBody>
          <a:bodyPr wrap="square" lIns="0" tIns="0" rIns="0" bIns="0">
            <a:spAutoFit/>
          </a:bodyPr>
          <a:lstStyle>
            <a:defPPr>
              <a:defRPr kern="0"/>
            </a:defPPr>
            <a:lvl1pPr>
              <a:defRPr sz="1050" b="0" i="0">
                <a:solidFill>
                  <a:schemeClr val="bg1"/>
                </a:solidFill>
                <a:latin typeface="Arial MT"/>
                <a:cs typeface="Arial MT"/>
              </a:defRPr>
            </a:lvl1pPr>
          </a:lstStyle>
          <a:p>
            <a:pPr marL="111760">
              <a:lnSpc>
                <a:spcPts val="1120"/>
              </a:lnSpc>
            </a:pPr>
            <a:fld id="{81D60167-4931-47E6-BA6A-407CBD079E47}" type="slidenum">
              <a:rPr lang="es-ES" spc="-50" smtClean="0">
                <a:solidFill>
                  <a:schemeClr val="tx1"/>
                </a:solidFill>
              </a:rPr>
              <a:pPr marL="111760">
                <a:lnSpc>
                  <a:spcPts val="1120"/>
                </a:lnSpc>
              </a:pPr>
              <a:t>16</a:t>
            </a:fld>
            <a:endParaRPr lang="es-ES" spc="-50" dirty="0">
              <a:solidFill>
                <a:schemeClr val="tx1"/>
              </a:solidFill>
            </a:endParaRPr>
          </a:p>
        </p:txBody>
      </p:sp>
      <p:sp>
        <p:nvSpPr>
          <p:cNvPr id="16" name="CuadroTexto 15">
            <a:extLst>
              <a:ext uri="{FF2B5EF4-FFF2-40B4-BE49-F238E27FC236}">
                <a16:creationId xmlns:a16="http://schemas.microsoft.com/office/drawing/2014/main" id="{0622705F-79BD-7A25-10B5-C4A9D02049A9}"/>
              </a:ext>
            </a:extLst>
          </p:cNvPr>
          <p:cNvSpPr txBox="1"/>
          <p:nvPr/>
        </p:nvSpPr>
        <p:spPr>
          <a:xfrm>
            <a:off x="946150" y="275377"/>
            <a:ext cx="2460930" cy="307777"/>
          </a:xfrm>
          <a:prstGeom prst="rect">
            <a:avLst/>
          </a:prstGeom>
          <a:noFill/>
        </p:spPr>
        <p:txBody>
          <a:bodyPr wrap="none" rtlCol="0">
            <a:spAutoFit/>
          </a:bodyPr>
          <a:lstStyle/>
          <a:p>
            <a:r>
              <a:rPr lang="es-ES" sz="1400" dirty="0">
                <a:solidFill>
                  <a:schemeClr val="bg1">
                    <a:lumMod val="50000"/>
                  </a:schemeClr>
                </a:solidFill>
              </a:rPr>
              <a:t>Arquitectura del Transformer</a:t>
            </a:r>
          </a:p>
        </p:txBody>
      </p:sp>
      <p:sp>
        <p:nvSpPr>
          <p:cNvPr id="17" name="Rectángulo 16" descr="Inteligencia artificial con relleno sólido">
            <a:extLst>
              <a:ext uri="{FF2B5EF4-FFF2-40B4-BE49-F238E27FC236}">
                <a16:creationId xmlns:a16="http://schemas.microsoft.com/office/drawing/2014/main" id="{91FC9395-56F4-E3B2-8189-E9C74F4486E1}"/>
              </a:ext>
            </a:extLst>
          </p:cNvPr>
          <p:cNvSpPr/>
          <p:nvPr/>
        </p:nvSpPr>
        <p:spPr>
          <a:xfrm>
            <a:off x="514903" y="275143"/>
            <a:ext cx="377092" cy="345999"/>
          </a:xfrm>
          <a:prstGeom prst="rect">
            <a:avLst/>
          </a:prstGeom>
          <a:blipFill>
            <a:blip r:embed="rId6">
              <a:extLst>
                <a:ext uri="{96DAC541-7B7A-43D3-8B79-37D633B846F1}">
                  <asvg:svgBlip xmlns:asvg="http://schemas.microsoft.com/office/drawing/2016/SVG/main" r:embed="rId7"/>
                </a:ext>
              </a:extLst>
            </a:blip>
            <a:srcRect/>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s-ES"/>
          </a:p>
        </p:txBody>
      </p:sp>
      <p:pic>
        <p:nvPicPr>
          <p:cNvPr id="18" name="Imagen 17" descr="Forma&#10;&#10;El contenido generado por IA puede ser incorrecto.">
            <a:extLst>
              <a:ext uri="{FF2B5EF4-FFF2-40B4-BE49-F238E27FC236}">
                <a16:creationId xmlns:a16="http://schemas.microsoft.com/office/drawing/2014/main" id="{45A895AE-4AED-0429-A888-9907CEBA579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6433" y="4212973"/>
            <a:ext cx="3810000" cy="574606"/>
          </a:xfrm>
          <a:prstGeom prst="rect">
            <a:avLst/>
          </a:prstGeom>
          <a:solidFill>
            <a:srgbClr val="FDDFB9"/>
          </a:solidFill>
        </p:spPr>
      </p:pic>
    </p:spTree>
    <p:extLst>
      <p:ext uri="{BB962C8B-B14F-4D97-AF65-F5344CB8AC3E}">
        <p14:creationId xmlns:p14="http://schemas.microsoft.com/office/powerpoint/2010/main" val="4223508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Imagen 10" descr="Interfaz de usuario gráfica, Diagrama&#10;&#10;El contenido generado por IA puede ser incorrecto.">
            <a:extLst>
              <a:ext uri="{FF2B5EF4-FFF2-40B4-BE49-F238E27FC236}">
                <a16:creationId xmlns:a16="http://schemas.microsoft.com/office/drawing/2014/main" id="{FEA88A3E-55A2-B7CC-FB3E-C472C5E756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2992" y="1092673"/>
            <a:ext cx="7236757" cy="5392776"/>
          </a:xfrm>
          <a:prstGeom prst="rect">
            <a:avLst/>
          </a:prstGeom>
        </p:spPr>
      </p:pic>
      <p:sp>
        <p:nvSpPr>
          <p:cNvPr id="2" name="object 2"/>
          <p:cNvSpPr txBox="1">
            <a:spLocks noGrp="1"/>
          </p:cNvSpPr>
          <p:nvPr>
            <p:ph type="title"/>
          </p:nvPr>
        </p:nvSpPr>
        <p:spPr>
          <a:xfrm>
            <a:off x="869950" y="572679"/>
            <a:ext cx="9148127" cy="784702"/>
          </a:xfrm>
          <a:prstGeom prst="rect">
            <a:avLst/>
          </a:prstGeom>
        </p:spPr>
        <p:txBody>
          <a:bodyPr vert="horz" wrap="square" lIns="0" tIns="90805" rIns="0" bIns="0" rtlCol="0">
            <a:spAutoFit/>
          </a:bodyPr>
          <a:lstStyle/>
          <a:p>
            <a:pPr marL="2869565" marR="5080" indent="-2538730">
              <a:lnSpc>
                <a:spcPct val="150000"/>
              </a:lnSpc>
              <a:spcBef>
                <a:spcPts val="715"/>
              </a:spcBef>
            </a:pPr>
            <a:r>
              <a:rPr lang="es-ES" sz="1600" spc="-125" dirty="0"/>
              <a:t>IV. </a:t>
            </a:r>
            <a:r>
              <a:rPr sz="1600" spc="-125" dirty="0"/>
              <a:t>SAITS:</a:t>
            </a:r>
            <a:r>
              <a:rPr sz="1600" spc="50" dirty="0"/>
              <a:t> </a:t>
            </a:r>
            <a:r>
              <a:rPr sz="1600" spc="105" dirty="0"/>
              <a:t>Self-</a:t>
            </a:r>
            <a:r>
              <a:rPr sz="1600" spc="325" dirty="0"/>
              <a:t>Attention</a:t>
            </a:r>
            <a:r>
              <a:rPr lang="es-ES" sz="1600" spc="325" dirty="0"/>
              <a:t> Based Imputation</a:t>
            </a:r>
            <a:r>
              <a:rPr sz="1600" spc="50" dirty="0"/>
              <a:t> </a:t>
            </a:r>
            <a:r>
              <a:rPr sz="1600" spc="165" dirty="0"/>
              <a:t>for </a:t>
            </a:r>
            <a:r>
              <a:rPr sz="1600" spc="185" dirty="0"/>
              <a:t>Time</a:t>
            </a:r>
            <a:r>
              <a:rPr sz="1600" spc="204" dirty="0"/>
              <a:t> </a:t>
            </a:r>
            <a:r>
              <a:rPr sz="1600" spc="-10" dirty="0"/>
              <a:t>Series</a:t>
            </a:r>
            <a:r>
              <a:rPr lang="es-ES" sz="1600" spc="-10" dirty="0"/>
              <a:t>. </a:t>
            </a:r>
            <a:br>
              <a:rPr lang="es-ES" sz="1600" spc="-10" dirty="0"/>
            </a:br>
            <a:r>
              <a:rPr lang="es-ES" sz="1600" spc="-10" dirty="0"/>
              <a:t>Arquitectura General.</a:t>
            </a:r>
            <a:endParaRPr sz="1600" spc="-10" dirty="0"/>
          </a:p>
        </p:txBody>
      </p:sp>
      <p:sp>
        <p:nvSpPr>
          <p:cNvPr id="7" name="object 7"/>
          <p:cNvSpPr txBox="1"/>
          <p:nvPr/>
        </p:nvSpPr>
        <p:spPr>
          <a:xfrm>
            <a:off x="365963" y="1866900"/>
            <a:ext cx="1875588" cy="1498615"/>
          </a:xfrm>
          <a:prstGeom prst="rect">
            <a:avLst/>
          </a:prstGeom>
        </p:spPr>
        <p:txBody>
          <a:bodyPr vert="horz" wrap="square" lIns="0" tIns="12065" rIns="0" bIns="0" rtlCol="0">
            <a:spAutoFit/>
          </a:bodyPr>
          <a:lstStyle/>
          <a:p>
            <a:pPr marL="12700" marR="5080">
              <a:lnSpc>
                <a:spcPct val="122200"/>
              </a:lnSpc>
              <a:spcBef>
                <a:spcPts val="95"/>
              </a:spcBef>
            </a:pPr>
            <a:r>
              <a:rPr lang="es-ES" sz="1600" dirty="0">
                <a:solidFill>
                  <a:srgbClr val="333333"/>
                </a:solidFill>
                <a:latin typeface="Arial" panose="020B0604020202020204" pitchFamily="34" charset="0"/>
                <a:cs typeface="Arial" panose="020B0604020202020204" pitchFamily="34" charset="0"/>
              </a:rPr>
              <a:t>Modelo de </a:t>
            </a:r>
            <a:r>
              <a:rPr sz="1600" dirty="0">
                <a:solidFill>
                  <a:srgbClr val="333333"/>
                </a:solidFill>
                <a:latin typeface="Arial" panose="020B0604020202020204" pitchFamily="34" charset="0"/>
                <a:cs typeface="Arial" panose="020B0604020202020204" pitchFamily="34" charset="0"/>
              </a:rPr>
              <a:t>DL</a:t>
            </a:r>
            <a:r>
              <a:rPr sz="1600" spc="-35" dirty="0">
                <a:solidFill>
                  <a:srgbClr val="333333"/>
                </a:solidFill>
                <a:latin typeface="Arial" panose="020B0604020202020204" pitchFamily="34" charset="0"/>
                <a:cs typeface="Arial" panose="020B0604020202020204" pitchFamily="34" charset="0"/>
              </a:rPr>
              <a:t> </a:t>
            </a:r>
            <a:r>
              <a:rPr sz="1600" dirty="0">
                <a:solidFill>
                  <a:srgbClr val="333333"/>
                </a:solidFill>
                <a:latin typeface="Arial" panose="020B0604020202020204" pitchFamily="34" charset="0"/>
                <a:cs typeface="Arial" panose="020B0604020202020204" pitchFamily="34" charset="0"/>
              </a:rPr>
              <a:t>especializado</a:t>
            </a:r>
            <a:r>
              <a:rPr sz="1600" spc="-35" dirty="0">
                <a:solidFill>
                  <a:srgbClr val="333333"/>
                </a:solidFill>
                <a:latin typeface="Arial" panose="020B0604020202020204" pitchFamily="34" charset="0"/>
                <a:cs typeface="Arial" panose="020B0604020202020204" pitchFamily="34" charset="0"/>
              </a:rPr>
              <a:t> </a:t>
            </a:r>
            <a:r>
              <a:rPr sz="1600" spc="60" dirty="0">
                <a:solidFill>
                  <a:srgbClr val="333333"/>
                </a:solidFill>
                <a:latin typeface="Arial" panose="020B0604020202020204" pitchFamily="34" charset="0"/>
                <a:cs typeface="Arial" panose="020B0604020202020204" pitchFamily="34" charset="0"/>
              </a:rPr>
              <a:t>en</a:t>
            </a:r>
            <a:r>
              <a:rPr sz="1600" spc="-35" dirty="0">
                <a:solidFill>
                  <a:srgbClr val="333333"/>
                </a:solidFill>
                <a:latin typeface="Arial" panose="020B0604020202020204" pitchFamily="34" charset="0"/>
                <a:cs typeface="Arial" panose="020B0604020202020204" pitchFamily="34" charset="0"/>
              </a:rPr>
              <a:t> </a:t>
            </a:r>
            <a:r>
              <a:rPr sz="1600" spc="95" dirty="0">
                <a:solidFill>
                  <a:srgbClr val="333333"/>
                </a:solidFill>
                <a:latin typeface="Arial" panose="020B0604020202020204" pitchFamily="34" charset="0"/>
                <a:cs typeface="Arial" panose="020B0604020202020204" pitchFamily="34" charset="0"/>
              </a:rPr>
              <a:t>imputación</a:t>
            </a:r>
            <a:r>
              <a:rPr lang="es-ES" sz="1600" spc="95" dirty="0">
                <a:solidFill>
                  <a:srgbClr val="333333"/>
                </a:solidFill>
                <a:latin typeface="Arial" panose="020B0604020202020204" pitchFamily="34" charset="0"/>
                <a:cs typeface="Arial" panose="020B0604020202020204" pitchFamily="34" charset="0"/>
              </a:rPr>
              <a:t> </a:t>
            </a:r>
            <a:r>
              <a:rPr sz="1600" spc="60" dirty="0">
                <a:solidFill>
                  <a:srgbClr val="333333"/>
                </a:solidFill>
                <a:latin typeface="Arial" panose="020B0604020202020204" pitchFamily="34" charset="0"/>
                <a:cs typeface="Arial" panose="020B0604020202020204" pitchFamily="34" charset="0"/>
              </a:rPr>
              <a:t>de</a:t>
            </a:r>
            <a:r>
              <a:rPr sz="1600" spc="-35" dirty="0">
                <a:solidFill>
                  <a:srgbClr val="333333"/>
                </a:solidFill>
                <a:latin typeface="Arial" panose="020B0604020202020204" pitchFamily="34" charset="0"/>
                <a:cs typeface="Arial" panose="020B0604020202020204" pitchFamily="34" charset="0"/>
              </a:rPr>
              <a:t> </a:t>
            </a:r>
            <a:r>
              <a:rPr sz="1600" spc="-20" dirty="0">
                <a:solidFill>
                  <a:srgbClr val="333333"/>
                </a:solidFill>
                <a:latin typeface="Arial" panose="020B0604020202020204" pitchFamily="34" charset="0"/>
                <a:cs typeface="Arial" panose="020B0604020202020204" pitchFamily="34" charset="0"/>
              </a:rPr>
              <a:t>series</a:t>
            </a:r>
            <a:r>
              <a:rPr sz="1600" spc="-35" dirty="0">
                <a:solidFill>
                  <a:srgbClr val="333333"/>
                </a:solidFill>
                <a:latin typeface="Arial" panose="020B0604020202020204" pitchFamily="34" charset="0"/>
                <a:cs typeface="Arial" panose="020B0604020202020204" pitchFamily="34" charset="0"/>
              </a:rPr>
              <a:t> </a:t>
            </a:r>
            <a:r>
              <a:rPr sz="1600" spc="-10" dirty="0">
                <a:solidFill>
                  <a:srgbClr val="333333"/>
                </a:solidFill>
                <a:latin typeface="Arial" panose="020B0604020202020204" pitchFamily="34" charset="0"/>
                <a:cs typeface="Arial" panose="020B0604020202020204" pitchFamily="34" charset="0"/>
              </a:rPr>
              <a:t>temporales. </a:t>
            </a:r>
            <a:endParaRPr lang="es-ES" sz="1600" spc="-10" dirty="0">
              <a:solidFill>
                <a:srgbClr val="333333"/>
              </a:solidFill>
              <a:latin typeface="Arial" panose="020B0604020202020204" pitchFamily="34" charset="0"/>
              <a:cs typeface="Arial" panose="020B0604020202020204" pitchFamily="34" charset="0"/>
            </a:endParaRPr>
          </a:p>
          <a:p>
            <a:pPr marL="12700" marR="5080">
              <a:lnSpc>
                <a:spcPct val="122200"/>
              </a:lnSpc>
              <a:spcBef>
                <a:spcPts val="95"/>
              </a:spcBef>
            </a:pPr>
            <a:r>
              <a:rPr lang="es-ES" sz="1600" spc="-10" dirty="0">
                <a:solidFill>
                  <a:srgbClr val="333333"/>
                </a:solidFill>
                <a:latin typeface="Arial" panose="020B0604020202020204" pitchFamily="34" charset="0"/>
                <a:cs typeface="Arial" panose="020B0604020202020204" pitchFamily="34" charset="0"/>
              </a:rPr>
              <a:t>(Du et Al., 2023)</a:t>
            </a:r>
          </a:p>
        </p:txBody>
      </p:sp>
      <p:sp>
        <p:nvSpPr>
          <p:cNvPr id="3" name="Marcador de número de diapositiva 2">
            <a:extLst>
              <a:ext uri="{FF2B5EF4-FFF2-40B4-BE49-F238E27FC236}">
                <a16:creationId xmlns:a16="http://schemas.microsoft.com/office/drawing/2014/main" id="{E4799EFE-3B2F-EF3E-4A3E-E53798912919}"/>
              </a:ext>
            </a:extLst>
          </p:cNvPr>
          <p:cNvSpPr>
            <a:spLocks noGrp="1"/>
          </p:cNvSpPr>
          <p:nvPr>
            <p:ph type="sldNum" sz="quarter" idx="7"/>
          </p:nvPr>
        </p:nvSpPr>
        <p:spPr/>
        <p:txBody>
          <a:bodyPr/>
          <a:lstStyle/>
          <a:p>
            <a:pPr marL="111760">
              <a:lnSpc>
                <a:spcPts val="1120"/>
              </a:lnSpc>
            </a:pPr>
            <a:fld id="{81D60167-4931-47E6-BA6A-407CBD079E47}" type="slidenum">
              <a:rPr lang="es-ES" spc="-50" smtClean="0"/>
              <a:t>17</a:t>
            </a:fld>
            <a:endParaRPr lang="es-ES" spc="-50" dirty="0"/>
          </a:p>
        </p:txBody>
      </p:sp>
      <p:sp>
        <p:nvSpPr>
          <p:cNvPr id="4" name="Marcador de número de diapositiva 2">
            <a:extLst>
              <a:ext uri="{FF2B5EF4-FFF2-40B4-BE49-F238E27FC236}">
                <a16:creationId xmlns:a16="http://schemas.microsoft.com/office/drawing/2014/main" id="{3FEF4456-2126-A90A-9C00-200178C15F80}"/>
              </a:ext>
            </a:extLst>
          </p:cNvPr>
          <p:cNvSpPr txBox="1">
            <a:spLocks/>
          </p:cNvSpPr>
          <p:nvPr/>
        </p:nvSpPr>
        <p:spPr>
          <a:xfrm>
            <a:off x="8845943" y="6538031"/>
            <a:ext cx="1019383" cy="141064"/>
          </a:xfrm>
          <a:prstGeom prst="rect">
            <a:avLst/>
          </a:prstGeom>
        </p:spPr>
        <p:txBody>
          <a:bodyPr wrap="square" lIns="0" tIns="0" rIns="0" bIns="0">
            <a:spAutoFit/>
          </a:bodyPr>
          <a:lstStyle>
            <a:defPPr>
              <a:defRPr kern="0"/>
            </a:defPPr>
            <a:lvl1pPr>
              <a:defRPr sz="1050" b="0" i="0">
                <a:solidFill>
                  <a:schemeClr val="bg1"/>
                </a:solidFill>
                <a:latin typeface="Arial MT"/>
                <a:cs typeface="Arial MT"/>
              </a:defRPr>
            </a:lvl1pPr>
          </a:lstStyle>
          <a:p>
            <a:pPr marL="111760">
              <a:lnSpc>
                <a:spcPts val="1120"/>
              </a:lnSpc>
            </a:pPr>
            <a:fld id="{81D60167-4931-47E6-BA6A-407CBD079E47}" type="slidenum">
              <a:rPr lang="es-ES" spc="-50" smtClean="0">
                <a:solidFill>
                  <a:schemeClr val="tx1"/>
                </a:solidFill>
              </a:rPr>
              <a:pPr marL="111760">
                <a:lnSpc>
                  <a:spcPts val="1120"/>
                </a:lnSpc>
              </a:pPr>
              <a:t>17</a:t>
            </a:fld>
            <a:endParaRPr lang="es-ES" spc="-50" dirty="0">
              <a:solidFill>
                <a:schemeClr val="tx1"/>
              </a:solidFill>
            </a:endParaRPr>
          </a:p>
        </p:txBody>
      </p:sp>
      <p:sp>
        <p:nvSpPr>
          <p:cNvPr id="8" name="CuadroTexto 7">
            <a:extLst>
              <a:ext uri="{FF2B5EF4-FFF2-40B4-BE49-F238E27FC236}">
                <a16:creationId xmlns:a16="http://schemas.microsoft.com/office/drawing/2014/main" id="{7E72E513-CC19-5705-B779-58B657815563}"/>
              </a:ext>
            </a:extLst>
          </p:cNvPr>
          <p:cNvSpPr txBox="1"/>
          <p:nvPr/>
        </p:nvSpPr>
        <p:spPr>
          <a:xfrm>
            <a:off x="946150" y="275377"/>
            <a:ext cx="1967205" cy="307777"/>
          </a:xfrm>
          <a:prstGeom prst="rect">
            <a:avLst/>
          </a:prstGeom>
          <a:noFill/>
        </p:spPr>
        <p:txBody>
          <a:bodyPr wrap="none" rtlCol="0">
            <a:spAutoFit/>
          </a:bodyPr>
          <a:lstStyle/>
          <a:p>
            <a:r>
              <a:rPr lang="es-ES" sz="1400" dirty="0">
                <a:solidFill>
                  <a:schemeClr val="bg1">
                    <a:lumMod val="50000"/>
                  </a:schemeClr>
                </a:solidFill>
              </a:rPr>
              <a:t>Arquitectura de SAITS</a:t>
            </a:r>
          </a:p>
        </p:txBody>
      </p:sp>
      <p:sp>
        <p:nvSpPr>
          <p:cNvPr id="9" name="Rectángulo 8" descr="Inteligencia artificial con relleno sólido">
            <a:extLst>
              <a:ext uri="{FF2B5EF4-FFF2-40B4-BE49-F238E27FC236}">
                <a16:creationId xmlns:a16="http://schemas.microsoft.com/office/drawing/2014/main" id="{97DF2327-D2AB-B916-AAF1-B98DF8DE8778}"/>
              </a:ext>
            </a:extLst>
          </p:cNvPr>
          <p:cNvSpPr/>
          <p:nvPr/>
        </p:nvSpPr>
        <p:spPr>
          <a:xfrm>
            <a:off x="514903" y="275143"/>
            <a:ext cx="377092" cy="345999"/>
          </a:xfrm>
          <a:prstGeom prst="rect">
            <a:avLst/>
          </a:prstGeom>
          <a:blipFill>
            <a:blip r:embed="rId4">
              <a:extLst>
                <a:ext uri="{96DAC541-7B7A-43D3-8B79-37D633B846F1}">
                  <asvg:svgBlip xmlns:asvg="http://schemas.microsoft.com/office/drawing/2016/SVG/main" r:embed="rId5"/>
                </a:ext>
              </a:extLst>
            </a:blip>
            <a:srcRect/>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s-E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474CDEC-2ED6-4D55-81E6-83C8060D70D6}"/>
            </a:ext>
          </a:extLst>
        </p:cNvPr>
        <p:cNvGrpSpPr/>
        <p:nvPr/>
      </p:nvGrpSpPr>
      <p:grpSpPr>
        <a:xfrm>
          <a:off x="0" y="0"/>
          <a:ext cx="0" cy="0"/>
          <a:chOff x="0" y="0"/>
          <a:chExt cx="0" cy="0"/>
        </a:xfrm>
      </p:grpSpPr>
      <p:pic>
        <p:nvPicPr>
          <p:cNvPr id="11" name="Imagen 10" descr="Interfaz de usuario gráfica, Diagrama&#10;&#10;El contenido generado por IA puede ser incorrecto.">
            <a:extLst>
              <a:ext uri="{FF2B5EF4-FFF2-40B4-BE49-F238E27FC236}">
                <a16:creationId xmlns:a16="http://schemas.microsoft.com/office/drawing/2014/main" id="{DB8FEE96-6D7B-43E4-7839-ABA1AF0DED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68234" y="1074682"/>
            <a:ext cx="6544066" cy="4876587"/>
          </a:xfrm>
          <a:prstGeom prst="rect">
            <a:avLst/>
          </a:prstGeom>
        </p:spPr>
      </p:pic>
      <p:sp>
        <p:nvSpPr>
          <p:cNvPr id="9" name="object 9">
            <a:extLst>
              <a:ext uri="{FF2B5EF4-FFF2-40B4-BE49-F238E27FC236}">
                <a16:creationId xmlns:a16="http://schemas.microsoft.com/office/drawing/2014/main" id="{02EBF55E-84AE-48BD-64AF-7C0A6632AD43}"/>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120"/>
              </a:lnSpc>
            </a:pPr>
            <a:r>
              <a:rPr spc="-25" dirty="0"/>
              <a:t>20</a:t>
            </a:r>
          </a:p>
        </p:txBody>
      </p:sp>
      <p:pic>
        <p:nvPicPr>
          <p:cNvPr id="4" name="Imagen 3">
            <a:extLst>
              <a:ext uri="{FF2B5EF4-FFF2-40B4-BE49-F238E27FC236}">
                <a16:creationId xmlns:a16="http://schemas.microsoft.com/office/drawing/2014/main" id="{CA64E92B-9B1C-C517-EA37-65C1734D7C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4173" y="1122199"/>
            <a:ext cx="5638800" cy="444136"/>
          </a:xfrm>
          <a:prstGeom prst="rect">
            <a:avLst/>
          </a:prstGeom>
          <a:solidFill>
            <a:schemeClr val="accent6">
              <a:lumMod val="60000"/>
              <a:lumOff val="40000"/>
            </a:schemeClr>
          </a:solidFill>
        </p:spPr>
      </p:pic>
      <p:pic>
        <p:nvPicPr>
          <p:cNvPr id="6" name="Imagen 5" descr="Forma&#10;&#10;El contenido generado por IA puede ser incorrecto.">
            <a:extLst>
              <a:ext uri="{FF2B5EF4-FFF2-40B4-BE49-F238E27FC236}">
                <a16:creationId xmlns:a16="http://schemas.microsoft.com/office/drawing/2014/main" id="{4AFA42E4-DBB5-F550-33A9-F2A31E2DE3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9838" y="3123119"/>
            <a:ext cx="3434263" cy="687962"/>
          </a:xfrm>
          <a:prstGeom prst="rect">
            <a:avLst/>
          </a:prstGeom>
          <a:solidFill>
            <a:schemeClr val="accent6">
              <a:lumMod val="60000"/>
              <a:lumOff val="40000"/>
            </a:schemeClr>
          </a:solidFill>
        </p:spPr>
      </p:pic>
      <p:sp>
        <p:nvSpPr>
          <p:cNvPr id="3" name="object 2">
            <a:extLst>
              <a:ext uri="{FF2B5EF4-FFF2-40B4-BE49-F238E27FC236}">
                <a16:creationId xmlns:a16="http://schemas.microsoft.com/office/drawing/2014/main" id="{C5ECC0B5-45DC-278D-8B84-A9BAFFFB4056}"/>
              </a:ext>
            </a:extLst>
          </p:cNvPr>
          <p:cNvSpPr txBox="1">
            <a:spLocks/>
          </p:cNvSpPr>
          <p:nvPr/>
        </p:nvSpPr>
        <p:spPr>
          <a:xfrm>
            <a:off x="392379" y="335660"/>
            <a:ext cx="9148127" cy="609654"/>
          </a:xfrm>
          <a:prstGeom prst="rect">
            <a:avLst/>
          </a:prstGeom>
        </p:spPr>
        <p:txBody>
          <a:bodyPr vert="horz" wrap="square" lIns="0" tIns="90805" rIns="0" bIns="0" rtlCol="0">
            <a:spAutoFit/>
          </a:bodyPr>
          <a:lstStyle>
            <a:lvl1pPr>
              <a:defRPr sz="4500" b="0" i="0">
                <a:solidFill>
                  <a:srgbClr val="0056B3"/>
                </a:solidFill>
                <a:latin typeface="Arial MT"/>
                <a:ea typeface="+mj-ea"/>
                <a:cs typeface="Arial MT"/>
              </a:defRPr>
            </a:lvl1pPr>
          </a:lstStyle>
          <a:p>
            <a:pPr marL="2869565" marR="5080" indent="-2538730" algn="l">
              <a:lnSpc>
                <a:spcPts val="4880"/>
              </a:lnSpc>
              <a:spcBef>
                <a:spcPts val="715"/>
              </a:spcBef>
            </a:pPr>
            <a:r>
              <a:rPr lang="es-ES" sz="1600" spc="-125" dirty="0"/>
              <a:t>IV. SAITS:</a:t>
            </a:r>
            <a:r>
              <a:rPr lang="es-ES" sz="1600" spc="50" dirty="0"/>
              <a:t> </a:t>
            </a:r>
            <a:r>
              <a:rPr lang="es-ES" sz="1600" spc="105" dirty="0"/>
              <a:t>Self-</a:t>
            </a:r>
            <a:r>
              <a:rPr lang="es-ES" sz="1600" spc="325" dirty="0"/>
              <a:t>Attention Based Imputation</a:t>
            </a:r>
            <a:r>
              <a:rPr lang="es-ES" sz="1600" spc="50" dirty="0"/>
              <a:t> </a:t>
            </a:r>
            <a:r>
              <a:rPr lang="es-ES" sz="1600" spc="165" dirty="0"/>
              <a:t>for </a:t>
            </a:r>
            <a:r>
              <a:rPr lang="es-ES" sz="1600" spc="185" dirty="0"/>
              <a:t>Time</a:t>
            </a:r>
            <a:r>
              <a:rPr lang="es-ES" sz="1600" spc="204" dirty="0"/>
              <a:t> </a:t>
            </a:r>
            <a:r>
              <a:rPr lang="es-ES" sz="1600" spc="-10" dirty="0"/>
              <a:t>Series. Mecanismo DMSA.</a:t>
            </a:r>
          </a:p>
        </p:txBody>
      </p:sp>
      <p:pic>
        <p:nvPicPr>
          <p:cNvPr id="2" name="Imagen 1" descr="Forma&#10;&#10;El contenido generado por IA puede ser incorrecto.">
            <a:extLst>
              <a:ext uri="{FF2B5EF4-FFF2-40B4-BE49-F238E27FC236}">
                <a16:creationId xmlns:a16="http://schemas.microsoft.com/office/drawing/2014/main" id="{4556F722-ACB2-3252-6A0E-0A28B93B4D7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7775" y="4281017"/>
            <a:ext cx="3642470" cy="549340"/>
          </a:xfrm>
          <a:prstGeom prst="rect">
            <a:avLst/>
          </a:prstGeom>
          <a:solidFill>
            <a:srgbClr val="FDDFB9"/>
          </a:solidFill>
        </p:spPr>
      </p:pic>
      <p:pic>
        <p:nvPicPr>
          <p:cNvPr id="7" name="Imagen 6" descr="Imagen en blanco y negro&#10;&#10;El contenido generado por IA puede ser incorrecto.">
            <a:extLst>
              <a:ext uri="{FF2B5EF4-FFF2-40B4-BE49-F238E27FC236}">
                <a16:creationId xmlns:a16="http://schemas.microsoft.com/office/drawing/2014/main" id="{1D81214A-E95C-00B0-E2DA-2C313BF5C454}"/>
              </a:ext>
            </a:extLst>
          </p:cNvPr>
          <p:cNvPicPr>
            <a:picLocks noChangeAspect="1"/>
          </p:cNvPicPr>
          <p:nvPr/>
        </p:nvPicPr>
        <p:blipFill rotWithShape="1">
          <a:blip r:embed="rId7">
            <a:extLst>
              <a:ext uri="{28A0092B-C50C-407E-A947-70E740481C1C}">
                <a14:useLocalDpi xmlns:a14="http://schemas.microsoft.com/office/drawing/2010/main" val="0"/>
              </a:ext>
            </a:extLst>
          </a:blip>
          <a:srcRect/>
          <a:stretch>
            <a:fillRect/>
          </a:stretch>
        </p:blipFill>
        <p:spPr>
          <a:xfrm>
            <a:off x="82551" y="5911051"/>
            <a:ext cx="6400801" cy="849578"/>
          </a:xfrm>
          <a:prstGeom prst="rect">
            <a:avLst/>
          </a:prstGeom>
        </p:spPr>
      </p:pic>
      <p:sp>
        <p:nvSpPr>
          <p:cNvPr id="5" name="Marcador de número de diapositiva 2">
            <a:extLst>
              <a:ext uri="{FF2B5EF4-FFF2-40B4-BE49-F238E27FC236}">
                <a16:creationId xmlns:a16="http://schemas.microsoft.com/office/drawing/2014/main" id="{25AD8AC2-BC52-E8F2-93F8-E1F1AF4D4DAF}"/>
              </a:ext>
            </a:extLst>
          </p:cNvPr>
          <p:cNvSpPr txBox="1">
            <a:spLocks/>
          </p:cNvSpPr>
          <p:nvPr/>
        </p:nvSpPr>
        <p:spPr>
          <a:xfrm>
            <a:off x="8845943" y="6538031"/>
            <a:ext cx="1019383" cy="141064"/>
          </a:xfrm>
          <a:prstGeom prst="rect">
            <a:avLst/>
          </a:prstGeom>
        </p:spPr>
        <p:txBody>
          <a:bodyPr wrap="square" lIns="0" tIns="0" rIns="0" bIns="0">
            <a:spAutoFit/>
          </a:bodyPr>
          <a:lstStyle>
            <a:defPPr>
              <a:defRPr kern="0"/>
            </a:defPPr>
            <a:lvl1pPr>
              <a:defRPr sz="1050" b="0" i="0">
                <a:solidFill>
                  <a:schemeClr val="bg1"/>
                </a:solidFill>
                <a:latin typeface="Arial MT"/>
                <a:cs typeface="Arial MT"/>
              </a:defRPr>
            </a:lvl1pPr>
          </a:lstStyle>
          <a:p>
            <a:pPr marL="111760">
              <a:lnSpc>
                <a:spcPts val="1120"/>
              </a:lnSpc>
            </a:pPr>
            <a:fld id="{81D60167-4931-47E6-BA6A-407CBD079E47}" type="slidenum">
              <a:rPr lang="es-ES" spc="-50" smtClean="0">
                <a:solidFill>
                  <a:schemeClr val="tx1"/>
                </a:solidFill>
              </a:rPr>
              <a:pPr marL="111760">
                <a:lnSpc>
                  <a:spcPts val="1120"/>
                </a:lnSpc>
              </a:pPr>
              <a:t>18</a:t>
            </a:fld>
            <a:endParaRPr lang="es-ES" spc="-50" dirty="0">
              <a:solidFill>
                <a:schemeClr val="tx1"/>
              </a:solidFill>
            </a:endParaRPr>
          </a:p>
        </p:txBody>
      </p:sp>
      <p:sp>
        <p:nvSpPr>
          <p:cNvPr id="12" name="CuadroTexto 11">
            <a:extLst>
              <a:ext uri="{FF2B5EF4-FFF2-40B4-BE49-F238E27FC236}">
                <a16:creationId xmlns:a16="http://schemas.microsoft.com/office/drawing/2014/main" id="{072E81DA-6E9F-65D0-702C-640471A5CBFF}"/>
              </a:ext>
            </a:extLst>
          </p:cNvPr>
          <p:cNvSpPr txBox="1"/>
          <p:nvPr/>
        </p:nvSpPr>
        <p:spPr>
          <a:xfrm>
            <a:off x="946150" y="275377"/>
            <a:ext cx="2016899" cy="307777"/>
          </a:xfrm>
          <a:prstGeom prst="rect">
            <a:avLst/>
          </a:prstGeom>
          <a:noFill/>
        </p:spPr>
        <p:txBody>
          <a:bodyPr wrap="none" rtlCol="0">
            <a:spAutoFit/>
          </a:bodyPr>
          <a:lstStyle/>
          <a:p>
            <a:r>
              <a:rPr lang="es-ES" sz="1400" dirty="0">
                <a:solidFill>
                  <a:schemeClr val="bg1">
                    <a:lumMod val="50000"/>
                  </a:schemeClr>
                </a:solidFill>
              </a:rPr>
              <a:t>Arquitectura de SAITS</a:t>
            </a:r>
          </a:p>
        </p:txBody>
      </p:sp>
      <p:sp>
        <p:nvSpPr>
          <p:cNvPr id="13" name="Rectángulo 12" descr="Inteligencia artificial con relleno sólido">
            <a:extLst>
              <a:ext uri="{FF2B5EF4-FFF2-40B4-BE49-F238E27FC236}">
                <a16:creationId xmlns:a16="http://schemas.microsoft.com/office/drawing/2014/main" id="{94C822DE-F376-87AD-28F4-DD3B5B4D12EB}"/>
              </a:ext>
            </a:extLst>
          </p:cNvPr>
          <p:cNvSpPr/>
          <p:nvPr/>
        </p:nvSpPr>
        <p:spPr>
          <a:xfrm>
            <a:off x="514903" y="275143"/>
            <a:ext cx="377092" cy="345999"/>
          </a:xfrm>
          <a:prstGeom prst="rect">
            <a:avLst/>
          </a:prstGeom>
          <a:blipFill>
            <a:blip r:embed="rId8">
              <a:extLst>
                <a:ext uri="{96DAC541-7B7A-43D3-8B79-37D633B846F1}">
                  <asvg:svgBlip xmlns:asvg="http://schemas.microsoft.com/office/drawing/2016/SVG/main" r:embed="rId9"/>
                </a:ext>
              </a:extLst>
            </a:blip>
            <a:srcRect/>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s-ES"/>
          </a:p>
        </p:txBody>
      </p:sp>
    </p:spTree>
    <p:extLst>
      <p:ext uri="{BB962C8B-B14F-4D97-AF65-F5344CB8AC3E}">
        <p14:creationId xmlns:p14="http://schemas.microsoft.com/office/powerpoint/2010/main" val="2174167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ECFA123-6258-0E45-8493-2657F349DAC5}"/>
            </a:ext>
          </a:extLst>
        </p:cNvPr>
        <p:cNvGrpSpPr/>
        <p:nvPr/>
      </p:nvGrpSpPr>
      <p:grpSpPr>
        <a:xfrm>
          <a:off x="0" y="0"/>
          <a:ext cx="0" cy="0"/>
          <a:chOff x="0" y="0"/>
          <a:chExt cx="0" cy="0"/>
        </a:xfrm>
      </p:grpSpPr>
      <p:pic>
        <p:nvPicPr>
          <p:cNvPr id="11" name="Imagen 10" descr="Interfaz de usuario gráfica, Diagrama&#10;&#10;El contenido generado por IA puede ser incorrecto.">
            <a:extLst>
              <a:ext uri="{FF2B5EF4-FFF2-40B4-BE49-F238E27FC236}">
                <a16:creationId xmlns:a16="http://schemas.microsoft.com/office/drawing/2014/main" id="{3CDFB344-A495-CD9D-CE08-F19D9806CF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3944" y="1460198"/>
            <a:ext cx="6060444" cy="4516196"/>
          </a:xfrm>
          <a:prstGeom prst="rect">
            <a:avLst/>
          </a:prstGeom>
        </p:spPr>
      </p:pic>
      <p:pic>
        <p:nvPicPr>
          <p:cNvPr id="4" name="Imagen 3" descr="Forma&#10;&#10;El contenido generado por IA puede ser incorrecto.">
            <a:extLst>
              <a:ext uri="{FF2B5EF4-FFF2-40B4-BE49-F238E27FC236}">
                <a16:creationId xmlns:a16="http://schemas.microsoft.com/office/drawing/2014/main" id="{BFE57D31-ED2E-F22B-B2C3-4AEB223A23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1017" y="2068285"/>
            <a:ext cx="1942035" cy="218557"/>
          </a:xfrm>
          <a:prstGeom prst="rect">
            <a:avLst/>
          </a:prstGeom>
          <a:solidFill>
            <a:srgbClr val="D6FFD0"/>
          </a:solidFill>
        </p:spPr>
      </p:pic>
      <p:pic>
        <p:nvPicPr>
          <p:cNvPr id="6" name="Imagen 5">
            <a:extLst>
              <a:ext uri="{FF2B5EF4-FFF2-40B4-BE49-F238E27FC236}">
                <a16:creationId xmlns:a16="http://schemas.microsoft.com/office/drawing/2014/main" id="{F2432729-DAB2-E71A-2723-447784A149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1899" y="3283878"/>
            <a:ext cx="3401313" cy="235897"/>
          </a:xfrm>
          <a:prstGeom prst="rect">
            <a:avLst/>
          </a:prstGeom>
          <a:solidFill>
            <a:srgbClr val="ABDCE4"/>
          </a:solidFill>
        </p:spPr>
      </p:pic>
      <p:pic>
        <p:nvPicPr>
          <p:cNvPr id="12" name="Imagen 11">
            <a:extLst>
              <a:ext uri="{FF2B5EF4-FFF2-40B4-BE49-F238E27FC236}">
                <a16:creationId xmlns:a16="http://schemas.microsoft.com/office/drawing/2014/main" id="{1A374995-062B-EFDE-3031-F674A221D4D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3101" y="4408863"/>
            <a:ext cx="3144864" cy="232743"/>
          </a:xfrm>
          <a:prstGeom prst="rect">
            <a:avLst/>
          </a:prstGeom>
          <a:solidFill>
            <a:srgbClr val="FFDFB1"/>
          </a:solidFill>
        </p:spPr>
      </p:pic>
      <p:sp>
        <p:nvSpPr>
          <p:cNvPr id="14" name="CuadroTexto 13">
            <a:extLst>
              <a:ext uri="{FF2B5EF4-FFF2-40B4-BE49-F238E27FC236}">
                <a16:creationId xmlns:a16="http://schemas.microsoft.com/office/drawing/2014/main" id="{DF2FB5B4-2C5C-35E6-0846-FF957B1A45FF}"/>
              </a:ext>
            </a:extLst>
          </p:cNvPr>
          <p:cNvSpPr txBox="1"/>
          <p:nvPr/>
        </p:nvSpPr>
        <p:spPr>
          <a:xfrm>
            <a:off x="483101" y="1477081"/>
            <a:ext cx="2672849" cy="338554"/>
          </a:xfrm>
          <a:prstGeom prst="rect">
            <a:avLst/>
          </a:prstGeom>
          <a:solidFill>
            <a:srgbClr val="D6FFD0"/>
          </a:solidFill>
        </p:spPr>
        <p:txBody>
          <a:bodyPr wrap="square" rtlCol="0">
            <a:spAutoFit/>
          </a:bodyPr>
          <a:lstStyle/>
          <a:p>
            <a:r>
              <a:rPr lang="es-ES" sz="1600" dirty="0"/>
              <a:t>1er Bloque DMSA: X1</a:t>
            </a:r>
          </a:p>
        </p:txBody>
      </p:sp>
      <p:sp>
        <p:nvSpPr>
          <p:cNvPr id="15" name="CuadroTexto 14">
            <a:extLst>
              <a:ext uri="{FF2B5EF4-FFF2-40B4-BE49-F238E27FC236}">
                <a16:creationId xmlns:a16="http://schemas.microsoft.com/office/drawing/2014/main" id="{015FB4E8-DA3F-DDE0-8393-7F7FE8BD15EA}"/>
              </a:ext>
            </a:extLst>
          </p:cNvPr>
          <p:cNvSpPr txBox="1"/>
          <p:nvPr/>
        </p:nvSpPr>
        <p:spPr>
          <a:xfrm>
            <a:off x="491017" y="2640986"/>
            <a:ext cx="2292615" cy="338554"/>
          </a:xfrm>
          <a:prstGeom prst="rect">
            <a:avLst/>
          </a:prstGeom>
          <a:solidFill>
            <a:srgbClr val="ABDCE4"/>
          </a:solidFill>
        </p:spPr>
        <p:txBody>
          <a:bodyPr wrap="none" rtlCol="0">
            <a:spAutoFit/>
          </a:bodyPr>
          <a:lstStyle/>
          <a:p>
            <a:r>
              <a:rPr lang="es-ES" sz="1600" dirty="0"/>
              <a:t>2do Bloque DMSA: X2</a:t>
            </a:r>
          </a:p>
        </p:txBody>
      </p:sp>
      <p:sp>
        <p:nvSpPr>
          <p:cNvPr id="16" name="CuadroTexto 15">
            <a:extLst>
              <a:ext uri="{FF2B5EF4-FFF2-40B4-BE49-F238E27FC236}">
                <a16:creationId xmlns:a16="http://schemas.microsoft.com/office/drawing/2014/main" id="{04298A53-30A5-CEE7-B2DE-ADFEA0D5ED8B}"/>
              </a:ext>
            </a:extLst>
          </p:cNvPr>
          <p:cNvSpPr txBox="1"/>
          <p:nvPr/>
        </p:nvSpPr>
        <p:spPr>
          <a:xfrm>
            <a:off x="501899" y="3821110"/>
            <a:ext cx="2281733" cy="338554"/>
          </a:xfrm>
          <a:prstGeom prst="rect">
            <a:avLst/>
          </a:prstGeom>
          <a:solidFill>
            <a:srgbClr val="FFDFB1"/>
          </a:solidFill>
        </p:spPr>
        <p:txBody>
          <a:bodyPr wrap="square" rtlCol="0">
            <a:spAutoFit/>
          </a:bodyPr>
          <a:lstStyle/>
          <a:p>
            <a:r>
              <a:rPr lang="es-ES" sz="1600" dirty="0"/>
              <a:t>Bloque combinado: X3</a:t>
            </a:r>
          </a:p>
        </p:txBody>
      </p:sp>
      <p:pic>
        <p:nvPicPr>
          <p:cNvPr id="18" name="Imagen 17">
            <a:extLst>
              <a:ext uri="{FF2B5EF4-FFF2-40B4-BE49-F238E27FC236}">
                <a16:creationId xmlns:a16="http://schemas.microsoft.com/office/drawing/2014/main" id="{3205DCE3-B472-31B1-78A1-6A31949A3C1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1017" y="5739626"/>
            <a:ext cx="3208887" cy="296570"/>
          </a:xfrm>
          <a:prstGeom prst="rect">
            <a:avLst/>
          </a:prstGeom>
          <a:solidFill>
            <a:srgbClr val="FFDFB1"/>
          </a:solidFill>
        </p:spPr>
      </p:pic>
      <p:sp>
        <p:nvSpPr>
          <p:cNvPr id="7" name="object 2">
            <a:extLst>
              <a:ext uri="{FF2B5EF4-FFF2-40B4-BE49-F238E27FC236}">
                <a16:creationId xmlns:a16="http://schemas.microsoft.com/office/drawing/2014/main" id="{1CB899ED-7F29-4544-4FE5-B61888283243}"/>
              </a:ext>
            </a:extLst>
          </p:cNvPr>
          <p:cNvSpPr txBox="1">
            <a:spLocks/>
          </p:cNvSpPr>
          <p:nvPr/>
        </p:nvSpPr>
        <p:spPr>
          <a:xfrm>
            <a:off x="832110" y="550631"/>
            <a:ext cx="9148127" cy="735458"/>
          </a:xfrm>
          <a:prstGeom prst="rect">
            <a:avLst/>
          </a:prstGeom>
        </p:spPr>
        <p:txBody>
          <a:bodyPr vert="horz" wrap="square" lIns="0" tIns="90805" rIns="0" bIns="0" rtlCol="0">
            <a:spAutoFit/>
          </a:bodyPr>
          <a:lstStyle>
            <a:lvl1pPr>
              <a:defRPr sz="4500" b="0" i="0">
                <a:solidFill>
                  <a:srgbClr val="0056B3"/>
                </a:solidFill>
                <a:latin typeface="Arial MT"/>
                <a:ea typeface="+mj-ea"/>
                <a:cs typeface="Arial MT"/>
              </a:defRPr>
            </a:lvl1pPr>
          </a:lstStyle>
          <a:p>
            <a:pPr marL="2869565" marR="5080" indent="-2538730">
              <a:spcBef>
                <a:spcPts val="715"/>
              </a:spcBef>
            </a:pPr>
            <a:r>
              <a:rPr lang="es-ES" sz="1800" spc="-125" dirty="0"/>
              <a:t>IV. SAITS:</a:t>
            </a:r>
            <a:r>
              <a:rPr lang="es-ES" sz="1800" spc="50" dirty="0"/>
              <a:t> </a:t>
            </a:r>
            <a:r>
              <a:rPr lang="es-ES" sz="1800" spc="105" dirty="0"/>
              <a:t>Self-</a:t>
            </a:r>
            <a:r>
              <a:rPr lang="es-ES" sz="1800" spc="325" dirty="0"/>
              <a:t>Attention Based Imputation</a:t>
            </a:r>
            <a:r>
              <a:rPr lang="es-ES" sz="1800" spc="50" dirty="0"/>
              <a:t> </a:t>
            </a:r>
            <a:r>
              <a:rPr lang="es-ES" sz="1800" spc="165" dirty="0"/>
              <a:t>for </a:t>
            </a:r>
            <a:r>
              <a:rPr lang="es-ES" sz="1800" spc="185" dirty="0"/>
              <a:t>Time</a:t>
            </a:r>
            <a:r>
              <a:rPr lang="es-ES" sz="1800" spc="204" dirty="0"/>
              <a:t> </a:t>
            </a:r>
            <a:r>
              <a:rPr lang="es-ES" sz="1800" spc="-10" dirty="0"/>
              <a:t>Series. </a:t>
            </a:r>
          </a:p>
          <a:p>
            <a:pPr marL="2869565" marR="5080" indent="-2538730">
              <a:spcBef>
                <a:spcPts val="715"/>
              </a:spcBef>
            </a:pPr>
            <a:r>
              <a:rPr lang="es-ES" sz="1800" spc="-10" dirty="0"/>
              <a:t>                     Flujo de Transformaciones Matemáticas.</a:t>
            </a:r>
          </a:p>
        </p:txBody>
      </p:sp>
      <p:sp>
        <p:nvSpPr>
          <p:cNvPr id="17" name="CuadroTexto 16">
            <a:extLst>
              <a:ext uri="{FF2B5EF4-FFF2-40B4-BE49-F238E27FC236}">
                <a16:creationId xmlns:a16="http://schemas.microsoft.com/office/drawing/2014/main" id="{B1AA9CD4-23F5-FBBB-0F47-C3D996BF13B4}"/>
              </a:ext>
            </a:extLst>
          </p:cNvPr>
          <p:cNvSpPr txBox="1"/>
          <p:nvPr/>
        </p:nvSpPr>
        <p:spPr>
          <a:xfrm>
            <a:off x="483101" y="5134195"/>
            <a:ext cx="1949952" cy="369332"/>
          </a:xfrm>
          <a:prstGeom prst="rect">
            <a:avLst/>
          </a:prstGeom>
          <a:solidFill>
            <a:srgbClr val="FFDFB1"/>
          </a:solidFill>
        </p:spPr>
        <p:txBody>
          <a:bodyPr wrap="square" rtlCol="0">
            <a:spAutoFit/>
          </a:bodyPr>
          <a:lstStyle/>
          <a:p>
            <a:r>
              <a:rPr lang="es-ES" dirty="0"/>
              <a:t>Serie Imputada</a:t>
            </a:r>
          </a:p>
        </p:txBody>
      </p:sp>
      <p:sp>
        <p:nvSpPr>
          <p:cNvPr id="2" name="Marcador de número de diapositiva 1">
            <a:extLst>
              <a:ext uri="{FF2B5EF4-FFF2-40B4-BE49-F238E27FC236}">
                <a16:creationId xmlns:a16="http://schemas.microsoft.com/office/drawing/2014/main" id="{F4FF2B88-787A-8416-3FC1-8900AC75F8B3}"/>
              </a:ext>
            </a:extLst>
          </p:cNvPr>
          <p:cNvSpPr>
            <a:spLocks noGrp="1"/>
          </p:cNvSpPr>
          <p:nvPr>
            <p:ph type="sldNum" sz="quarter" idx="7"/>
          </p:nvPr>
        </p:nvSpPr>
        <p:spPr/>
        <p:txBody>
          <a:bodyPr/>
          <a:lstStyle/>
          <a:p>
            <a:pPr marL="111760">
              <a:lnSpc>
                <a:spcPts val="1120"/>
              </a:lnSpc>
            </a:pPr>
            <a:fld id="{81D60167-4931-47E6-BA6A-407CBD079E47}" type="slidenum">
              <a:rPr lang="es-ES" spc="-50" smtClean="0"/>
              <a:t>19</a:t>
            </a:fld>
            <a:endParaRPr lang="es-ES" spc="-50" dirty="0"/>
          </a:p>
        </p:txBody>
      </p:sp>
      <p:sp>
        <p:nvSpPr>
          <p:cNvPr id="3" name="Marcador de número de diapositiva 2">
            <a:extLst>
              <a:ext uri="{FF2B5EF4-FFF2-40B4-BE49-F238E27FC236}">
                <a16:creationId xmlns:a16="http://schemas.microsoft.com/office/drawing/2014/main" id="{3CDF312A-F1B5-3EC5-94D3-72711C21F4A9}"/>
              </a:ext>
            </a:extLst>
          </p:cNvPr>
          <p:cNvSpPr txBox="1">
            <a:spLocks/>
          </p:cNvSpPr>
          <p:nvPr/>
        </p:nvSpPr>
        <p:spPr>
          <a:xfrm>
            <a:off x="8845943" y="6538031"/>
            <a:ext cx="1019383" cy="141064"/>
          </a:xfrm>
          <a:prstGeom prst="rect">
            <a:avLst/>
          </a:prstGeom>
        </p:spPr>
        <p:txBody>
          <a:bodyPr wrap="square" lIns="0" tIns="0" rIns="0" bIns="0">
            <a:spAutoFit/>
          </a:bodyPr>
          <a:lstStyle>
            <a:defPPr>
              <a:defRPr kern="0"/>
            </a:defPPr>
            <a:lvl1pPr>
              <a:defRPr sz="1050" b="0" i="0">
                <a:solidFill>
                  <a:schemeClr val="bg1"/>
                </a:solidFill>
                <a:latin typeface="Arial MT"/>
                <a:cs typeface="Arial MT"/>
              </a:defRPr>
            </a:lvl1pPr>
          </a:lstStyle>
          <a:p>
            <a:pPr marL="111760">
              <a:lnSpc>
                <a:spcPts val="1120"/>
              </a:lnSpc>
            </a:pPr>
            <a:fld id="{81D60167-4931-47E6-BA6A-407CBD079E47}" type="slidenum">
              <a:rPr lang="es-ES" spc="-50" smtClean="0">
                <a:solidFill>
                  <a:schemeClr val="tx1"/>
                </a:solidFill>
              </a:rPr>
              <a:pPr marL="111760">
                <a:lnSpc>
                  <a:spcPts val="1120"/>
                </a:lnSpc>
              </a:pPr>
              <a:t>19</a:t>
            </a:fld>
            <a:endParaRPr lang="es-ES" spc="-50" dirty="0">
              <a:solidFill>
                <a:schemeClr val="tx1"/>
              </a:solidFill>
            </a:endParaRPr>
          </a:p>
        </p:txBody>
      </p:sp>
      <p:sp>
        <p:nvSpPr>
          <p:cNvPr id="9" name="CuadroTexto 8">
            <a:extLst>
              <a:ext uri="{FF2B5EF4-FFF2-40B4-BE49-F238E27FC236}">
                <a16:creationId xmlns:a16="http://schemas.microsoft.com/office/drawing/2014/main" id="{13BC45D5-6114-E262-4B39-F83A776626B1}"/>
              </a:ext>
            </a:extLst>
          </p:cNvPr>
          <p:cNvSpPr txBox="1"/>
          <p:nvPr/>
        </p:nvSpPr>
        <p:spPr>
          <a:xfrm>
            <a:off x="946150" y="275377"/>
            <a:ext cx="1967205" cy="307777"/>
          </a:xfrm>
          <a:prstGeom prst="rect">
            <a:avLst/>
          </a:prstGeom>
          <a:noFill/>
        </p:spPr>
        <p:txBody>
          <a:bodyPr wrap="none" rtlCol="0">
            <a:spAutoFit/>
          </a:bodyPr>
          <a:lstStyle/>
          <a:p>
            <a:r>
              <a:rPr lang="es-ES" sz="1400" dirty="0">
                <a:solidFill>
                  <a:schemeClr val="bg1">
                    <a:lumMod val="50000"/>
                  </a:schemeClr>
                </a:solidFill>
              </a:rPr>
              <a:t>Arquitectura de SAITS</a:t>
            </a:r>
          </a:p>
        </p:txBody>
      </p:sp>
      <p:sp>
        <p:nvSpPr>
          <p:cNvPr id="10" name="Rectángulo 9" descr="Inteligencia artificial con relleno sólido">
            <a:extLst>
              <a:ext uri="{FF2B5EF4-FFF2-40B4-BE49-F238E27FC236}">
                <a16:creationId xmlns:a16="http://schemas.microsoft.com/office/drawing/2014/main" id="{167FE5F8-4E86-DEEE-E994-E3D8E5A5C7A0}"/>
              </a:ext>
            </a:extLst>
          </p:cNvPr>
          <p:cNvSpPr/>
          <p:nvPr/>
        </p:nvSpPr>
        <p:spPr>
          <a:xfrm>
            <a:off x="514903" y="275143"/>
            <a:ext cx="377092" cy="345999"/>
          </a:xfrm>
          <a:prstGeom prst="rect">
            <a:avLst/>
          </a:prstGeom>
          <a:blipFill>
            <a:blip r:embed="rId8">
              <a:extLst>
                <a:ext uri="{96DAC541-7B7A-43D3-8B79-37D633B846F1}">
                  <asvg:svgBlip xmlns:asvg="http://schemas.microsoft.com/office/drawing/2016/SVG/main" r:embed="rId9"/>
                </a:ext>
              </a:extLst>
            </a:blip>
            <a:srcRect/>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s-ES"/>
          </a:p>
        </p:txBody>
      </p:sp>
    </p:spTree>
    <p:extLst>
      <p:ext uri="{BB962C8B-B14F-4D97-AF65-F5344CB8AC3E}">
        <p14:creationId xmlns:p14="http://schemas.microsoft.com/office/powerpoint/2010/main" val="2528062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object 2">
            <a:extLst>
              <a:ext uri="{FF2B5EF4-FFF2-40B4-BE49-F238E27FC236}">
                <a16:creationId xmlns:a16="http://schemas.microsoft.com/office/drawing/2014/main" id="{534622C3-1F75-D4D3-CE3B-1E1C73B840BB}"/>
              </a:ext>
            </a:extLst>
          </p:cNvPr>
          <p:cNvSpPr txBox="1">
            <a:spLocks noGrp="1"/>
          </p:cNvSpPr>
          <p:nvPr>
            <p:ph type="title"/>
          </p:nvPr>
        </p:nvSpPr>
        <p:spPr>
          <a:xfrm>
            <a:off x="554728" y="723900"/>
            <a:ext cx="8402844" cy="1276119"/>
          </a:xfrm>
          <a:prstGeom prst="rect">
            <a:avLst/>
          </a:prstGeom>
        </p:spPr>
        <p:txBody>
          <a:bodyPr vert="horz" wrap="square" lIns="0" tIns="83185" rIns="0" bIns="0" rtlCol="0">
            <a:spAutoFit/>
          </a:bodyPr>
          <a:lstStyle/>
          <a:p>
            <a:pPr marL="657860" marR="5080" indent="-645795">
              <a:lnSpc>
                <a:spcPts val="4950"/>
              </a:lnSpc>
              <a:spcBef>
                <a:spcPts val="655"/>
              </a:spcBef>
            </a:pPr>
            <a:r>
              <a:rPr lang="es-ES" sz="2400" spc="175" dirty="0"/>
              <a:t>V. PyPOTS: Una biblioteca de Python para trabajar con Series Temporales Parcialmente Observadas</a:t>
            </a:r>
            <a:endParaRPr sz="2400" spc="175" dirty="0"/>
          </a:p>
        </p:txBody>
      </p:sp>
      <p:pic>
        <p:nvPicPr>
          <p:cNvPr id="22" name="Imagen 21" descr="Diagrama&#10;&#10;El contenido generado por IA puede ser incorrecto.">
            <a:extLst>
              <a:ext uri="{FF2B5EF4-FFF2-40B4-BE49-F238E27FC236}">
                <a16:creationId xmlns:a16="http://schemas.microsoft.com/office/drawing/2014/main" id="{9AC2359E-45CF-A573-CFE6-0C66517D73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9505" y="3771900"/>
            <a:ext cx="2107176" cy="2057400"/>
          </a:xfrm>
          <a:prstGeom prst="rect">
            <a:avLst/>
          </a:prstGeom>
        </p:spPr>
      </p:pic>
      <p:pic>
        <p:nvPicPr>
          <p:cNvPr id="26" name="Imagen 25" descr="Texto&#10;&#10;El contenido generado por IA puede ser incorrecto.">
            <a:extLst>
              <a:ext uri="{FF2B5EF4-FFF2-40B4-BE49-F238E27FC236}">
                <a16:creationId xmlns:a16="http://schemas.microsoft.com/office/drawing/2014/main" id="{6E6C662C-4992-1F10-0D79-F88DC13F1B1F}"/>
              </a:ext>
            </a:extLst>
          </p:cNvPr>
          <p:cNvPicPr>
            <a:picLocks noChangeAspect="1"/>
          </p:cNvPicPr>
          <p:nvPr/>
        </p:nvPicPr>
        <p:blipFill>
          <a:blip r:embed="rId4">
            <a:extLst>
              <a:ext uri="{28A0092B-C50C-407E-A947-70E740481C1C}">
                <a14:useLocalDpi xmlns:a14="http://schemas.microsoft.com/office/drawing/2010/main" val="0"/>
              </a:ext>
            </a:extLst>
          </a:blip>
          <a:srcRect l="2785" r="3163"/>
          <a:stretch>
            <a:fillRect/>
          </a:stretch>
        </p:blipFill>
        <p:spPr>
          <a:xfrm>
            <a:off x="508686" y="2000019"/>
            <a:ext cx="5165430" cy="4077971"/>
          </a:xfrm>
          <a:prstGeom prst="rect">
            <a:avLst/>
          </a:prstGeom>
        </p:spPr>
      </p:pic>
      <p:sp>
        <p:nvSpPr>
          <p:cNvPr id="27" name="CuadroTexto 26">
            <a:extLst>
              <a:ext uri="{FF2B5EF4-FFF2-40B4-BE49-F238E27FC236}">
                <a16:creationId xmlns:a16="http://schemas.microsoft.com/office/drawing/2014/main" id="{880F4FC7-2BC0-3C75-129F-3006D5406127}"/>
              </a:ext>
            </a:extLst>
          </p:cNvPr>
          <p:cNvSpPr txBox="1"/>
          <p:nvPr/>
        </p:nvSpPr>
        <p:spPr>
          <a:xfrm>
            <a:off x="5685615" y="2662989"/>
            <a:ext cx="2999539" cy="923330"/>
          </a:xfrm>
          <a:prstGeom prst="rect">
            <a:avLst/>
          </a:prstGeom>
          <a:noFill/>
        </p:spPr>
        <p:txBody>
          <a:bodyPr wrap="none" rtlCol="0">
            <a:spAutoFit/>
          </a:bodyPr>
          <a:lstStyle/>
          <a:p>
            <a:pPr marL="285750" indent="-285750">
              <a:buFont typeface="Arial" panose="020B0604020202020204" pitchFamily="34" charset="0"/>
              <a:buChar char="•"/>
            </a:pPr>
            <a:r>
              <a:rPr lang="es-ES" dirty="0"/>
              <a:t>Implementa Transformer</a:t>
            </a:r>
          </a:p>
          <a:p>
            <a:pPr marL="285750" indent="-285750">
              <a:buFont typeface="Arial" panose="020B0604020202020204" pitchFamily="34" charset="0"/>
              <a:buChar char="•"/>
            </a:pPr>
            <a:r>
              <a:rPr lang="es-ES" dirty="0"/>
              <a:t>Implementa SAITS</a:t>
            </a:r>
          </a:p>
          <a:p>
            <a:pPr marL="285750" indent="-285750">
              <a:buFont typeface="Arial" panose="020B0604020202020204" pitchFamily="34" charset="0"/>
              <a:buChar char="•"/>
            </a:pPr>
            <a:r>
              <a:rPr lang="es-ES" dirty="0"/>
              <a:t>Basada en PyTorch</a:t>
            </a:r>
          </a:p>
        </p:txBody>
      </p:sp>
      <p:sp>
        <p:nvSpPr>
          <p:cNvPr id="2" name="Marcador de número de diapositiva 1">
            <a:extLst>
              <a:ext uri="{FF2B5EF4-FFF2-40B4-BE49-F238E27FC236}">
                <a16:creationId xmlns:a16="http://schemas.microsoft.com/office/drawing/2014/main" id="{F2ED86FB-1849-F041-8804-FF0812FC073B}"/>
              </a:ext>
            </a:extLst>
          </p:cNvPr>
          <p:cNvSpPr>
            <a:spLocks noGrp="1"/>
          </p:cNvSpPr>
          <p:nvPr>
            <p:ph type="sldNum" sz="quarter" idx="7"/>
          </p:nvPr>
        </p:nvSpPr>
        <p:spPr/>
        <p:txBody>
          <a:bodyPr/>
          <a:lstStyle/>
          <a:p>
            <a:pPr marL="111760">
              <a:lnSpc>
                <a:spcPts val="1120"/>
              </a:lnSpc>
            </a:pPr>
            <a:fld id="{81D60167-4931-47E6-BA6A-407CBD079E47}" type="slidenum">
              <a:rPr lang="es-ES" spc="-50" smtClean="0"/>
              <a:t>20</a:t>
            </a:fld>
            <a:endParaRPr lang="es-ES" spc="-50" dirty="0"/>
          </a:p>
        </p:txBody>
      </p:sp>
      <p:sp>
        <p:nvSpPr>
          <p:cNvPr id="3" name="Marcador de número de diapositiva 2">
            <a:extLst>
              <a:ext uri="{FF2B5EF4-FFF2-40B4-BE49-F238E27FC236}">
                <a16:creationId xmlns:a16="http://schemas.microsoft.com/office/drawing/2014/main" id="{B41E476D-0867-B94F-9CA1-1D6215B3275F}"/>
              </a:ext>
            </a:extLst>
          </p:cNvPr>
          <p:cNvSpPr txBox="1">
            <a:spLocks/>
          </p:cNvSpPr>
          <p:nvPr/>
        </p:nvSpPr>
        <p:spPr>
          <a:xfrm>
            <a:off x="8845943" y="6538031"/>
            <a:ext cx="1019383" cy="141064"/>
          </a:xfrm>
          <a:prstGeom prst="rect">
            <a:avLst/>
          </a:prstGeom>
        </p:spPr>
        <p:txBody>
          <a:bodyPr wrap="square" lIns="0" tIns="0" rIns="0" bIns="0">
            <a:spAutoFit/>
          </a:bodyPr>
          <a:lstStyle>
            <a:defPPr>
              <a:defRPr kern="0"/>
            </a:defPPr>
            <a:lvl1pPr>
              <a:defRPr sz="1050" b="0" i="0">
                <a:solidFill>
                  <a:schemeClr val="bg1"/>
                </a:solidFill>
                <a:latin typeface="Arial MT"/>
                <a:cs typeface="Arial MT"/>
              </a:defRPr>
            </a:lvl1pPr>
          </a:lstStyle>
          <a:p>
            <a:pPr marL="111760">
              <a:lnSpc>
                <a:spcPts val="1120"/>
              </a:lnSpc>
            </a:pPr>
            <a:fld id="{81D60167-4931-47E6-BA6A-407CBD079E47}" type="slidenum">
              <a:rPr lang="es-ES" spc="-50" smtClean="0">
                <a:solidFill>
                  <a:schemeClr val="tx1"/>
                </a:solidFill>
              </a:rPr>
              <a:pPr marL="111760">
                <a:lnSpc>
                  <a:spcPts val="1120"/>
                </a:lnSpc>
              </a:pPr>
              <a:t>20</a:t>
            </a:fld>
            <a:endParaRPr lang="es-ES" spc="-50" dirty="0">
              <a:solidFill>
                <a:schemeClr val="tx1"/>
              </a:solidFill>
            </a:endParaRPr>
          </a:p>
        </p:txBody>
      </p:sp>
      <p:sp>
        <p:nvSpPr>
          <p:cNvPr id="5" name="Rectángulo 4" descr="Cmd (terminal) con relleno sólido">
            <a:extLst>
              <a:ext uri="{FF2B5EF4-FFF2-40B4-BE49-F238E27FC236}">
                <a16:creationId xmlns:a16="http://schemas.microsoft.com/office/drawing/2014/main" id="{AEC80A62-9191-AEEB-9423-E95801E0B62E}"/>
              </a:ext>
            </a:extLst>
          </p:cNvPr>
          <p:cNvSpPr/>
          <p:nvPr/>
        </p:nvSpPr>
        <p:spPr>
          <a:xfrm>
            <a:off x="608249" y="295447"/>
            <a:ext cx="428453" cy="428453"/>
          </a:xfrm>
          <a:prstGeom prst="rect">
            <a:avLst/>
          </a:prstGeom>
          <a:blipFill>
            <a:blip r:embed="rId5">
              <a:extLst>
                <a:ext uri="{96DAC541-7B7A-43D3-8B79-37D633B846F1}">
                  <asvg:svgBlip xmlns:asvg="http://schemas.microsoft.com/office/drawing/2016/SVG/main" r:embed="rId6"/>
                </a:ext>
              </a:extLst>
            </a:blip>
            <a:srcRect/>
            <a:stretch>
              <a:fillRect/>
            </a:stretch>
          </a:blipFill>
        </p:spPr>
        <p:style>
          <a:lnRef idx="2">
            <a:schemeClr val="lt1">
              <a:alpha val="0"/>
              <a:hueOff val="0"/>
              <a:satOff val="0"/>
              <a:lumOff val="0"/>
              <a:alphaOff val="0"/>
            </a:schemeClr>
          </a:lnRef>
          <a:fillRef idx="1">
            <a:scrgbClr r="0" g="0" b="0"/>
          </a:fillRef>
          <a:effectRef idx="0">
            <a:schemeClr val="accent5">
              <a:hueOff val="0"/>
              <a:satOff val="0"/>
              <a:lumOff val="0"/>
              <a:alphaOff val="0"/>
            </a:schemeClr>
          </a:effectRef>
          <a:fontRef idx="minor">
            <a:schemeClr val="lt1"/>
          </a:fontRef>
        </p:style>
        <p:txBody>
          <a:bodyPr/>
          <a:lstStyle/>
          <a:p>
            <a:endParaRPr lang="es-ES"/>
          </a:p>
        </p:txBody>
      </p:sp>
      <p:sp>
        <p:nvSpPr>
          <p:cNvPr id="6" name="CuadroTexto 5">
            <a:extLst>
              <a:ext uri="{FF2B5EF4-FFF2-40B4-BE49-F238E27FC236}">
                <a16:creationId xmlns:a16="http://schemas.microsoft.com/office/drawing/2014/main" id="{5D63A7E6-D167-EE62-7EDB-EAEDF1D01C4E}"/>
              </a:ext>
            </a:extLst>
          </p:cNvPr>
          <p:cNvSpPr txBox="1"/>
          <p:nvPr/>
        </p:nvSpPr>
        <p:spPr>
          <a:xfrm>
            <a:off x="1327150" y="355784"/>
            <a:ext cx="2005677" cy="307777"/>
          </a:xfrm>
          <a:prstGeom prst="rect">
            <a:avLst/>
          </a:prstGeom>
          <a:noFill/>
        </p:spPr>
        <p:txBody>
          <a:bodyPr wrap="none" rtlCol="0">
            <a:spAutoFit/>
          </a:bodyPr>
          <a:lstStyle/>
          <a:p>
            <a:r>
              <a:rPr lang="es-ES" sz="1400" dirty="0">
                <a:solidFill>
                  <a:schemeClr val="bg1">
                    <a:lumMod val="50000"/>
                  </a:schemeClr>
                </a:solidFill>
              </a:rPr>
              <a:t>Desarrollo de Software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6" name="Imagen 15" descr="Diagrama, Texto&#10;&#10;El contenido generado por IA puede ser incorrecto.">
            <a:extLst>
              <a:ext uri="{FF2B5EF4-FFF2-40B4-BE49-F238E27FC236}">
                <a16:creationId xmlns:a16="http://schemas.microsoft.com/office/drawing/2014/main" id="{EDEFA2D0-CAC7-C84E-80F3-AA128AE0B75A}"/>
              </a:ext>
            </a:extLst>
          </p:cNvPr>
          <p:cNvPicPr>
            <a:picLocks noChangeAspect="1"/>
          </p:cNvPicPr>
          <p:nvPr/>
        </p:nvPicPr>
        <p:blipFill>
          <a:blip r:embed="rId3">
            <a:clrChange>
              <a:clrFrom>
                <a:srgbClr val="ABB2BF"/>
              </a:clrFrom>
              <a:clrTo>
                <a:srgbClr val="ABB2BF">
                  <a:alpha val="0"/>
                </a:srgbClr>
              </a:clrTo>
            </a:clrChange>
            <a:extLst>
              <a:ext uri="{28A0092B-C50C-407E-A947-70E740481C1C}">
                <a14:useLocalDpi xmlns:a14="http://schemas.microsoft.com/office/drawing/2010/main" val="0"/>
              </a:ext>
            </a:extLst>
          </a:blip>
          <a:stretch>
            <a:fillRect/>
          </a:stretch>
        </p:blipFill>
        <p:spPr>
          <a:xfrm>
            <a:off x="1478638" y="1270791"/>
            <a:ext cx="6555023" cy="4661350"/>
          </a:xfrm>
          <a:prstGeom prst="rect">
            <a:avLst/>
          </a:prstGeom>
        </p:spPr>
      </p:pic>
      <p:sp>
        <p:nvSpPr>
          <p:cNvPr id="2" name="object 2"/>
          <p:cNvSpPr txBox="1">
            <a:spLocks noGrp="1"/>
          </p:cNvSpPr>
          <p:nvPr>
            <p:ph type="title"/>
          </p:nvPr>
        </p:nvSpPr>
        <p:spPr>
          <a:xfrm>
            <a:off x="2470149" y="701726"/>
            <a:ext cx="4572000" cy="399468"/>
          </a:xfrm>
          <a:prstGeom prst="rect">
            <a:avLst/>
          </a:prstGeom>
        </p:spPr>
        <p:txBody>
          <a:bodyPr vert="horz" wrap="square" lIns="0" tIns="90805" rIns="0" bIns="0" rtlCol="0">
            <a:spAutoFit/>
          </a:bodyPr>
          <a:lstStyle/>
          <a:p>
            <a:pPr marL="1641475" marR="5080" indent="-1629410">
              <a:spcBef>
                <a:spcPts val="715"/>
              </a:spcBef>
            </a:pPr>
            <a:r>
              <a:rPr lang="es-ES" sz="2000" spc="260" dirty="0"/>
              <a:t>V. Desarrollo de Software</a:t>
            </a:r>
            <a:endParaRPr sz="2000" spc="95" dirty="0"/>
          </a:p>
        </p:txBody>
      </p:sp>
      <p:sp>
        <p:nvSpPr>
          <p:cNvPr id="19" name="CuadroTexto 18">
            <a:extLst>
              <a:ext uri="{FF2B5EF4-FFF2-40B4-BE49-F238E27FC236}">
                <a16:creationId xmlns:a16="http://schemas.microsoft.com/office/drawing/2014/main" id="{78215584-00BC-3B92-9AE5-71A60A0335A3}"/>
              </a:ext>
            </a:extLst>
          </p:cNvPr>
          <p:cNvSpPr txBox="1"/>
          <p:nvPr/>
        </p:nvSpPr>
        <p:spPr>
          <a:xfrm>
            <a:off x="4309612" y="5937838"/>
            <a:ext cx="4760258" cy="369332"/>
          </a:xfrm>
          <a:prstGeom prst="rect">
            <a:avLst/>
          </a:prstGeom>
          <a:noFill/>
        </p:spPr>
        <p:txBody>
          <a:bodyPr wrap="square">
            <a:spAutoFit/>
          </a:bodyPr>
          <a:lstStyle/>
          <a:p>
            <a:r>
              <a:rPr lang="es-ES" dirty="0">
                <a:solidFill>
                  <a:schemeClr val="tx2"/>
                </a:solidFill>
                <a:hlinkClick r:id="rId4">
                  <a:extLst>
                    <a:ext uri="{A12FA001-AC4F-418D-AE19-62706E023703}">
                      <ahyp:hlinkClr xmlns:ahyp="http://schemas.microsoft.com/office/drawing/2018/hyperlinkcolor" val="tx"/>
                    </a:ext>
                  </a:extLst>
                </a:hlinkClick>
              </a:rPr>
              <a:t>https://github.com/eigenric/TFG</a:t>
            </a:r>
            <a:endParaRPr lang="es-ES" dirty="0">
              <a:solidFill>
                <a:schemeClr val="tx2"/>
              </a:solidFill>
            </a:endParaRPr>
          </a:p>
        </p:txBody>
      </p:sp>
      <p:sp>
        <p:nvSpPr>
          <p:cNvPr id="3" name="Marcador de número de diapositiva 2">
            <a:extLst>
              <a:ext uri="{FF2B5EF4-FFF2-40B4-BE49-F238E27FC236}">
                <a16:creationId xmlns:a16="http://schemas.microsoft.com/office/drawing/2014/main" id="{805AF738-A03D-DD8D-3B07-4D4A69ABF844}"/>
              </a:ext>
            </a:extLst>
          </p:cNvPr>
          <p:cNvSpPr>
            <a:spLocks noGrp="1"/>
          </p:cNvSpPr>
          <p:nvPr>
            <p:ph type="sldNum" sz="quarter" idx="7"/>
          </p:nvPr>
        </p:nvSpPr>
        <p:spPr/>
        <p:txBody>
          <a:bodyPr/>
          <a:lstStyle/>
          <a:p>
            <a:pPr marL="111760">
              <a:lnSpc>
                <a:spcPts val="1120"/>
              </a:lnSpc>
            </a:pPr>
            <a:fld id="{81D60167-4931-47E6-BA6A-407CBD079E47}" type="slidenum">
              <a:rPr lang="es-ES" spc="-50" smtClean="0"/>
              <a:t>21</a:t>
            </a:fld>
            <a:endParaRPr lang="es-ES" spc="-50" dirty="0"/>
          </a:p>
        </p:txBody>
      </p:sp>
      <p:sp>
        <p:nvSpPr>
          <p:cNvPr id="4" name="Marcador de número de diapositiva 2">
            <a:extLst>
              <a:ext uri="{FF2B5EF4-FFF2-40B4-BE49-F238E27FC236}">
                <a16:creationId xmlns:a16="http://schemas.microsoft.com/office/drawing/2014/main" id="{2F575893-D683-BB5D-5701-33DCE98BFB79}"/>
              </a:ext>
            </a:extLst>
          </p:cNvPr>
          <p:cNvSpPr txBox="1">
            <a:spLocks/>
          </p:cNvSpPr>
          <p:nvPr/>
        </p:nvSpPr>
        <p:spPr>
          <a:xfrm>
            <a:off x="8845943" y="6538031"/>
            <a:ext cx="1019383" cy="141064"/>
          </a:xfrm>
          <a:prstGeom prst="rect">
            <a:avLst/>
          </a:prstGeom>
        </p:spPr>
        <p:txBody>
          <a:bodyPr wrap="square" lIns="0" tIns="0" rIns="0" bIns="0">
            <a:spAutoFit/>
          </a:bodyPr>
          <a:lstStyle>
            <a:defPPr>
              <a:defRPr kern="0"/>
            </a:defPPr>
            <a:lvl1pPr>
              <a:defRPr sz="1050" b="0" i="0">
                <a:solidFill>
                  <a:schemeClr val="bg1"/>
                </a:solidFill>
                <a:latin typeface="Arial MT"/>
                <a:cs typeface="Arial MT"/>
              </a:defRPr>
            </a:lvl1pPr>
          </a:lstStyle>
          <a:p>
            <a:pPr marL="111760">
              <a:lnSpc>
                <a:spcPts val="1120"/>
              </a:lnSpc>
            </a:pPr>
            <a:fld id="{81D60167-4931-47E6-BA6A-407CBD079E47}" type="slidenum">
              <a:rPr lang="es-ES" spc="-50" smtClean="0">
                <a:solidFill>
                  <a:schemeClr val="tx1"/>
                </a:solidFill>
              </a:rPr>
              <a:pPr marL="111760">
                <a:lnSpc>
                  <a:spcPts val="1120"/>
                </a:lnSpc>
              </a:pPr>
              <a:t>21</a:t>
            </a:fld>
            <a:endParaRPr lang="es-ES" spc="-50" dirty="0">
              <a:solidFill>
                <a:schemeClr val="tx1"/>
              </a:solidFill>
            </a:endParaRPr>
          </a:p>
        </p:txBody>
      </p:sp>
      <p:pic>
        <p:nvPicPr>
          <p:cNvPr id="2050" name="Picture 2" descr="Metodología Ágil en UX | Blog Aguayo">
            <a:extLst>
              <a:ext uri="{FF2B5EF4-FFF2-40B4-BE49-F238E27FC236}">
                <a16:creationId xmlns:a16="http://schemas.microsoft.com/office/drawing/2014/main" id="{3FAE8815-BB7C-C2FC-FBFB-CFB65107BB25}"/>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464264" y="2917933"/>
            <a:ext cx="1865474" cy="1367065"/>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descr="Cmd (terminal) con relleno sólido">
            <a:extLst>
              <a:ext uri="{FF2B5EF4-FFF2-40B4-BE49-F238E27FC236}">
                <a16:creationId xmlns:a16="http://schemas.microsoft.com/office/drawing/2014/main" id="{AB9C6826-C881-45AB-2E93-DF5C84DEC80F}"/>
              </a:ext>
            </a:extLst>
          </p:cNvPr>
          <p:cNvSpPr/>
          <p:nvPr/>
        </p:nvSpPr>
        <p:spPr>
          <a:xfrm>
            <a:off x="641350" y="257597"/>
            <a:ext cx="428453" cy="428453"/>
          </a:xfrm>
          <a:prstGeom prst="rect">
            <a:avLst/>
          </a:prstGeom>
          <a:blipFill>
            <a:blip r:embed="rId6">
              <a:extLst>
                <a:ext uri="{96DAC541-7B7A-43D3-8B79-37D633B846F1}">
                  <asvg:svgBlip xmlns:asvg="http://schemas.microsoft.com/office/drawing/2016/SVG/main" r:embed="rId7"/>
                </a:ext>
              </a:extLst>
            </a:blip>
            <a:srcRect/>
            <a:stretch>
              <a:fillRect/>
            </a:stretch>
          </a:blipFill>
        </p:spPr>
        <p:style>
          <a:lnRef idx="2">
            <a:schemeClr val="lt1">
              <a:alpha val="0"/>
              <a:hueOff val="0"/>
              <a:satOff val="0"/>
              <a:lumOff val="0"/>
              <a:alphaOff val="0"/>
            </a:schemeClr>
          </a:lnRef>
          <a:fillRef idx="1">
            <a:scrgbClr r="0" g="0" b="0"/>
          </a:fillRef>
          <a:effectRef idx="0">
            <a:schemeClr val="accent5">
              <a:hueOff val="0"/>
              <a:satOff val="0"/>
              <a:lumOff val="0"/>
              <a:alphaOff val="0"/>
            </a:schemeClr>
          </a:effectRef>
          <a:fontRef idx="minor">
            <a:schemeClr val="lt1"/>
          </a:fontRef>
        </p:style>
        <p:txBody>
          <a:bodyPr/>
          <a:lstStyle/>
          <a:p>
            <a:endParaRPr lang="es-ES"/>
          </a:p>
        </p:txBody>
      </p:sp>
      <p:sp>
        <p:nvSpPr>
          <p:cNvPr id="8" name="CuadroTexto 7">
            <a:extLst>
              <a:ext uri="{FF2B5EF4-FFF2-40B4-BE49-F238E27FC236}">
                <a16:creationId xmlns:a16="http://schemas.microsoft.com/office/drawing/2014/main" id="{3E31A916-12C4-6065-6E2A-DDE3229850D6}"/>
              </a:ext>
            </a:extLst>
          </p:cNvPr>
          <p:cNvSpPr txBox="1"/>
          <p:nvPr/>
        </p:nvSpPr>
        <p:spPr>
          <a:xfrm>
            <a:off x="1254560" y="299750"/>
            <a:ext cx="2005677" cy="307777"/>
          </a:xfrm>
          <a:prstGeom prst="rect">
            <a:avLst/>
          </a:prstGeom>
          <a:noFill/>
        </p:spPr>
        <p:txBody>
          <a:bodyPr wrap="none" rtlCol="0">
            <a:spAutoFit/>
          </a:bodyPr>
          <a:lstStyle/>
          <a:p>
            <a:r>
              <a:rPr lang="es-ES" sz="1400" dirty="0">
                <a:solidFill>
                  <a:schemeClr val="bg1">
                    <a:lumMod val="50000"/>
                  </a:schemeClr>
                </a:solidFill>
              </a:rPr>
              <a:t>Desarrollo de Software</a:t>
            </a:r>
          </a:p>
        </p:txBody>
      </p:sp>
      <p:sp>
        <p:nvSpPr>
          <p:cNvPr id="17" name="CuadroTexto 16">
            <a:extLst>
              <a:ext uri="{FF2B5EF4-FFF2-40B4-BE49-F238E27FC236}">
                <a16:creationId xmlns:a16="http://schemas.microsoft.com/office/drawing/2014/main" id="{82F16BAA-8C00-7EC7-8FBE-1426725FEDF3}"/>
              </a:ext>
            </a:extLst>
          </p:cNvPr>
          <p:cNvSpPr txBox="1"/>
          <p:nvPr/>
        </p:nvSpPr>
        <p:spPr>
          <a:xfrm>
            <a:off x="874643" y="6122504"/>
            <a:ext cx="184731" cy="369332"/>
          </a:xfrm>
          <a:prstGeom prst="rect">
            <a:avLst/>
          </a:prstGeom>
          <a:noFill/>
        </p:spPr>
        <p:txBody>
          <a:bodyPr wrap="none" rtlCol="0">
            <a:spAutoFit/>
          </a:bodyPr>
          <a:lstStyle/>
          <a:p>
            <a:endParaRPr lang="es-ES" dirty="0"/>
          </a:p>
        </p:txBody>
      </p:sp>
      <p:sp>
        <p:nvSpPr>
          <p:cNvPr id="21" name="CuadroTexto 20">
            <a:extLst>
              <a:ext uri="{FF2B5EF4-FFF2-40B4-BE49-F238E27FC236}">
                <a16:creationId xmlns:a16="http://schemas.microsoft.com/office/drawing/2014/main" id="{0458BB94-186B-C20F-A935-93630A85B085}"/>
              </a:ext>
            </a:extLst>
          </p:cNvPr>
          <p:cNvSpPr txBox="1"/>
          <p:nvPr/>
        </p:nvSpPr>
        <p:spPr>
          <a:xfrm>
            <a:off x="1801419" y="5937838"/>
            <a:ext cx="2595582" cy="369332"/>
          </a:xfrm>
          <a:prstGeom prst="rect">
            <a:avLst/>
          </a:prstGeom>
          <a:noFill/>
        </p:spPr>
        <p:txBody>
          <a:bodyPr wrap="none" rtlCol="0">
            <a:spAutoFit/>
          </a:bodyPr>
          <a:lstStyle/>
          <a:p>
            <a:r>
              <a:rPr lang="es-ES" dirty="0"/>
              <a:t>Repositorio de Código: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718EB35-B02E-8538-0745-EEE2F93539E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1E6CFED-5409-64DB-F403-4EF9DBC7F039}"/>
              </a:ext>
            </a:extLst>
          </p:cNvPr>
          <p:cNvSpPr txBox="1">
            <a:spLocks noGrp="1"/>
          </p:cNvSpPr>
          <p:nvPr>
            <p:ph type="title"/>
          </p:nvPr>
        </p:nvSpPr>
        <p:spPr>
          <a:xfrm>
            <a:off x="3920138" y="257597"/>
            <a:ext cx="2233720" cy="650499"/>
          </a:xfrm>
          <a:prstGeom prst="rect">
            <a:avLst/>
          </a:prstGeom>
        </p:spPr>
        <p:txBody>
          <a:bodyPr vert="horz" wrap="square" lIns="0" tIns="90805" rIns="0" bIns="0" rtlCol="0">
            <a:spAutoFit/>
          </a:bodyPr>
          <a:lstStyle/>
          <a:p>
            <a:pPr marL="1641475" marR="5080" indent="-1629410">
              <a:lnSpc>
                <a:spcPts val="4880"/>
              </a:lnSpc>
              <a:spcBef>
                <a:spcPts val="715"/>
              </a:spcBef>
            </a:pPr>
            <a:r>
              <a:rPr lang="es-ES" sz="2400" spc="260" dirty="0"/>
              <a:t>V. Pipeline</a:t>
            </a:r>
            <a:endParaRPr sz="2400" spc="95" dirty="0"/>
          </a:p>
        </p:txBody>
      </p:sp>
      <p:sp>
        <p:nvSpPr>
          <p:cNvPr id="4" name="object 4">
            <a:extLst>
              <a:ext uri="{FF2B5EF4-FFF2-40B4-BE49-F238E27FC236}">
                <a16:creationId xmlns:a16="http://schemas.microsoft.com/office/drawing/2014/main" id="{972B97CB-5CAF-F84C-11D5-80A93D22E6CE}"/>
              </a:ext>
            </a:extLst>
          </p:cNvPr>
          <p:cNvSpPr txBox="1"/>
          <p:nvPr/>
        </p:nvSpPr>
        <p:spPr>
          <a:xfrm>
            <a:off x="692669" y="1039523"/>
            <a:ext cx="3584867" cy="283154"/>
          </a:xfrm>
          <a:prstGeom prst="rect">
            <a:avLst/>
          </a:prstGeom>
        </p:spPr>
        <p:txBody>
          <a:bodyPr vert="horz" wrap="square" lIns="0" tIns="12065" rIns="0" bIns="0" rtlCol="0">
            <a:spAutoFit/>
          </a:bodyPr>
          <a:lstStyle/>
          <a:p>
            <a:pPr marL="12700" marR="5080">
              <a:lnSpc>
                <a:spcPct val="122200"/>
              </a:lnSpc>
              <a:spcBef>
                <a:spcPts val="95"/>
              </a:spcBef>
            </a:pPr>
            <a:r>
              <a:rPr lang="es-ES" sz="1600" spc="-10" dirty="0">
                <a:solidFill>
                  <a:srgbClr val="333333"/>
                </a:solidFill>
                <a:latin typeface="Microsoft Sans Serif"/>
                <a:cs typeface="Microsoft Sans Serif"/>
              </a:rPr>
              <a:t> Notebook_imputation.ipynb</a:t>
            </a:r>
            <a:endParaRPr sz="1600" dirty="0">
              <a:latin typeface="Microsoft Sans Serif"/>
              <a:cs typeface="Microsoft Sans Serif"/>
            </a:endParaRPr>
          </a:p>
        </p:txBody>
      </p:sp>
      <p:pic>
        <p:nvPicPr>
          <p:cNvPr id="18" name="Imagen 17" descr="Interfaz de usuario gráfica, Texto, Aplicación&#10;&#10;El contenido generado por IA puede ser incorrecto.">
            <a:extLst>
              <a:ext uri="{FF2B5EF4-FFF2-40B4-BE49-F238E27FC236}">
                <a16:creationId xmlns:a16="http://schemas.microsoft.com/office/drawing/2014/main" id="{B90C5052-FBBA-27C4-8C1B-D667064C17E3}"/>
              </a:ext>
            </a:extLst>
          </p:cNvPr>
          <p:cNvPicPr>
            <a:picLocks noChangeAspect="1"/>
          </p:cNvPicPr>
          <p:nvPr/>
        </p:nvPicPr>
        <p:blipFill>
          <a:blip r:embed="rId3">
            <a:alphaModFix amt="70000"/>
            <a:extLst>
              <a:ext uri="{28A0092B-C50C-407E-A947-70E740481C1C}">
                <a14:useLocalDpi xmlns:a14="http://schemas.microsoft.com/office/drawing/2010/main" val="0"/>
              </a:ext>
            </a:extLst>
          </a:blip>
          <a:srcRect l="2433" r="2793"/>
          <a:stretch>
            <a:fillRect/>
          </a:stretch>
        </p:blipFill>
        <p:spPr>
          <a:xfrm>
            <a:off x="488802" y="1387981"/>
            <a:ext cx="3219845" cy="3450719"/>
          </a:xfrm>
          <a:prstGeom prst="rect">
            <a:avLst/>
          </a:prstGeom>
        </p:spPr>
      </p:pic>
      <p:pic>
        <p:nvPicPr>
          <p:cNvPr id="20" name="Imagen 19" descr="Un conjunto de letras blancas en un fondo blanco&#10;&#10;El contenido generado por IA puede ser incorrecto.">
            <a:extLst>
              <a:ext uri="{FF2B5EF4-FFF2-40B4-BE49-F238E27FC236}">
                <a16:creationId xmlns:a16="http://schemas.microsoft.com/office/drawing/2014/main" id="{115E8205-2FB1-CE02-21C3-EE837B3F8D51}"/>
              </a:ext>
            </a:extLst>
          </p:cNvPr>
          <p:cNvPicPr>
            <a:picLocks noChangeAspect="1"/>
          </p:cNvPicPr>
          <p:nvPr/>
        </p:nvPicPr>
        <p:blipFill>
          <a:blip r:embed="rId4">
            <a:alphaModFix amt="70000"/>
            <a:extLst>
              <a:ext uri="{28A0092B-C50C-407E-A947-70E740481C1C}">
                <a14:useLocalDpi xmlns:a14="http://schemas.microsoft.com/office/drawing/2010/main" val="0"/>
              </a:ext>
            </a:extLst>
          </a:blip>
          <a:srcRect l="2773" r="3131"/>
          <a:stretch>
            <a:fillRect/>
          </a:stretch>
        </p:blipFill>
        <p:spPr>
          <a:xfrm>
            <a:off x="567303" y="4805142"/>
            <a:ext cx="3352835" cy="990673"/>
          </a:xfrm>
          <a:prstGeom prst="rect">
            <a:avLst/>
          </a:prstGeom>
        </p:spPr>
      </p:pic>
      <p:pic>
        <p:nvPicPr>
          <p:cNvPr id="24" name="Imagen 23" descr="Tabla&#10;&#10;El contenido generado por IA puede ser incorrecto.">
            <a:extLst>
              <a:ext uri="{FF2B5EF4-FFF2-40B4-BE49-F238E27FC236}">
                <a16:creationId xmlns:a16="http://schemas.microsoft.com/office/drawing/2014/main" id="{F7632D73-B076-050A-CE58-086776B9D3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20138" y="1180936"/>
            <a:ext cx="5375006" cy="4698153"/>
          </a:xfrm>
          <a:prstGeom prst="rect">
            <a:avLst/>
          </a:prstGeom>
        </p:spPr>
      </p:pic>
      <p:sp>
        <p:nvSpPr>
          <p:cNvPr id="3" name="Marcador de número de diapositiva 2">
            <a:extLst>
              <a:ext uri="{FF2B5EF4-FFF2-40B4-BE49-F238E27FC236}">
                <a16:creationId xmlns:a16="http://schemas.microsoft.com/office/drawing/2014/main" id="{9B8C7DFC-7ABC-2DEE-6669-DDF27E0CAA6F}"/>
              </a:ext>
            </a:extLst>
          </p:cNvPr>
          <p:cNvSpPr>
            <a:spLocks noGrp="1"/>
          </p:cNvSpPr>
          <p:nvPr>
            <p:ph type="sldNum" sz="quarter" idx="7"/>
          </p:nvPr>
        </p:nvSpPr>
        <p:spPr/>
        <p:txBody>
          <a:bodyPr/>
          <a:lstStyle/>
          <a:p>
            <a:pPr marL="111760">
              <a:lnSpc>
                <a:spcPts val="1120"/>
              </a:lnSpc>
            </a:pPr>
            <a:fld id="{81D60167-4931-47E6-BA6A-407CBD079E47}" type="slidenum">
              <a:rPr lang="es-ES" spc="-50" smtClean="0"/>
              <a:t>22</a:t>
            </a:fld>
            <a:endParaRPr lang="es-ES" spc="-50" dirty="0"/>
          </a:p>
        </p:txBody>
      </p:sp>
      <p:sp>
        <p:nvSpPr>
          <p:cNvPr id="5" name="Marcador de número de diapositiva 2">
            <a:extLst>
              <a:ext uri="{FF2B5EF4-FFF2-40B4-BE49-F238E27FC236}">
                <a16:creationId xmlns:a16="http://schemas.microsoft.com/office/drawing/2014/main" id="{525EF082-1A9A-FF59-8722-CF890369EA3F}"/>
              </a:ext>
            </a:extLst>
          </p:cNvPr>
          <p:cNvSpPr txBox="1">
            <a:spLocks/>
          </p:cNvSpPr>
          <p:nvPr/>
        </p:nvSpPr>
        <p:spPr>
          <a:xfrm>
            <a:off x="8845943" y="6538031"/>
            <a:ext cx="1019383" cy="141064"/>
          </a:xfrm>
          <a:prstGeom prst="rect">
            <a:avLst/>
          </a:prstGeom>
        </p:spPr>
        <p:txBody>
          <a:bodyPr wrap="square" lIns="0" tIns="0" rIns="0" bIns="0">
            <a:spAutoFit/>
          </a:bodyPr>
          <a:lstStyle>
            <a:defPPr>
              <a:defRPr kern="0"/>
            </a:defPPr>
            <a:lvl1pPr>
              <a:defRPr sz="1050" b="0" i="0">
                <a:solidFill>
                  <a:schemeClr val="bg1"/>
                </a:solidFill>
                <a:latin typeface="Arial MT"/>
                <a:cs typeface="Arial MT"/>
              </a:defRPr>
            </a:lvl1pPr>
          </a:lstStyle>
          <a:p>
            <a:pPr marL="111760">
              <a:lnSpc>
                <a:spcPts val="1120"/>
              </a:lnSpc>
            </a:pPr>
            <a:fld id="{81D60167-4931-47E6-BA6A-407CBD079E47}" type="slidenum">
              <a:rPr lang="es-ES" spc="-50" smtClean="0">
                <a:solidFill>
                  <a:schemeClr val="tx1"/>
                </a:solidFill>
              </a:rPr>
              <a:pPr marL="111760">
                <a:lnSpc>
                  <a:spcPts val="1120"/>
                </a:lnSpc>
              </a:pPr>
              <a:t>22</a:t>
            </a:fld>
            <a:endParaRPr lang="es-ES" spc="-50" dirty="0">
              <a:solidFill>
                <a:schemeClr val="tx1"/>
              </a:solidFill>
            </a:endParaRPr>
          </a:p>
        </p:txBody>
      </p:sp>
      <p:pic>
        <p:nvPicPr>
          <p:cNvPr id="1028" name="Picture 4">
            <a:extLst>
              <a:ext uri="{FF2B5EF4-FFF2-40B4-BE49-F238E27FC236}">
                <a16:creationId xmlns:a16="http://schemas.microsoft.com/office/drawing/2014/main" id="{2FF376F0-CE1D-B416-2FA6-49AFE631238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8559" y="2667036"/>
            <a:ext cx="1380329" cy="1600127"/>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descr="Cmd (terminal) con relleno sólido">
            <a:extLst>
              <a:ext uri="{FF2B5EF4-FFF2-40B4-BE49-F238E27FC236}">
                <a16:creationId xmlns:a16="http://schemas.microsoft.com/office/drawing/2014/main" id="{E7A8265A-95BA-1077-7D34-F0CF1D9A1D8C}"/>
              </a:ext>
            </a:extLst>
          </p:cNvPr>
          <p:cNvSpPr/>
          <p:nvPr/>
        </p:nvSpPr>
        <p:spPr>
          <a:xfrm>
            <a:off x="641350" y="257597"/>
            <a:ext cx="428453" cy="428453"/>
          </a:xfrm>
          <a:prstGeom prst="rect">
            <a:avLst/>
          </a:prstGeom>
          <a:blipFill>
            <a:blip r:embed="rId7">
              <a:extLst>
                <a:ext uri="{96DAC541-7B7A-43D3-8B79-37D633B846F1}">
                  <asvg:svgBlip xmlns:asvg="http://schemas.microsoft.com/office/drawing/2016/SVG/main" r:embed="rId8"/>
                </a:ext>
              </a:extLst>
            </a:blip>
            <a:srcRect/>
            <a:stretch>
              <a:fillRect/>
            </a:stretch>
          </a:blipFill>
        </p:spPr>
        <p:style>
          <a:lnRef idx="2">
            <a:schemeClr val="lt1">
              <a:alpha val="0"/>
              <a:hueOff val="0"/>
              <a:satOff val="0"/>
              <a:lumOff val="0"/>
              <a:alphaOff val="0"/>
            </a:schemeClr>
          </a:lnRef>
          <a:fillRef idx="1">
            <a:scrgbClr r="0" g="0" b="0"/>
          </a:fillRef>
          <a:effectRef idx="0">
            <a:schemeClr val="accent5">
              <a:hueOff val="0"/>
              <a:satOff val="0"/>
              <a:lumOff val="0"/>
              <a:alphaOff val="0"/>
            </a:schemeClr>
          </a:effectRef>
          <a:fontRef idx="minor">
            <a:schemeClr val="lt1"/>
          </a:fontRef>
        </p:style>
        <p:txBody>
          <a:bodyPr/>
          <a:lstStyle/>
          <a:p>
            <a:endParaRPr lang="es-ES"/>
          </a:p>
        </p:txBody>
      </p:sp>
      <p:sp>
        <p:nvSpPr>
          <p:cNvPr id="7" name="CuadroTexto 6">
            <a:extLst>
              <a:ext uri="{FF2B5EF4-FFF2-40B4-BE49-F238E27FC236}">
                <a16:creationId xmlns:a16="http://schemas.microsoft.com/office/drawing/2014/main" id="{F5B56BFF-17BA-2F59-A019-64CB59E02C1B}"/>
              </a:ext>
            </a:extLst>
          </p:cNvPr>
          <p:cNvSpPr txBox="1"/>
          <p:nvPr/>
        </p:nvSpPr>
        <p:spPr>
          <a:xfrm>
            <a:off x="1254560" y="299750"/>
            <a:ext cx="2005677" cy="307777"/>
          </a:xfrm>
          <a:prstGeom prst="rect">
            <a:avLst/>
          </a:prstGeom>
          <a:noFill/>
        </p:spPr>
        <p:txBody>
          <a:bodyPr wrap="none" rtlCol="0">
            <a:spAutoFit/>
          </a:bodyPr>
          <a:lstStyle/>
          <a:p>
            <a:r>
              <a:rPr lang="es-ES" sz="1400" dirty="0">
                <a:solidFill>
                  <a:schemeClr val="bg1">
                    <a:lumMod val="50000"/>
                  </a:schemeClr>
                </a:solidFill>
              </a:rPr>
              <a:t>Desarrollo de Software</a:t>
            </a:r>
          </a:p>
        </p:txBody>
      </p:sp>
      <p:pic>
        <p:nvPicPr>
          <p:cNvPr id="8" name="Picture 4" descr="pandas (software) - Wikipedia">
            <a:extLst>
              <a:ext uri="{FF2B5EF4-FFF2-40B4-BE49-F238E27FC236}">
                <a16:creationId xmlns:a16="http://schemas.microsoft.com/office/drawing/2014/main" id="{E21409D0-361C-A457-C72A-E21A8F1E469E}"/>
              </a:ext>
            </a:extLst>
          </p:cNvPr>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33275" y="2921212"/>
            <a:ext cx="3005681" cy="1217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62313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CB157AB1-4527-5064-B83C-5E22D37A2CE2}"/>
              </a:ext>
            </a:extLst>
          </p:cNvPr>
          <p:cNvSpPr txBox="1">
            <a:spLocks/>
          </p:cNvSpPr>
          <p:nvPr/>
        </p:nvSpPr>
        <p:spPr>
          <a:xfrm>
            <a:off x="1936750" y="578190"/>
            <a:ext cx="5945059" cy="632994"/>
          </a:xfrm>
          <a:prstGeom prst="rect">
            <a:avLst/>
          </a:prstGeom>
        </p:spPr>
        <p:txBody>
          <a:bodyPr vert="horz" wrap="square" lIns="0" tIns="90805" rIns="0" bIns="0" rtlCol="0">
            <a:spAutoFit/>
          </a:bodyPr>
          <a:lstStyle>
            <a:lvl1pPr>
              <a:defRPr sz="4500" b="0" i="0">
                <a:solidFill>
                  <a:srgbClr val="0056B3"/>
                </a:solidFill>
                <a:latin typeface="Arial MT"/>
                <a:ea typeface="+mj-ea"/>
                <a:cs typeface="Arial MT"/>
              </a:defRPr>
            </a:lvl1pPr>
          </a:lstStyle>
          <a:p>
            <a:pPr marL="1641475" marR="5080" indent="-1629410">
              <a:lnSpc>
                <a:spcPts val="4880"/>
              </a:lnSpc>
              <a:spcBef>
                <a:spcPts val="715"/>
              </a:spcBef>
            </a:pPr>
            <a:r>
              <a:rPr lang="es-ES" sz="2400" spc="260" dirty="0"/>
              <a:t>V. </a:t>
            </a:r>
            <a:r>
              <a:rPr lang="es-ES" sz="2000" spc="260" dirty="0"/>
              <a:t>Flujo de Trabajo. Preprocesamiento</a:t>
            </a:r>
            <a:endParaRPr lang="es-ES" sz="2400" spc="260" dirty="0"/>
          </a:p>
        </p:txBody>
      </p:sp>
      <p:pic>
        <p:nvPicPr>
          <p:cNvPr id="6" name="Imagen 5" descr="Forma&#10;&#10;El contenido generado por IA puede ser incorrecto.">
            <a:extLst>
              <a:ext uri="{FF2B5EF4-FFF2-40B4-BE49-F238E27FC236}">
                <a16:creationId xmlns:a16="http://schemas.microsoft.com/office/drawing/2014/main" id="{1337DF4B-B827-5C56-2BB0-69B71FFDCD10}"/>
              </a:ext>
            </a:extLst>
          </p:cNvPr>
          <p:cNvPicPr>
            <a:picLocks noChangeAspect="1"/>
          </p:cNvPicPr>
          <p:nvPr/>
        </p:nvPicPr>
        <p:blipFill>
          <a:blip r:embed="rId3">
            <a:clrChange>
              <a:clrFrom>
                <a:srgbClr val="F2F2F2"/>
              </a:clrFrom>
              <a:clrTo>
                <a:srgbClr val="F2F2F2">
                  <a:alpha val="0"/>
                </a:srgbClr>
              </a:clrTo>
            </a:clrChange>
            <a:extLst>
              <a:ext uri="{28A0092B-C50C-407E-A947-70E740481C1C}">
                <a14:useLocalDpi xmlns:a14="http://schemas.microsoft.com/office/drawing/2010/main" val="0"/>
              </a:ext>
            </a:extLst>
          </a:blip>
          <a:stretch>
            <a:fillRect/>
          </a:stretch>
        </p:blipFill>
        <p:spPr>
          <a:xfrm>
            <a:off x="5191125" y="2231600"/>
            <a:ext cx="3621582" cy="3583055"/>
          </a:xfrm>
          <a:prstGeom prst="rect">
            <a:avLst/>
          </a:prstGeom>
        </p:spPr>
      </p:pic>
      <p:pic>
        <p:nvPicPr>
          <p:cNvPr id="1028" name="Picture 4">
            <a:extLst>
              <a:ext uri="{FF2B5EF4-FFF2-40B4-BE49-F238E27FC236}">
                <a16:creationId xmlns:a16="http://schemas.microsoft.com/office/drawing/2014/main" id="{8107B29C-D369-0E1B-EDD6-41F28DA9E9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550" y="3331354"/>
            <a:ext cx="4192567" cy="2142412"/>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descr="Forma&#10;&#10;El contenido generado por IA puede ser incorrecto.">
            <a:extLst>
              <a:ext uri="{FF2B5EF4-FFF2-40B4-BE49-F238E27FC236}">
                <a16:creationId xmlns:a16="http://schemas.microsoft.com/office/drawing/2014/main" id="{0668B5E7-75B4-9CAD-9C24-9BD20D490F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50538" y="1583441"/>
            <a:ext cx="1546161" cy="521380"/>
          </a:xfrm>
          <a:prstGeom prst="rect">
            <a:avLst/>
          </a:prstGeom>
        </p:spPr>
      </p:pic>
      <p:sp>
        <p:nvSpPr>
          <p:cNvPr id="9" name="CuadroTexto 8">
            <a:extLst>
              <a:ext uri="{FF2B5EF4-FFF2-40B4-BE49-F238E27FC236}">
                <a16:creationId xmlns:a16="http://schemas.microsoft.com/office/drawing/2014/main" id="{39C4A22C-A17D-DABD-3B8E-AC44AC18EBD3}"/>
              </a:ext>
            </a:extLst>
          </p:cNvPr>
          <p:cNvSpPr txBox="1"/>
          <p:nvPr/>
        </p:nvSpPr>
        <p:spPr>
          <a:xfrm>
            <a:off x="488950" y="1583441"/>
            <a:ext cx="2491388" cy="400110"/>
          </a:xfrm>
          <a:prstGeom prst="rect">
            <a:avLst/>
          </a:prstGeom>
          <a:noFill/>
        </p:spPr>
        <p:txBody>
          <a:bodyPr wrap="none" rtlCol="0">
            <a:spAutoFit/>
          </a:bodyPr>
          <a:lstStyle/>
          <a:p>
            <a:r>
              <a:rPr lang="es-ES" sz="2000" dirty="0"/>
              <a:t>Escalado (Z-score): </a:t>
            </a:r>
          </a:p>
        </p:txBody>
      </p:sp>
      <p:sp>
        <p:nvSpPr>
          <p:cNvPr id="10" name="CuadroTexto 9">
            <a:extLst>
              <a:ext uri="{FF2B5EF4-FFF2-40B4-BE49-F238E27FC236}">
                <a16:creationId xmlns:a16="http://schemas.microsoft.com/office/drawing/2014/main" id="{D34D5D3B-18DC-9CE0-8915-E5272F2A8A4A}"/>
              </a:ext>
            </a:extLst>
          </p:cNvPr>
          <p:cNvSpPr txBox="1"/>
          <p:nvPr/>
        </p:nvSpPr>
        <p:spPr>
          <a:xfrm>
            <a:off x="466608" y="2644084"/>
            <a:ext cx="2480166" cy="400110"/>
          </a:xfrm>
          <a:prstGeom prst="rect">
            <a:avLst/>
          </a:prstGeom>
          <a:noFill/>
        </p:spPr>
        <p:txBody>
          <a:bodyPr wrap="none" rtlCol="0">
            <a:spAutoFit/>
          </a:bodyPr>
          <a:lstStyle/>
          <a:p>
            <a:r>
              <a:rPr lang="es-ES" sz="2000" dirty="0"/>
              <a:t>Ventana Deslizante:</a:t>
            </a:r>
          </a:p>
        </p:txBody>
      </p:sp>
      <p:pic>
        <p:nvPicPr>
          <p:cNvPr id="13" name="Imagen 12">
            <a:extLst>
              <a:ext uri="{FF2B5EF4-FFF2-40B4-BE49-F238E27FC236}">
                <a16:creationId xmlns:a16="http://schemas.microsoft.com/office/drawing/2014/main" id="{11ED875B-863A-A2B5-ABC4-09368F77DF7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86017" y="6048087"/>
            <a:ext cx="3886200" cy="290015"/>
          </a:xfrm>
          <a:prstGeom prst="rect">
            <a:avLst/>
          </a:prstGeom>
        </p:spPr>
      </p:pic>
      <p:sp>
        <p:nvSpPr>
          <p:cNvPr id="3" name="Marcador de número de diapositiva 2">
            <a:extLst>
              <a:ext uri="{FF2B5EF4-FFF2-40B4-BE49-F238E27FC236}">
                <a16:creationId xmlns:a16="http://schemas.microsoft.com/office/drawing/2014/main" id="{B93FF3D4-D6B8-2460-B9A4-D11E1D8912EB}"/>
              </a:ext>
            </a:extLst>
          </p:cNvPr>
          <p:cNvSpPr>
            <a:spLocks noGrp="1"/>
          </p:cNvSpPr>
          <p:nvPr>
            <p:ph type="sldNum" sz="quarter" idx="7"/>
          </p:nvPr>
        </p:nvSpPr>
        <p:spPr/>
        <p:txBody>
          <a:bodyPr/>
          <a:lstStyle/>
          <a:p>
            <a:pPr marL="111760">
              <a:lnSpc>
                <a:spcPts val="1120"/>
              </a:lnSpc>
            </a:pPr>
            <a:fld id="{81D60167-4931-47E6-BA6A-407CBD079E47}" type="slidenum">
              <a:rPr lang="es-ES" spc="-50" smtClean="0"/>
              <a:t>23</a:t>
            </a:fld>
            <a:endParaRPr lang="es-ES" spc="-50" dirty="0"/>
          </a:p>
        </p:txBody>
      </p:sp>
      <p:sp>
        <p:nvSpPr>
          <p:cNvPr id="5" name="Marcador de número de diapositiva 2">
            <a:extLst>
              <a:ext uri="{FF2B5EF4-FFF2-40B4-BE49-F238E27FC236}">
                <a16:creationId xmlns:a16="http://schemas.microsoft.com/office/drawing/2014/main" id="{06237FAC-A9EA-F99C-8810-E2B5CB68EA07}"/>
              </a:ext>
            </a:extLst>
          </p:cNvPr>
          <p:cNvSpPr txBox="1">
            <a:spLocks/>
          </p:cNvSpPr>
          <p:nvPr/>
        </p:nvSpPr>
        <p:spPr>
          <a:xfrm>
            <a:off x="8845943" y="6538031"/>
            <a:ext cx="1019383" cy="141064"/>
          </a:xfrm>
          <a:prstGeom prst="rect">
            <a:avLst/>
          </a:prstGeom>
        </p:spPr>
        <p:txBody>
          <a:bodyPr wrap="square" lIns="0" tIns="0" rIns="0" bIns="0">
            <a:spAutoFit/>
          </a:bodyPr>
          <a:lstStyle>
            <a:defPPr>
              <a:defRPr kern="0"/>
            </a:defPPr>
            <a:lvl1pPr>
              <a:defRPr sz="1050" b="0" i="0">
                <a:solidFill>
                  <a:schemeClr val="bg1"/>
                </a:solidFill>
                <a:latin typeface="Arial MT"/>
                <a:cs typeface="Arial MT"/>
              </a:defRPr>
            </a:lvl1pPr>
          </a:lstStyle>
          <a:p>
            <a:pPr marL="111760">
              <a:lnSpc>
                <a:spcPts val="1120"/>
              </a:lnSpc>
            </a:pPr>
            <a:fld id="{81D60167-4931-47E6-BA6A-407CBD079E47}" type="slidenum">
              <a:rPr lang="es-ES" spc="-50" smtClean="0">
                <a:solidFill>
                  <a:schemeClr val="tx1"/>
                </a:solidFill>
              </a:rPr>
              <a:pPr marL="111760">
                <a:lnSpc>
                  <a:spcPts val="1120"/>
                </a:lnSpc>
              </a:pPr>
              <a:t>23</a:t>
            </a:fld>
            <a:endParaRPr lang="es-ES" spc="-50" dirty="0">
              <a:solidFill>
                <a:schemeClr val="tx1"/>
              </a:solidFill>
            </a:endParaRPr>
          </a:p>
        </p:txBody>
      </p:sp>
      <p:sp>
        <p:nvSpPr>
          <p:cNvPr id="11" name="Rectángulo 10" descr="Cmd (terminal) con relleno sólido">
            <a:extLst>
              <a:ext uri="{FF2B5EF4-FFF2-40B4-BE49-F238E27FC236}">
                <a16:creationId xmlns:a16="http://schemas.microsoft.com/office/drawing/2014/main" id="{8F9B556C-19F8-B461-F48A-5F05C8830EC2}"/>
              </a:ext>
            </a:extLst>
          </p:cNvPr>
          <p:cNvSpPr/>
          <p:nvPr/>
        </p:nvSpPr>
        <p:spPr>
          <a:xfrm>
            <a:off x="641350" y="257597"/>
            <a:ext cx="428453" cy="428453"/>
          </a:xfrm>
          <a:prstGeom prst="rect">
            <a:avLst/>
          </a:prstGeom>
          <a:blipFill>
            <a:blip r:embed="rId7">
              <a:extLst>
                <a:ext uri="{96DAC541-7B7A-43D3-8B79-37D633B846F1}">
                  <asvg:svgBlip xmlns:asvg="http://schemas.microsoft.com/office/drawing/2016/SVG/main" r:embed="rId8"/>
                </a:ext>
              </a:extLst>
            </a:blip>
            <a:srcRect/>
            <a:stretch>
              <a:fillRect/>
            </a:stretch>
          </a:blipFill>
        </p:spPr>
        <p:style>
          <a:lnRef idx="2">
            <a:schemeClr val="lt1">
              <a:alpha val="0"/>
              <a:hueOff val="0"/>
              <a:satOff val="0"/>
              <a:lumOff val="0"/>
              <a:alphaOff val="0"/>
            </a:schemeClr>
          </a:lnRef>
          <a:fillRef idx="1">
            <a:scrgbClr r="0" g="0" b="0"/>
          </a:fillRef>
          <a:effectRef idx="0">
            <a:schemeClr val="accent5">
              <a:hueOff val="0"/>
              <a:satOff val="0"/>
              <a:lumOff val="0"/>
              <a:alphaOff val="0"/>
            </a:schemeClr>
          </a:effectRef>
          <a:fontRef idx="minor">
            <a:schemeClr val="lt1"/>
          </a:fontRef>
        </p:style>
        <p:txBody>
          <a:bodyPr/>
          <a:lstStyle/>
          <a:p>
            <a:endParaRPr lang="es-ES"/>
          </a:p>
        </p:txBody>
      </p:sp>
      <p:sp>
        <p:nvSpPr>
          <p:cNvPr id="12" name="CuadroTexto 11">
            <a:extLst>
              <a:ext uri="{FF2B5EF4-FFF2-40B4-BE49-F238E27FC236}">
                <a16:creationId xmlns:a16="http://schemas.microsoft.com/office/drawing/2014/main" id="{36C62414-0EA0-5761-0C7B-326FB5F92DB0}"/>
              </a:ext>
            </a:extLst>
          </p:cNvPr>
          <p:cNvSpPr txBox="1"/>
          <p:nvPr/>
        </p:nvSpPr>
        <p:spPr>
          <a:xfrm>
            <a:off x="1254560" y="299750"/>
            <a:ext cx="2005677" cy="307777"/>
          </a:xfrm>
          <a:prstGeom prst="rect">
            <a:avLst/>
          </a:prstGeom>
          <a:noFill/>
        </p:spPr>
        <p:txBody>
          <a:bodyPr wrap="none" rtlCol="0">
            <a:spAutoFit/>
          </a:bodyPr>
          <a:lstStyle/>
          <a:p>
            <a:r>
              <a:rPr lang="es-ES" sz="1400" dirty="0">
                <a:solidFill>
                  <a:schemeClr val="bg1">
                    <a:lumMod val="50000"/>
                  </a:schemeClr>
                </a:solidFill>
              </a:rPr>
              <a:t>Desarrollo de Software</a:t>
            </a:r>
          </a:p>
        </p:txBody>
      </p:sp>
    </p:spTree>
    <p:extLst>
      <p:ext uri="{BB962C8B-B14F-4D97-AF65-F5344CB8AC3E}">
        <p14:creationId xmlns:p14="http://schemas.microsoft.com/office/powerpoint/2010/main" val="37168133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81CC8-1FAE-08E2-F788-A768DC95EBC9}"/>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5C820A15-950E-C6C8-9527-198A2A871A90}"/>
              </a:ext>
            </a:extLst>
          </p:cNvPr>
          <p:cNvSpPr txBox="1">
            <a:spLocks noGrp="1"/>
          </p:cNvSpPr>
          <p:nvPr>
            <p:ph type="title"/>
          </p:nvPr>
        </p:nvSpPr>
        <p:spPr>
          <a:xfrm>
            <a:off x="2403098" y="617741"/>
            <a:ext cx="5401300" cy="453329"/>
          </a:xfrm>
          <a:prstGeom prst="rect">
            <a:avLst/>
          </a:prstGeom>
        </p:spPr>
        <p:txBody>
          <a:bodyPr vert="horz" wrap="square" lIns="0" tIns="83185" rIns="0" bIns="0" rtlCol="0">
            <a:spAutoFit/>
          </a:bodyPr>
          <a:lstStyle/>
          <a:p>
            <a:pPr marL="2313305" marR="5080" indent="-2301240">
              <a:spcBef>
                <a:spcPts val="655"/>
              </a:spcBef>
            </a:pPr>
            <a:r>
              <a:rPr lang="es-ES" sz="2400" spc="185" dirty="0"/>
              <a:t>VI. Resultados. Visualización</a:t>
            </a:r>
            <a:endParaRPr sz="2400" spc="185" dirty="0"/>
          </a:p>
        </p:txBody>
      </p:sp>
      <p:pic>
        <p:nvPicPr>
          <p:cNvPr id="9" name="Imagen 8" descr="Gráfico&#10;&#10;El contenido generado por IA puede ser incorrecto.">
            <a:extLst>
              <a:ext uri="{FF2B5EF4-FFF2-40B4-BE49-F238E27FC236}">
                <a16:creationId xmlns:a16="http://schemas.microsoft.com/office/drawing/2014/main" id="{763614C0-1845-5510-2F7F-ED5290E58D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4350" y="1199652"/>
            <a:ext cx="5638800" cy="2230271"/>
          </a:xfrm>
          <a:prstGeom prst="rect">
            <a:avLst/>
          </a:prstGeom>
        </p:spPr>
      </p:pic>
      <p:sp>
        <p:nvSpPr>
          <p:cNvPr id="3" name="Marcador de número de diapositiva 2">
            <a:extLst>
              <a:ext uri="{FF2B5EF4-FFF2-40B4-BE49-F238E27FC236}">
                <a16:creationId xmlns:a16="http://schemas.microsoft.com/office/drawing/2014/main" id="{FF2BA56A-3234-2A38-B1C4-D215E773E01F}"/>
              </a:ext>
            </a:extLst>
          </p:cNvPr>
          <p:cNvSpPr>
            <a:spLocks noGrp="1"/>
          </p:cNvSpPr>
          <p:nvPr>
            <p:ph type="sldNum" sz="quarter" idx="7"/>
          </p:nvPr>
        </p:nvSpPr>
        <p:spPr/>
        <p:txBody>
          <a:bodyPr/>
          <a:lstStyle/>
          <a:p>
            <a:pPr marL="111760">
              <a:lnSpc>
                <a:spcPts val="1120"/>
              </a:lnSpc>
            </a:pPr>
            <a:fld id="{81D60167-4931-47E6-BA6A-407CBD079E47}" type="slidenum">
              <a:rPr lang="es-ES" spc="-50" smtClean="0"/>
              <a:t>24</a:t>
            </a:fld>
            <a:endParaRPr lang="es-ES" spc="-50" dirty="0"/>
          </a:p>
        </p:txBody>
      </p:sp>
      <p:sp>
        <p:nvSpPr>
          <p:cNvPr id="4" name="Marcador de número de diapositiva 2">
            <a:extLst>
              <a:ext uri="{FF2B5EF4-FFF2-40B4-BE49-F238E27FC236}">
                <a16:creationId xmlns:a16="http://schemas.microsoft.com/office/drawing/2014/main" id="{1906D0D8-8037-9F7D-1000-F502AA0D963A}"/>
              </a:ext>
            </a:extLst>
          </p:cNvPr>
          <p:cNvSpPr txBox="1">
            <a:spLocks/>
          </p:cNvSpPr>
          <p:nvPr/>
        </p:nvSpPr>
        <p:spPr>
          <a:xfrm>
            <a:off x="8845943" y="6538031"/>
            <a:ext cx="1019383" cy="141064"/>
          </a:xfrm>
          <a:prstGeom prst="rect">
            <a:avLst/>
          </a:prstGeom>
        </p:spPr>
        <p:txBody>
          <a:bodyPr wrap="square" lIns="0" tIns="0" rIns="0" bIns="0">
            <a:spAutoFit/>
          </a:bodyPr>
          <a:lstStyle>
            <a:defPPr>
              <a:defRPr kern="0"/>
            </a:defPPr>
            <a:lvl1pPr>
              <a:defRPr sz="1050" b="0" i="0">
                <a:solidFill>
                  <a:schemeClr val="bg1"/>
                </a:solidFill>
                <a:latin typeface="Arial MT"/>
                <a:cs typeface="Arial MT"/>
              </a:defRPr>
            </a:lvl1pPr>
          </a:lstStyle>
          <a:p>
            <a:pPr marL="111760">
              <a:lnSpc>
                <a:spcPts val="1120"/>
              </a:lnSpc>
            </a:pPr>
            <a:fld id="{81D60167-4931-47E6-BA6A-407CBD079E47}" type="slidenum">
              <a:rPr lang="es-ES" spc="-50" smtClean="0">
                <a:solidFill>
                  <a:schemeClr val="tx1"/>
                </a:solidFill>
              </a:rPr>
              <a:pPr marL="111760">
                <a:lnSpc>
                  <a:spcPts val="1120"/>
                </a:lnSpc>
              </a:pPr>
              <a:t>24</a:t>
            </a:fld>
            <a:endParaRPr lang="es-ES" spc="-50" dirty="0">
              <a:solidFill>
                <a:schemeClr val="tx1"/>
              </a:solidFill>
            </a:endParaRPr>
          </a:p>
        </p:txBody>
      </p:sp>
      <p:sp>
        <p:nvSpPr>
          <p:cNvPr id="6" name="CuadroTexto 5">
            <a:extLst>
              <a:ext uri="{FF2B5EF4-FFF2-40B4-BE49-F238E27FC236}">
                <a16:creationId xmlns:a16="http://schemas.microsoft.com/office/drawing/2014/main" id="{452D2998-A4AF-F819-769B-38934A4506F8}"/>
              </a:ext>
            </a:extLst>
          </p:cNvPr>
          <p:cNvSpPr txBox="1"/>
          <p:nvPr/>
        </p:nvSpPr>
        <p:spPr>
          <a:xfrm>
            <a:off x="4347158" y="3418169"/>
            <a:ext cx="4935070" cy="338554"/>
          </a:xfrm>
          <a:prstGeom prst="rect">
            <a:avLst/>
          </a:prstGeom>
          <a:noFill/>
        </p:spPr>
        <p:txBody>
          <a:bodyPr wrap="square">
            <a:spAutoFit/>
          </a:bodyPr>
          <a:lstStyle/>
          <a:p>
            <a:r>
              <a:rPr lang="es-ES" sz="1400" spc="229" dirty="0"/>
              <a:t>Patrón </a:t>
            </a:r>
            <a:r>
              <a:rPr lang="es-ES" sz="1600" spc="229" dirty="0"/>
              <a:t>Puntual</a:t>
            </a:r>
            <a:endParaRPr lang="es-ES" sz="1400" dirty="0"/>
          </a:p>
        </p:txBody>
      </p:sp>
      <p:pic>
        <p:nvPicPr>
          <p:cNvPr id="8" name="Imagen 7" descr="Interfaz de usuario gráfica, Gráfico&#10;&#10;El contenido generado por IA puede ser incorrecto.">
            <a:extLst>
              <a:ext uri="{FF2B5EF4-FFF2-40B4-BE49-F238E27FC236}">
                <a16:creationId xmlns:a16="http://schemas.microsoft.com/office/drawing/2014/main" id="{4C2C8EFC-4650-A1DE-020F-F0C55AC59C2D}"/>
              </a:ext>
            </a:extLst>
          </p:cNvPr>
          <p:cNvPicPr>
            <a:picLocks noChangeAspect="1"/>
          </p:cNvPicPr>
          <p:nvPr/>
        </p:nvPicPr>
        <p:blipFill>
          <a:blip r:embed="rId4">
            <a:extLst>
              <a:ext uri="{28A0092B-C50C-407E-A947-70E740481C1C}">
                <a14:useLocalDpi xmlns:a14="http://schemas.microsoft.com/office/drawing/2010/main" val="0"/>
              </a:ext>
            </a:extLst>
          </a:blip>
          <a:srcRect l="30225" t="-7221" r="26929" b="-244"/>
          <a:stretch>
            <a:fillRect/>
          </a:stretch>
        </p:blipFill>
        <p:spPr>
          <a:xfrm>
            <a:off x="5006993" y="3541454"/>
            <a:ext cx="2720957" cy="2699136"/>
          </a:xfrm>
          <a:prstGeom prst="rect">
            <a:avLst/>
          </a:prstGeom>
        </p:spPr>
      </p:pic>
      <p:pic>
        <p:nvPicPr>
          <p:cNvPr id="10" name="Imagen 9" descr="Gráfico, Gráfico de líneas&#10;&#10;El contenido generado por IA puede ser incorrecto.">
            <a:extLst>
              <a:ext uri="{FF2B5EF4-FFF2-40B4-BE49-F238E27FC236}">
                <a16:creationId xmlns:a16="http://schemas.microsoft.com/office/drawing/2014/main" id="{DBD1469C-82CA-4A05-69B9-FBF7A2FA8975}"/>
              </a:ext>
            </a:extLst>
          </p:cNvPr>
          <p:cNvPicPr>
            <a:picLocks noChangeAspect="1"/>
          </p:cNvPicPr>
          <p:nvPr/>
        </p:nvPicPr>
        <p:blipFill>
          <a:blip r:embed="rId5">
            <a:extLst>
              <a:ext uri="{28A0092B-C50C-407E-A947-70E740481C1C}">
                <a14:useLocalDpi xmlns:a14="http://schemas.microsoft.com/office/drawing/2010/main" val="0"/>
              </a:ext>
            </a:extLst>
          </a:blip>
          <a:srcRect r="69368"/>
          <a:stretch>
            <a:fillRect/>
          </a:stretch>
        </p:blipFill>
        <p:spPr>
          <a:xfrm>
            <a:off x="1174750" y="3760662"/>
            <a:ext cx="1959197" cy="2529696"/>
          </a:xfrm>
          <a:prstGeom prst="rect">
            <a:avLst/>
          </a:prstGeom>
        </p:spPr>
      </p:pic>
      <p:sp>
        <p:nvSpPr>
          <p:cNvPr id="12" name="Elipse 11">
            <a:extLst>
              <a:ext uri="{FF2B5EF4-FFF2-40B4-BE49-F238E27FC236}">
                <a16:creationId xmlns:a16="http://schemas.microsoft.com/office/drawing/2014/main" id="{876376B3-674A-A987-D6D3-5DE9C0D5FADE}"/>
              </a:ext>
            </a:extLst>
          </p:cNvPr>
          <p:cNvSpPr/>
          <p:nvPr/>
        </p:nvSpPr>
        <p:spPr>
          <a:xfrm>
            <a:off x="1936750" y="4533900"/>
            <a:ext cx="838200" cy="15240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Elipse 12">
            <a:extLst>
              <a:ext uri="{FF2B5EF4-FFF2-40B4-BE49-F238E27FC236}">
                <a16:creationId xmlns:a16="http://schemas.microsoft.com/office/drawing/2014/main" id="{1BD3E39E-B2E4-957F-4CF0-A9E719011DB5}"/>
              </a:ext>
            </a:extLst>
          </p:cNvPr>
          <p:cNvSpPr/>
          <p:nvPr/>
        </p:nvSpPr>
        <p:spPr>
          <a:xfrm>
            <a:off x="6253171" y="4341372"/>
            <a:ext cx="228600" cy="2286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CuadroTexto 19">
            <a:extLst>
              <a:ext uri="{FF2B5EF4-FFF2-40B4-BE49-F238E27FC236}">
                <a16:creationId xmlns:a16="http://schemas.microsoft.com/office/drawing/2014/main" id="{753FE6CD-1EF8-031E-AC94-8527E65803BA}"/>
              </a:ext>
            </a:extLst>
          </p:cNvPr>
          <p:cNvSpPr txBox="1"/>
          <p:nvPr/>
        </p:nvSpPr>
        <p:spPr>
          <a:xfrm>
            <a:off x="307415" y="3406414"/>
            <a:ext cx="4935070" cy="307777"/>
          </a:xfrm>
          <a:prstGeom prst="rect">
            <a:avLst/>
          </a:prstGeom>
          <a:noFill/>
        </p:spPr>
        <p:txBody>
          <a:bodyPr wrap="square">
            <a:spAutoFit/>
          </a:bodyPr>
          <a:lstStyle/>
          <a:p>
            <a:r>
              <a:rPr lang="es-ES" sz="1400" spc="229" dirty="0"/>
              <a:t>Patrón de Ráfaga</a:t>
            </a:r>
            <a:endParaRPr lang="es-ES" sz="1400" dirty="0"/>
          </a:p>
        </p:txBody>
      </p:sp>
      <p:cxnSp>
        <p:nvCxnSpPr>
          <p:cNvPr id="16" name="Conector angular 15">
            <a:extLst>
              <a:ext uri="{FF2B5EF4-FFF2-40B4-BE49-F238E27FC236}">
                <a16:creationId xmlns:a16="http://schemas.microsoft.com/office/drawing/2014/main" id="{2D7C905A-4920-479D-5A2A-8D28EBD6D555}"/>
              </a:ext>
            </a:extLst>
          </p:cNvPr>
          <p:cNvCxnSpPr>
            <a:cxnSpLocks/>
          </p:cNvCxnSpPr>
          <p:nvPr/>
        </p:nvCxnSpPr>
        <p:spPr>
          <a:xfrm>
            <a:off x="4647021" y="4353129"/>
            <a:ext cx="1175929" cy="485571"/>
          </a:xfrm>
          <a:prstGeom prst="bentConnector3">
            <a:avLst>
              <a:gd name="adj1" fmla="val 50000"/>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887DA6F8-4E55-72F9-7BCE-C98B61D2D657}"/>
              </a:ext>
            </a:extLst>
          </p:cNvPr>
          <p:cNvSpPr txBox="1"/>
          <p:nvPr/>
        </p:nvSpPr>
        <p:spPr>
          <a:xfrm>
            <a:off x="3473423" y="4020970"/>
            <a:ext cx="1533569" cy="923330"/>
          </a:xfrm>
          <a:prstGeom prst="rect">
            <a:avLst/>
          </a:prstGeom>
          <a:noFill/>
        </p:spPr>
        <p:txBody>
          <a:bodyPr wrap="square" rtlCol="0">
            <a:spAutoFit/>
          </a:bodyPr>
          <a:lstStyle/>
          <a:p>
            <a:r>
              <a:rPr lang="es-ES" dirty="0">
                <a:solidFill>
                  <a:srgbClr val="00B050"/>
                </a:solidFill>
              </a:rPr>
              <a:t>Imputación por SAITS</a:t>
            </a:r>
          </a:p>
          <a:p>
            <a:r>
              <a:rPr lang="es-ES" dirty="0">
                <a:solidFill>
                  <a:srgbClr val="00B050"/>
                </a:solidFill>
              </a:rPr>
              <a:t>  (línea ···)</a:t>
            </a:r>
          </a:p>
        </p:txBody>
      </p:sp>
      <p:cxnSp>
        <p:nvCxnSpPr>
          <p:cNvPr id="23" name="Conector angular 22">
            <a:extLst>
              <a:ext uri="{FF2B5EF4-FFF2-40B4-BE49-F238E27FC236}">
                <a16:creationId xmlns:a16="http://schemas.microsoft.com/office/drawing/2014/main" id="{242E4D63-7182-2885-AC30-0006D59F93FF}"/>
              </a:ext>
            </a:extLst>
          </p:cNvPr>
          <p:cNvCxnSpPr>
            <a:cxnSpLocks/>
          </p:cNvCxnSpPr>
          <p:nvPr/>
        </p:nvCxnSpPr>
        <p:spPr>
          <a:xfrm rot="10800000" flipV="1">
            <a:off x="2565401" y="4341372"/>
            <a:ext cx="987647" cy="549650"/>
          </a:xfrm>
          <a:prstGeom prst="bentConnector3">
            <a:avLst>
              <a:gd name="adj1" fmla="val 70728"/>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ector angular 33">
            <a:extLst>
              <a:ext uri="{FF2B5EF4-FFF2-40B4-BE49-F238E27FC236}">
                <a16:creationId xmlns:a16="http://schemas.microsoft.com/office/drawing/2014/main" id="{905E2C21-9231-8907-CDF7-6C5E881E792F}"/>
              </a:ext>
            </a:extLst>
          </p:cNvPr>
          <p:cNvCxnSpPr>
            <a:cxnSpLocks/>
          </p:cNvCxnSpPr>
          <p:nvPr/>
        </p:nvCxnSpPr>
        <p:spPr>
          <a:xfrm rot="5400000">
            <a:off x="1346115" y="3145059"/>
            <a:ext cx="2590798" cy="186881"/>
          </a:xfrm>
          <a:prstGeom prst="bentConnector3">
            <a:avLst/>
          </a:prstGeom>
          <a:ln w="1587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Conector angular 35">
            <a:extLst>
              <a:ext uri="{FF2B5EF4-FFF2-40B4-BE49-F238E27FC236}">
                <a16:creationId xmlns:a16="http://schemas.microsoft.com/office/drawing/2014/main" id="{3F3985CF-6809-84D4-527A-469FBFB2983E}"/>
              </a:ext>
            </a:extLst>
          </p:cNvPr>
          <p:cNvCxnSpPr>
            <a:cxnSpLocks/>
          </p:cNvCxnSpPr>
          <p:nvPr/>
        </p:nvCxnSpPr>
        <p:spPr>
          <a:xfrm rot="16200000" flipH="1">
            <a:off x="4278866" y="2363128"/>
            <a:ext cx="2394330" cy="1554276"/>
          </a:xfrm>
          <a:prstGeom prst="bentConnector3">
            <a:avLst>
              <a:gd name="adj1" fmla="val 50000"/>
            </a:avLst>
          </a:prstGeom>
          <a:ln w="15875">
            <a:solidFill>
              <a:schemeClr val="accent6">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Rectángulo 48" descr="Bar chart">
            <a:extLst>
              <a:ext uri="{FF2B5EF4-FFF2-40B4-BE49-F238E27FC236}">
                <a16:creationId xmlns:a16="http://schemas.microsoft.com/office/drawing/2014/main" id="{9FD0F2F0-6842-844C-BA80-E04D57628C54}"/>
              </a:ext>
            </a:extLst>
          </p:cNvPr>
          <p:cNvSpPr/>
          <p:nvPr/>
        </p:nvSpPr>
        <p:spPr>
          <a:xfrm>
            <a:off x="641350" y="243720"/>
            <a:ext cx="428453" cy="428453"/>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s-ES"/>
          </a:p>
        </p:txBody>
      </p:sp>
      <p:sp>
        <p:nvSpPr>
          <p:cNvPr id="50" name="CuadroTexto 49">
            <a:extLst>
              <a:ext uri="{FF2B5EF4-FFF2-40B4-BE49-F238E27FC236}">
                <a16:creationId xmlns:a16="http://schemas.microsoft.com/office/drawing/2014/main" id="{9BB4431D-4ABD-F684-FBFC-03D51B56CD32}"/>
              </a:ext>
            </a:extLst>
          </p:cNvPr>
          <p:cNvSpPr txBox="1"/>
          <p:nvPr/>
        </p:nvSpPr>
        <p:spPr>
          <a:xfrm>
            <a:off x="1191260" y="311486"/>
            <a:ext cx="2047355" cy="307777"/>
          </a:xfrm>
          <a:prstGeom prst="rect">
            <a:avLst/>
          </a:prstGeom>
          <a:noFill/>
        </p:spPr>
        <p:txBody>
          <a:bodyPr wrap="none" rtlCol="0">
            <a:spAutoFit/>
          </a:bodyPr>
          <a:lstStyle/>
          <a:p>
            <a:r>
              <a:rPr lang="es-ES" sz="1400" dirty="0">
                <a:solidFill>
                  <a:schemeClr val="bg1">
                    <a:lumMod val="50000"/>
                  </a:schemeClr>
                </a:solidFill>
              </a:rPr>
              <a:t>Resultados y Discusión</a:t>
            </a:r>
          </a:p>
        </p:txBody>
      </p:sp>
      <p:sp>
        <p:nvSpPr>
          <p:cNvPr id="2" name="CuadroTexto 1">
            <a:extLst>
              <a:ext uri="{FF2B5EF4-FFF2-40B4-BE49-F238E27FC236}">
                <a16:creationId xmlns:a16="http://schemas.microsoft.com/office/drawing/2014/main" id="{869A4BEB-B671-C0A7-69C9-59C700DC3A9B}"/>
              </a:ext>
            </a:extLst>
          </p:cNvPr>
          <p:cNvSpPr txBox="1"/>
          <p:nvPr/>
        </p:nvSpPr>
        <p:spPr>
          <a:xfrm>
            <a:off x="3130658" y="867905"/>
            <a:ext cx="184731" cy="369332"/>
          </a:xfrm>
          <a:prstGeom prst="rect">
            <a:avLst/>
          </a:prstGeom>
          <a:noFill/>
        </p:spPr>
        <p:txBody>
          <a:bodyPr wrap="none" rtlCol="0">
            <a:spAutoFit/>
          </a:bodyPr>
          <a:lstStyle/>
          <a:p>
            <a:endParaRPr lang="es-ES" dirty="0"/>
          </a:p>
        </p:txBody>
      </p:sp>
    </p:spTree>
    <p:extLst>
      <p:ext uri="{BB962C8B-B14F-4D97-AF65-F5344CB8AC3E}">
        <p14:creationId xmlns:p14="http://schemas.microsoft.com/office/powerpoint/2010/main" val="2519895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306097" y="465374"/>
            <a:ext cx="8305800" cy="575285"/>
          </a:xfrm>
          <a:prstGeom prst="rect">
            <a:avLst/>
          </a:prstGeom>
        </p:spPr>
        <p:txBody>
          <a:bodyPr vert="horz" wrap="square" lIns="0" tIns="14604" rIns="0" bIns="0" rtlCol="0">
            <a:spAutoFit/>
          </a:bodyPr>
          <a:lstStyle/>
          <a:p>
            <a:pPr marL="681990">
              <a:lnSpc>
                <a:spcPts val="5140"/>
              </a:lnSpc>
              <a:spcBef>
                <a:spcPts val="114"/>
              </a:spcBef>
            </a:pPr>
            <a:r>
              <a:rPr lang="es-ES" sz="2000" spc="165" dirty="0"/>
              <a:t>VI. Resultados y Discusión</a:t>
            </a:r>
            <a:endParaRPr lang="es-ES" sz="2000" spc="200" dirty="0"/>
          </a:p>
        </p:txBody>
      </p:sp>
      <p:pic>
        <p:nvPicPr>
          <p:cNvPr id="11" name="Imagen 10" descr="Tabla&#10;&#10;El contenido generado por IA puede ser incorrecto.">
            <a:extLst>
              <a:ext uri="{FF2B5EF4-FFF2-40B4-BE49-F238E27FC236}">
                <a16:creationId xmlns:a16="http://schemas.microsoft.com/office/drawing/2014/main" id="{B36C31B0-041D-605A-F741-2A283B1010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1928" y="1213690"/>
            <a:ext cx="6493322" cy="2016625"/>
          </a:xfrm>
          <a:prstGeom prst="rect">
            <a:avLst/>
          </a:prstGeom>
        </p:spPr>
      </p:pic>
      <p:sp>
        <p:nvSpPr>
          <p:cNvPr id="2" name="Marcador de número de diapositiva 1">
            <a:extLst>
              <a:ext uri="{FF2B5EF4-FFF2-40B4-BE49-F238E27FC236}">
                <a16:creationId xmlns:a16="http://schemas.microsoft.com/office/drawing/2014/main" id="{C25336D3-0300-6F5D-BECB-B81AA1452D0B}"/>
              </a:ext>
            </a:extLst>
          </p:cNvPr>
          <p:cNvSpPr>
            <a:spLocks noGrp="1"/>
          </p:cNvSpPr>
          <p:nvPr>
            <p:ph type="sldNum" sz="quarter" idx="7"/>
          </p:nvPr>
        </p:nvSpPr>
        <p:spPr/>
        <p:txBody>
          <a:bodyPr/>
          <a:lstStyle/>
          <a:p>
            <a:pPr marL="111760">
              <a:lnSpc>
                <a:spcPts val="1120"/>
              </a:lnSpc>
            </a:pPr>
            <a:fld id="{81D60167-4931-47E6-BA6A-407CBD079E47}" type="slidenum">
              <a:rPr lang="es-ES" spc="-50" smtClean="0"/>
              <a:t>25</a:t>
            </a:fld>
            <a:endParaRPr lang="es-ES" spc="-50" dirty="0"/>
          </a:p>
        </p:txBody>
      </p:sp>
      <p:sp>
        <p:nvSpPr>
          <p:cNvPr id="4" name="Marcador de número de diapositiva 2">
            <a:extLst>
              <a:ext uri="{FF2B5EF4-FFF2-40B4-BE49-F238E27FC236}">
                <a16:creationId xmlns:a16="http://schemas.microsoft.com/office/drawing/2014/main" id="{BF51BF95-BC41-6B76-5858-5A3F21483DEE}"/>
              </a:ext>
            </a:extLst>
          </p:cNvPr>
          <p:cNvSpPr txBox="1">
            <a:spLocks/>
          </p:cNvSpPr>
          <p:nvPr/>
        </p:nvSpPr>
        <p:spPr>
          <a:xfrm>
            <a:off x="8845943" y="6538031"/>
            <a:ext cx="1019383" cy="141064"/>
          </a:xfrm>
          <a:prstGeom prst="rect">
            <a:avLst/>
          </a:prstGeom>
        </p:spPr>
        <p:txBody>
          <a:bodyPr wrap="square" lIns="0" tIns="0" rIns="0" bIns="0">
            <a:spAutoFit/>
          </a:bodyPr>
          <a:lstStyle>
            <a:defPPr>
              <a:defRPr kern="0"/>
            </a:defPPr>
            <a:lvl1pPr>
              <a:defRPr sz="1050" b="0" i="0">
                <a:solidFill>
                  <a:schemeClr val="bg1"/>
                </a:solidFill>
                <a:latin typeface="Arial MT"/>
                <a:cs typeface="Arial MT"/>
              </a:defRPr>
            </a:lvl1pPr>
          </a:lstStyle>
          <a:p>
            <a:pPr marL="111760">
              <a:lnSpc>
                <a:spcPts val="1120"/>
              </a:lnSpc>
            </a:pPr>
            <a:fld id="{81D60167-4931-47E6-BA6A-407CBD079E47}" type="slidenum">
              <a:rPr lang="es-ES" spc="-50" smtClean="0">
                <a:solidFill>
                  <a:schemeClr val="tx1"/>
                </a:solidFill>
              </a:rPr>
              <a:pPr marL="111760">
                <a:lnSpc>
                  <a:spcPts val="1120"/>
                </a:lnSpc>
              </a:pPr>
              <a:t>25</a:t>
            </a:fld>
            <a:endParaRPr lang="es-ES" spc="-50" dirty="0">
              <a:solidFill>
                <a:schemeClr val="tx1"/>
              </a:solidFill>
            </a:endParaRPr>
          </a:p>
        </p:txBody>
      </p:sp>
      <p:pic>
        <p:nvPicPr>
          <p:cNvPr id="5" name="Imagen 4" descr="Gráfico, Gráfico de barras&#10;&#10;El contenido generado por IA puede ser incorrecto.">
            <a:extLst>
              <a:ext uri="{FF2B5EF4-FFF2-40B4-BE49-F238E27FC236}">
                <a16:creationId xmlns:a16="http://schemas.microsoft.com/office/drawing/2014/main" id="{0852454C-61E7-3B52-BF1B-037B88F7F2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0057" y="2929465"/>
            <a:ext cx="3950315" cy="3626824"/>
          </a:xfrm>
          <a:prstGeom prst="rect">
            <a:avLst/>
          </a:prstGeom>
        </p:spPr>
      </p:pic>
      <p:sp>
        <p:nvSpPr>
          <p:cNvPr id="8" name="object 4">
            <a:extLst>
              <a:ext uri="{FF2B5EF4-FFF2-40B4-BE49-F238E27FC236}">
                <a16:creationId xmlns:a16="http://schemas.microsoft.com/office/drawing/2014/main" id="{F76E25B4-27DA-17B7-935C-A05FEDCFA7B1}"/>
              </a:ext>
            </a:extLst>
          </p:cNvPr>
          <p:cNvSpPr txBox="1"/>
          <p:nvPr/>
        </p:nvSpPr>
        <p:spPr>
          <a:xfrm>
            <a:off x="1174751" y="3807756"/>
            <a:ext cx="3581399" cy="1510413"/>
          </a:xfrm>
          <a:prstGeom prst="rect">
            <a:avLst/>
          </a:prstGeom>
        </p:spPr>
        <p:txBody>
          <a:bodyPr vert="horz" wrap="square" lIns="0" tIns="12065" rIns="0" bIns="0" rtlCol="0">
            <a:spAutoFit/>
          </a:bodyPr>
          <a:lstStyle/>
          <a:p>
            <a:pPr marL="298450" marR="617855" indent="-285750">
              <a:lnSpc>
                <a:spcPct val="122200"/>
              </a:lnSpc>
              <a:spcBef>
                <a:spcPts val="95"/>
              </a:spcBef>
              <a:buFont typeface="Arial" panose="020B0604020202020204" pitchFamily="34" charset="0"/>
              <a:buChar char="•"/>
            </a:pPr>
            <a:r>
              <a:rPr lang="es-ES" sz="1600" spc="55" dirty="0">
                <a:solidFill>
                  <a:srgbClr val="333333"/>
                </a:solidFill>
                <a:latin typeface="Microsoft Sans Serif"/>
                <a:cs typeface="Microsoft Sans Serif"/>
              </a:rPr>
              <a:t>Interpolación</a:t>
            </a:r>
            <a:r>
              <a:rPr lang="es-ES" sz="1600" spc="-15" dirty="0">
                <a:solidFill>
                  <a:srgbClr val="333333"/>
                </a:solidFill>
                <a:latin typeface="Microsoft Sans Serif"/>
                <a:cs typeface="Microsoft Sans Serif"/>
              </a:rPr>
              <a:t> </a:t>
            </a:r>
            <a:r>
              <a:rPr lang="es-ES" sz="1600" dirty="0">
                <a:solidFill>
                  <a:srgbClr val="333333"/>
                </a:solidFill>
                <a:latin typeface="Microsoft Sans Serif"/>
                <a:cs typeface="Microsoft Sans Serif"/>
              </a:rPr>
              <a:t>Lineal:</a:t>
            </a:r>
            <a:r>
              <a:rPr lang="es-ES" sz="1600" spc="-10" dirty="0">
                <a:solidFill>
                  <a:srgbClr val="333333"/>
                </a:solidFill>
                <a:latin typeface="Microsoft Sans Serif"/>
                <a:cs typeface="Microsoft Sans Serif"/>
              </a:rPr>
              <a:t> </a:t>
            </a:r>
            <a:r>
              <a:rPr lang="es-ES" sz="1600" dirty="0">
                <a:solidFill>
                  <a:srgbClr val="333333"/>
                </a:solidFill>
                <a:latin typeface="Microsoft Sans Serif"/>
                <a:cs typeface="Microsoft Sans Serif"/>
              </a:rPr>
              <a:t>Mejor</a:t>
            </a:r>
            <a:r>
              <a:rPr lang="es-ES" sz="1600" spc="-10" dirty="0">
                <a:solidFill>
                  <a:srgbClr val="333333"/>
                </a:solidFill>
                <a:latin typeface="Microsoft Sans Serif"/>
                <a:cs typeface="Microsoft Sans Serif"/>
              </a:rPr>
              <a:t> </a:t>
            </a:r>
            <a:r>
              <a:rPr lang="es-ES" sz="1600" spc="110" dirty="0">
                <a:solidFill>
                  <a:srgbClr val="333333"/>
                </a:solidFill>
                <a:latin typeface="Microsoft Sans Serif"/>
                <a:cs typeface="Microsoft Sans Serif"/>
              </a:rPr>
              <a:t>método</a:t>
            </a:r>
            <a:r>
              <a:rPr lang="es-ES" sz="1600" spc="-10" dirty="0">
                <a:solidFill>
                  <a:srgbClr val="333333"/>
                </a:solidFill>
                <a:latin typeface="Microsoft Sans Serif"/>
                <a:cs typeface="Microsoft Sans Serif"/>
              </a:rPr>
              <a:t> básico.</a:t>
            </a:r>
            <a:endParaRPr lang="es-ES" sz="1600" dirty="0">
              <a:solidFill>
                <a:srgbClr val="333333"/>
              </a:solidFill>
              <a:latin typeface="Microsoft Sans Serif"/>
              <a:cs typeface="Microsoft Sans Serif"/>
            </a:endParaRPr>
          </a:p>
          <a:p>
            <a:pPr marL="298450" marR="617855" indent="-285750">
              <a:lnSpc>
                <a:spcPct val="122200"/>
              </a:lnSpc>
              <a:spcBef>
                <a:spcPts val="95"/>
              </a:spcBef>
              <a:buFont typeface="Arial" panose="020B0604020202020204" pitchFamily="34" charset="0"/>
              <a:buChar char="•"/>
            </a:pPr>
            <a:r>
              <a:rPr sz="1600" dirty="0">
                <a:solidFill>
                  <a:srgbClr val="333333"/>
                </a:solidFill>
                <a:latin typeface="Microsoft Sans Serif"/>
                <a:cs typeface="Microsoft Sans Serif"/>
              </a:rPr>
              <a:t>DL</a:t>
            </a:r>
            <a:r>
              <a:rPr sz="1600" spc="-40" dirty="0">
                <a:solidFill>
                  <a:srgbClr val="333333"/>
                </a:solidFill>
                <a:latin typeface="Microsoft Sans Serif"/>
                <a:cs typeface="Microsoft Sans Serif"/>
              </a:rPr>
              <a:t> </a:t>
            </a:r>
            <a:r>
              <a:rPr sz="1600" spc="-30" dirty="0">
                <a:solidFill>
                  <a:srgbClr val="333333"/>
                </a:solidFill>
                <a:latin typeface="Microsoft Sans Serif"/>
                <a:cs typeface="Microsoft Sans Serif"/>
              </a:rPr>
              <a:t>(SAITS/Transformer)</a:t>
            </a:r>
            <a:r>
              <a:rPr sz="1600" spc="-35" dirty="0">
                <a:solidFill>
                  <a:srgbClr val="333333"/>
                </a:solidFill>
                <a:latin typeface="Microsoft Sans Serif"/>
                <a:cs typeface="Microsoft Sans Serif"/>
              </a:rPr>
              <a:t> </a:t>
            </a:r>
            <a:r>
              <a:rPr sz="1600" spc="55" dirty="0">
                <a:solidFill>
                  <a:srgbClr val="333333"/>
                </a:solidFill>
                <a:latin typeface="Microsoft Sans Serif"/>
                <a:cs typeface="Microsoft Sans Serif"/>
              </a:rPr>
              <a:t>claramente</a:t>
            </a:r>
            <a:r>
              <a:rPr sz="1600" spc="-35" dirty="0">
                <a:solidFill>
                  <a:srgbClr val="333333"/>
                </a:solidFill>
                <a:latin typeface="Microsoft Sans Serif"/>
                <a:cs typeface="Microsoft Sans Serif"/>
              </a:rPr>
              <a:t> </a:t>
            </a:r>
            <a:r>
              <a:rPr sz="1600" spc="-10" dirty="0">
                <a:solidFill>
                  <a:srgbClr val="333333"/>
                </a:solidFill>
                <a:latin typeface="Microsoft Sans Serif"/>
                <a:cs typeface="Microsoft Sans Serif"/>
              </a:rPr>
              <a:t>superior.</a:t>
            </a:r>
            <a:endParaRPr lang="es-ES" sz="1600" spc="-10" dirty="0">
              <a:solidFill>
                <a:srgbClr val="333333"/>
              </a:solidFill>
              <a:latin typeface="Microsoft Sans Serif"/>
              <a:cs typeface="Microsoft Sans Serif"/>
            </a:endParaRPr>
          </a:p>
          <a:p>
            <a:pPr marL="298450" marR="617855" indent="-285750">
              <a:lnSpc>
                <a:spcPct val="122200"/>
              </a:lnSpc>
              <a:spcBef>
                <a:spcPts val="95"/>
              </a:spcBef>
              <a:buFont typeface="Arial" panose="020B0604020202020204" pitchFamily="34" charset="0"/>
              <a:buChar char="•"/>
            </a:pPr>
            <a:r>
              <a:rPr sz="1600" spc="-145" dirty="0">
                <a:solidFill>
                  <a:srgbClr val="333333"/>
                </a:solidFill>
                <a:latin typeface="Microsoft Sans Serif"/>
                <a:cs typeface="Microsoft Sans Serif"/>
              </a:rPr>
              <a:t>SAITS</a:t>
            </a:r>
            <a:r>
              <a:rPr sz="1600" spc="-5" dirty="0">
                <a:solidFill>
                  <a:srgbClr val="333333"/>
                </a:solidFill>
                <a:latin typeface="Microsoft Sans Serif"/>
                <a:cs typeface="Microsoft Sans Serif"/>
              </a:rPr>
              <a:t> </a:t>
            </a:r>
            <a:r>
              <a:rPr sz="1600" dirty="0">
                <a:solidFill>
                  <a:srgbClr val="333333"/>
                </a:solidFill>
                <a:latin typeface="Microsoft Sans Serif"/>
                <a:cs typeface="Microsoft Sans Serif"/>
              </a:rPr>
              <a:t>lidera</a:t>
            </a:r>
            <a:r>
              <a:rPr sz="1600" spc="-5" dirty="0">
                <a:solidFill>
                  <a:srgbClr val="333333"/>
                </a:solidFill>
                <a:latin typeface="Microsoft Sans Serif"/>
                <a:cs typeface="Microsoft Sans Serif"/>
              </a:rPr>
              <a:t> </a:t>
            </a:r>
            <a:r>
              <a:rPr sz="1600" spc="60" dirty="0">
                <a:solidFill>
                  <a:srgbClr val="333333"/>
                </a:solidFill>
                <a:latin typeface="Microsoft Sans Serif"/>
                <a:cs typeface="Microsoft Sans Serif"/>
              </a:rPr>
              <a:t>en</a:t>
            </a:r>
            <a:r>
              <a:rPr sz="1600" spc="-5" dirty="0">
                <a:solidFill>
                  <a:srgbClr val="333333"/>
                </a:solidFill>
                <a:latin typeface="Microsoft Sans Serif"/>
                <a:cs typeface="Microsoft Sans Serif"/>
              </a:rPr>
              <a:t> </a:t>
            </a:r>
            <a:r>
              <a:rPr sz="1600" spc="-10" dirty="0">
                <a:solidFill>
                  <a:srgbClr val="333333"/>
                </a:solidFill>
                <a:latin typeface="Microsoft Sans Serif"/>
                <a:cs typeface="Microsoft Sans Serif"/>
              </a:rPr>
              <a:t>precisión.</a:t>
            </a:r>
            <a:endParaRPr sz="1600" dirty="0">
              <a:latin typeface="Microsoft Sans Serif"/>
              <a:cs typeface="Microsoft Sans Serif"/>
            </a:endParaRPr>
          </a:p>
        </p:txBody>
      </p:sp>
      <p:sp>
        <p:nvSpPr>
          <p:cNvPr id="9" name="Rectángulo 8" descr="Bar chart">
            <a:extLst>
              <a:ext uri="{FF2B5EF4-FFF2-40B4-BE49-F238E27FC236}">
                <a16:creationId xmlns:a16="http://schemas.microsoft.com/office/drawing/2014/main" id="{DA51236A-B18F-C4A2-77C5-F80FD5E24429}"/>
              </a:ext>
            </a:extLst>
          </p:cNvPr>
          <p:cNvSpPr/>
          <p:nvPr/>
        </p:nvSpPr>
        <p:spPr>
          <a:xfrm>
            <a:off x="641350" y="243720"/>
            <a:ext cx="428453" cy="428453"/>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s-ES"/>
          </a:p>
        </p:txBody>
      </p:sp>
      <p:sp>
        <p:nvSpPr>
          <p:cNvPr id="10" name="CuadroTexto 9">
            <a:extLst>
              <a:ext uri="{FF2B5EF4-FFF2-40B4-BE49-F238E27FC236}">
                <a16:creationId xmlns:a16="http://schemas.microsoft.com/office/drawing/2014/main" id="{DE08C748-D7CB-8004-DFF0-E3CA4C561CFD}"/>
              </a:ext>
            </a:extLst>
          </p:cNvPr>
          <p:cNvSpPr txBox="1"/>
          <p:nvPr/>
        </p:nvSpPr>
        <p:spPr>
          <a:xfrm>
            <a:off x="1191260" y="311486"/>
            <a:ext cx="2047355" cy="307777"/>
          </a:xfrm>
          <a:prstGeom prst="rect">
            <a:avLst/>
          </a:prstGeom>
          <a:noFill/>
        </p:spPr>
        <p:txBody>
          <a:bodyPr wrap="none" rtlCol="0">
            <a:spAutoFit/>
          </a:bodyPr>
          <a:lstStyle/>
          <a:p>
            <a:r>
              <a:rPr lang="es-ES" sz="1400" dirty="0">
                <a:solidFill>
                  <a:schemeClr val="bg1">
                    <a:lumMod val="50000"/>
                  </a:schemeClr>
                </a:solidFill>
              </a:rPr>
              <a:t>Resultados y Discusión</a:t>
            </a:r>
          </a:p>
        </p:txBody>
      </p:sp>
      <p:sp>
        <p:nvSpPr>
          <p:cNvPr id="6" name="CuadroTexto 5">
            <a:extLst>
              <a:ext uri="{FF2B5EF4-FFF2-40B4-BE49-F238E27FC236}">
                <a16:creationId xmlns:a16="http://schemas.microsoft.com/office/drawing/2014/main" id="{37EBDE54-C540-97BC-E9C9-D8AF16A9C31E}"/>
              </a:ext>
            </a:extLst>
          </p:cNvPr>
          <p:cNvSpPr txBox="1"/>
          <p:nvPr/>
        </p:nvSpPr>
        <p:spPr>
          <a:xfrm>
            <a:off x="1631095" y="2999486"/>
            <a:ext cx="3546782" cy="253916"/>
          </a:xfrm>
          <a:prstGeom prst="rect">
            <a:avLst/>
          </a:prstGeom>
          <a:noFill/>
        </p:spPr>
        <p:txBody>
          <a:bodyPr wrap="square" rtlCol="0">
            <a:spAutoFit/>
          </a:bodyPr>
          <a:lstStyle/>
          <a:p>
            <a:r>
              <a:rPr lang="es-ES" sz="1050" dirty="0"/>
              <a:t>Resto de tablas en la memoria (Capítulo 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o description has been provided for this image">
            <a:extLst>
              <a:ext uri="{FF2B5EF4-FFF2-40B4-BE49-F238E27FC236}">
                <a16:creationId xmlns:a16="http://schemas.microsoft.com/office/drawing/2014/main" id="{A37B7645-AB7C-B7D1-F3F4-BEF109AF82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174" y="2536058"/>
            <a:ext cx="3858569" cy="262411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o description has been provided for this image">
            <a:extLst>
              <a:ext uri="{FF2B5EF4-FFF2-40B4-BE49-F238E27FC236}">
                <a16:creationId xmlns:a16="http://schemas.microsoft.com/office/drawing/2014/main" id="{AAB807CB-52EF-5C75-4E60-7F87C51E86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7559" y="2536058"/>
            <a:ext cx="3858570" cy="2624111"/>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3">
            <a:extLst>
              <a:ext uri="{FF2B5EF4-FFF2-40B4-BE49-F238E27FC236}">
                <a16:creationId xmlns:a16="http://schemas.microsoft.com/office/drawing/2014/main" id="{A93B20C6-36BF-2B15-8986-C223B91933EA}"/>
              </a:ext>
            </a:extLst>
          </p:cNvPr>
          <p:cNvSpPr txBox="1">
            <a:spLocks noGrp="1"/>
          </p:cNvSpPr>
          <p:nvPr>
            <p:ph type="title"/>
          </p:nvPr>
        </p:nvSpPr>
        <p:spPr>
          <a:xfrm>
            <a:off x="231402" y="761023"/>
            <a:ext cx="7677737" cy="322523"/>
          </a:xfrm>
          <a:prstGeom prst="rect">
            <a:avLst/>
          </a:prstGeom>
        </p:spPr>
        <p:txBody>
          <a:bodyPr vert="horz" wrap="square" lIns="0" tIns="14604" rIns="0" bIns="0" rtlCol="0">
            <a:spAutoFit/>
          </a:bodyPr>
          <a:lstStyle/>
          <a:p>
            <a:pPr marL="681990" algn="ctr">
              <a:spcBef>
                <a:spcPts val="114"/>
              </a:spcBef>
            </a:pPr>
            <a:r>
              <a:rPr lang="es-ES" sz="2000" spc="165" dirty="0"/>
              <a:t>VI. Resultados y Discusión</a:t>
            </a:r>
            <a:endParaRPr sz="2000" spc="-1125" dirty="0"/>
          </a:p>
        </p:txBody>
      </p:sp>
      <p:sp>
        <p:nvSpPr>
          <p:cNvPr id="5" name="CuadroTexto 4">
            <a:extLst>
              <a:ext uri="{FF2B5EF4-FFF2-40B4-BE49-F238E27FC236}">
                <a16:creationId xmlns:a16="http://schemas.microsoft.com/office/drawing/2014/main" id="{6BF4F89A-98C5-DB81-4503-7ACD974BE2F2}"/>
              </a:ext>
            </a:extLst>
          </p:cNvPr>
          <p:cNvSpPr txBox="1"/>
          <p:nvPr/>
        </p:nvSpPr>
        <p:spPr>
          <a:xfrm>
            <a:off x="1320800" y="1676400"/>
            <a:ext cx="2749471" cy="369332"/>
          </a:xfrm>
          <a:prstGeom prst="rect">
            <a:avLst/>
          </a:prstGeom>
          <a:noFill/>
        </p:spPr>
        <p:txBody>
          <a:bodyPr wrap="none" rtlCol="0">
            <a:spAutoFit/>
          </a:bodyPr>
          <a:lstStyle/>
          <a:p>
            <a:r>
              <a:rPr lang="es-ES" b="1" dirty="0"/>
              <a:t>Patrón Puntual (‘Point’)</a:t>
            </a:r>
          </a:p>
        </p:txBody>
      </p:sp>
      <p:sp>
        <p:nvSpPr>
          <p:cNvPr id="6" name="CuadroTexto 5">
            <a:extLst>
              <a:ext uri="{FF2B5EF4-FFF2-40B4-BE49-F238E27FC236}">
                <a16:creationId xmlns:a16="http://schemas.microsoft.com/office/drawing/2014/main" id="{4B94A49B-9A83-9F83-0F5C-1FBBC8E5BF26}"/>
              </a:ext>
            </a:extLst>
          </p:cNvPr>
          <p:cNvSpPr txBox="1"/>
          <p:nvPr/>
        </p:nvSpPr>
        <p:spPr>
          <a:xfrm>
            <a:off x="5636056" y="1676400"/>
            <a:ext cx="2929007" cy="369332"/>
          </a:xfrm>
          <a:prstGeom prst="rect">
            <a:avLst/>
          </a:prstGeom>
          <a:noFill/>
        </p:spPr>
        <p:txBody>
          <a:bodyPr wrap="none" rtlCol="0">
            <a:spAutoFit/>
          </a:bodyPr>
          <a:lstStyle/>
          <a:p>
            <a:r>
              <a:rPr lang="es-ES" b="1" dirty="0"/>
              <a:t>Patrón Ráfaga (‘Subseq’)</a:t>
            </a:r>
          </a:p>
        </p:txBody>
      </p:sp>
      <p:sp>
        <p:nvSpPr>
          <p:cNvPr id="10" name="CuadroTexto 9">
            <a:extLst>
              <a:ext uri="{FF2B5EF4-FFF2-40B4-BE49-F238E27FC236}">
                <a16:creationId xmlns:a16="http://schemas.microsoft.com/office/drawing/2014/main" id="{18F05A94-08C5-CA48-735F-AE509F7B3CAD}"/>
              </a:ext>
            </a:extLst>
          </p:cNvPr>
          <p:cNvSpPr txBox="1"/>
          <p:nvPr/>
        </p:nvSpPr>
        <p:spPr>
          <a:xfrm>
            <a:off x="504424" y="5495667"/>
            <a:ext cx="4128053" cy="369332"/>
          </a:xfrm>
          <a:prstGeom prst="rect">
            <a:avLst/>
          </a:prstGeom>
          <a:noFill/>
        </p:spPr>
        <p:txBody>
          <a:bodyPr wrap="none" rtlCol="0">
            <a:spAutoFit/>
          </a:bodyPr>
          <a:lstStyle/>
          <a:p>
            <a:pPr marL="285750" indent="-285750">
              <a:buFont typeface="Arial" panose="020B0604020202020204" pitchFamily="34" charset="0"/>
              <a:buChar char="•"/>
            </a:pPr>
            <a:r>
              <a:rPr lang="es-ES" dirty="0"/>
              <a:t>10% ausencia es el de menor error.</a:t>
            </a:r>
          </a:p>
        </p:txBody>
      </p:sp>
      <p:sp>
        <p:nvSpPr>
          <p:cNvPr id="13" name="CuadroTexto 12">
            <a:extLst>
              <a:ext uri="{FF2B5EF4-FFF2-40B4-BE49-F238E27FC236}">
                <a16:creationId xmlns:a16="http://schemas.microsoft.com/office/drawing/2014/main" id="{34438814-56AF-9CBB-CDC3-57601A0A66ED}"/>
              </a:ext>
            </a:extLst>
          </p:cNvPr>
          <p:cNvSpPr txBox="1"/>
          <p:nvPr/>
        </p:nvSpPr>
        <p:spPr>
          <a:xfrm>
            <a:off x="5636056" y="5495667"/>
            <a:ext cx="3184929" cy="923330"/>
          </a:xfrm>
          <a:prstGeom prst="rect">
            <a:avLst/>
          </a:prstGeom>
          <a:noFill/>
        </p:spPr>
        <p:txBody>
          <a:bodyPr wrap="square" rtlCol="0">
            <a:spAutoFit/>
          </a:bodyPr>
          <a:lstStyle/>
          <a:p>
            <a:pPr marL="285750" indent="-285750">
              <a:buFont typeface="Arial" panose="020B0604020202020204" pitchFamily="34" charset="0"/>
              <a:buChar char="•"/>
            </a:pPr>
            <a:r>
              <a:rPr lang="es-ES" dirty="0"/>
              <a:t>Ligero incremento del error respecto al mismo % puntual.</a:t>
            </a:r>
          </a:p>
        </p:txBody>
      </p:sp>
      <p:sp>
        <p:nvSpPr>
          <p:cNvPr id="3" name="Marcador de número de diapositiva 2">
            <a:extLst>
              <a:ext uri="{FF2B5EF4-FFF2-40B4-BE49-F238E27FC236}">
                <a16:creationId xmlns:a16="http://schemas.microsoft.com/office/drawing/2014/main" id="{8EB62D6F-8310-39FA-8B3B-B1493AD73E53}"/>
              </a:ext>
            </a:extLst>
          </p:cNvPr>
          <p:cNvSpPr>
            <a:spLocks noGrp="1"/>
          </p:cNvSpPr>
          <p:nvPr>
            <p:ph type="sldNum" sz="quarter" idx="7"/>
          </p:nvPr>
        </p:nvSpPr>
        <p:spPr/>
        <p:txBody>
          <a:bodyPr/>
          <a:lstStyle/>
          <a:p>
            <a:pPr marL="111760">
              <a:lnSpc>
                <a:spcPts val="1120"/>
              </a:lnSpc>
            </a:pPr>
            <a:fld id="{81D60167-4931-47E6-BA6A-407CBD079E47}" type="slidenum">
              <a:rPr lang="es-ES" spc="-50" smtClean="0"/>
              <a:t>26</a:t>
            </a:fld>
            <a:endParaRPr lang="es-ES" spc="-50" dirty="0"/>
          </a:p>
        </p:txBody>
      </p:sp>
      <p:sp>
        <p:nvSpPr>
          <p:cNvPr id="7" name="Marcador de número de diapositiva 2">
            <a:extLst>
              <a:ext uri="{FF2B5EF4-FFF2-40B4-BE49-F238E27FC236}">
                <a16:creationId xmlns:a16="http://schemas.microsoft.com/office/drawing/2014/main" id="{0B9C4096-770A-08AB-4F62-11BBAF6B95C5}"/>
              </a:ext>
            </a:extLst>
          </p:cNvPr>
          <p:cNvSpPr txBox="1">
            <a:spLocks/>
          </p:cNvSpPr>
          <p:nvPr/>
        </p:nvSpPr>
        <p:spPr>
          <a:xfrm>
            <a:off x="8845943" y="6538031"/>
            <a:ext cx="1019383" cy="141064"/>
          </a:xfrm>
          <a:prstGeom prst="rect">
            <a:avLst/>
          </a:prstGeom>
        </p:spPr>
        <p:txBody>
          <a:bodyPr wrap="square" lIns="0" tIns="0" rIns="0" bIns="0">
            <a:spAutoFit/>
          </a:bodyPr>
          <a:lstStyle>
            <a:defPPr>
              <a:defRPr kern="0"/>
            </a:defPPr>
            <a:lvl1pPr>
              <a:defRPr sz="1050" b="0" i="0">
                <a:solidFill>
                  <a:schemeClr val="bg1"/>
                </a:solidFill>
                <a:latin typeface="Arial MT"/>
                <a:cs typeface="Arial MT"/>
              </a:defRPr>
            </a:lvl1pPr>
          </a:lstStyle>
          <a:p>
            <a:pPr marL="111760">
              <a:lnSpc>
                <a:spcPts val="1120"/>
              </a:lnSpc>
            </a:pPr>
            <a:fld id="{81D60167-4931-47E6-BA6A-407CBD079E47}" type="slidenum">
              <a:rPr lang="es-ES" spc="-50" smtClean="0">
                <a:solidFill>
                  <a:schemeClr val="tx1"/>
                </a:solidFill>
              </a:rPr>
              <a:pPr marL="111760">
                <a:lnSpc>
                  <a:spcPts val="1120"/>
                </a:lnSpc>
              </a:pPr>
              <a:t>26</a:t>
            </a:fld>
            <a:endParaRPr lang="es-ES" spc="-50" dirty="0">
              <a:solidFill>
                <a:schemeClr val="tx1"/>
              </a:solidFill>
            </a:endParaRPr>
          </a:p>
        </p:txBody>
      </p:sp>
      <p:sp>
        <p:nvSpPr>
          <p:cNvPr id="9" name="Rectángulo 8" descr="Bar chart">
            <a:extLst>
              <a:ext uri="{FF2B5EF4-FFF2-40B4-BE49-F238E27FC236}">
                <a16:creationId xmlns:a16="http://schemas.microsoft.com/office/drawing/2014/main" id="{0F7B5C7E-B909-C4F7-7251-8681621D9358}"/>
              </a:ext>
            </a:extLst>
          </p:cNvPr>
          <p:cNvSpPr/>
          <p:nvPr/>
        </p:nvSpPr>
        <p:spPr>
          <a:xfrm>
            <a:off x="641350" y="243720"/>
            <a:ext cx="428453" cy="428453"/>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s-ES"/>
          </a:p>
        </p:txBody>
      </p:sp>
      <p:sp>
        <p:nvSpPr>
          <p:cNvPr id="12" name="CuadroTexto 11">
            <a:extLst>
              <a:ext uri="{FF2B5EF4-FFF2-40B4-BE49-F238E27FC236}">
                <a16:creationId xmlns:a16="http://schemas.microsoft.com/office/drawing/2014/main" id="{9DCAE02B-99AF-29E9-BA8D-8CA94C7BE90E}"/>
              </a:ext>
            </a:extLst>
          </p:cNvPr>
          <p:cNvSpPr txBox="1"/>
          <p:nvPr/>
        </p:nvSpPr>
        <p:spPr>
          <a:xfrm>
            <a:off x="1191260" y="311486"/>
            <a:ext cx="2047355" cy="307777"/>
          </a:xfrm>
          <a:prstGeom prst="rect">
            <a:avLst/>
          </a:prstGeom>
          <a:noFill/>
        </p:spPr>
        <p:txBody>
          <a:bodyPr wrap="none" rtlCol="0">
            <a:spAutoFit/>
          </a:bodyPr>
          <a:lstStyle/>
          <a:p>
            <a:r>
              <a:rPr lang="es-ES" sz="1400" dirty="0">
                <a:solidFill>
                  <a:schemeClr val="bg1">
                    <a:lumMod val="50000"/>
                  </a:schemeClr>
                </a:solidFill>
              </a:rPr>
              <a:t>Resultados y Discusión</a:t>
            </a:r>
          </a:p>
        </p:txBody>
      </p:sp>
    </p:spTree>
    <p:extLst>
      <p:ext uri="{BB962C8B-B14F-4D97-AF65-F5344CB8AC3E}">
        <p14:creationId xmlns:p14="http://schemas.microsoft.com/office/powerpoint/2010/main" val="36177729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313A1-A90A-4D19-1CBE-CA05367BDE24}"/>
            </a:ext>
          </a:extLst>
        </p:cNvPr>
        <p:cNvGrpSpPr/>
        <p:nvPr/>
      </p:nvGrpSpPr>
      <p:grpSpPr>
        <a:xfrm>
          <a:off x="0" y="0"/>
          <a:ext cx="0" cy="0"/>
          <a:chOff x="0" y="0"/>
          <a:chExt cx="0" cy="0"/>
        </a:xfrm>
      </p:grpSpPr>
      <p:pic>
        <p:nvPicPr>
          <p:cNvPr id="7" name="object 4">
            <a:extLst>
              <a:ext uri="{FF2B5EF4-FFF2-40B4-BE49-F238E27FC236}">
                <a16:creationId xmlns:a16="http://schemas.microsoft.com/office/drawing/2014/main" id="{A50049BC-7323-D22F-E595-A1603A748B8F}"/>
              </a:ext>
            </a:extLst>
          </p:cNvPr>
          <p:cNvPicPr/>
          <p:nvPr/>
        </p:nvPicPr>
        <p:blipFill>
          <a:blip r:embed="rId3" cstate="print"/>
          <a:stretch>
            <a:fillRect/>
          </a:stretch>
        </p:blipFill>
        <p:spPr>
          <a:xfrm>
            <a:off x="4287116" y="1512829"/>
            <a:ext cx="4845050" cy="4343400"/>
          </a:xfrm>
          <a:prstGeom prst="rect">
            <a:avLst/>
          </a:prstGeom>
        </p:spPr>
      </p:pic>
      <p:sp>
        <p:nvSpPr>
          <p:cNvPr id="12" name="CuadroTexto 11">
            <a:extLst>
              <a:ext uri="{FF2B5EF4-FFF2-40B4-BE49-F238E27FC236}">
                <a16:creationId xmlns:a16="http://schemas.microsoft.com/office/drawing/2014/main" id="{984916C8-04D1-2DB7-500A-F59F13F1D2D8}"/>
              </a:ext>
            </a:extLst>
          </p:cNvPr>
          <p:cNvSpPr txBox="1"/>
          <p:nvPr/>
        </p:nvSpPr>
        <p:spPr>
          <a:xfrm>
            <a:off x="432550" y="1512829"/>
            <a:ext cx="2927350" cy="1338828"/>
          </a:xfrm>
          <a:prstGeom prst="rect">
            <a:avLst/>
          </a:prstGeom>
          <a:noFill/>
        </p:spPr>
        <p:txBody>
          <a:bodyPr wrap="square">
            <a:spAutoFit/>
          </a:bodyPr>
          <a:lstStyle/>
          <a:p>
            <a:pPr algn="l" rtl="0">
              <a:lnSpc>
                <a:spcPct val="90000"/>
              </a:lnSpc>
              <a:spcBef>
                <a:spcPts val="650"/>
              </a:spcBef>
            </a:pPr>
            <a:r>
              <a:rPr lang="en-US" sz="1800" kern="1200" spc="-10" dirty="0">
                <a:solidFill>
                  <a:schemeClr val="tx1"/>
                </a:solidFill>
                <a:latin typeface="+mn-lt"/>
                <a:ea typeface="+mn-ea"/>
                <a:cs typeface="+mn-cs"/>
              </a:rPr>
              <a:t>“¿En qué medida los métodos de imputación pueden recuperar eficazmente los valores faltantes? ¿Y Transformer?”</a:t>
            </a:r>
          </a:p>
        </p:txBody>
      </p:sp>
      <p:sp>
        <p:nvSpPr>
          <p:cNvPr id="14" name="object 3">
            <a:extLst>
              <a:ext uri="{FF2B5EF4-FFF2-40B4-BE49-F238E27FC236}">
                <a16:creationId xmlns:a16="http://schemas.microsoft.com/office/drawing/2014/main" id="{A17B6B0C-C2CF-7FE3-6A91-03B1AED5323E}"/>
              </a:ext>
            </a:extLst>
          </p:cNvPr>
          <p:cNvSpPr txBox="1">
            <a:spLocks noGrp="1"/>
          </p:cNvSpPr>
          <p:nvPr>
            <p:ph type="title"/>
          </p:nvPr>
        </p:nvSpPr>
        <p:spPr>
          <a:xfrm>
            <a:off x="2990965" y="324284"/>
            <a:ext cx="4051185" cy="610294"/>
          </a:xfrm>
          <a:prstGeom prst="rect">
            <a:avLst/>
          </a:prstGeom>
        </p:spPr>
        <p:txBody>
          <a:bodyPr vert="horz" wrap="square" lIns="0" tIns="14604" rIns="0" bIns="0" rtlCol="0">
            <a:spAutoFit/>
          </a:bodyPr>
          <a:lstStyle/>
          <a:p>
            <a:pPr marL="681990">
              <a:lnSpc>
                <a:spcPts val="5140"/>
              </a:lnSpc>
              <a:spcBef>
                <a:spcPts val="114"/>
              </a:spcBef>
            </a:pPr>
            <a:r>
              <a:rPr lang="es-ES" sz="2800" spc="165" dirty="0"/>
              <a:t>VI. Resultados:</a:t>
            </a:r>
            <a:endParaRPr sz="2800" spc="-1125" dirty="0"/>
          </a:p>
        </p:txBody>
      </p:sp>
      <p:sp>
        <p:nvSpPr>
          <p:cNvPr id="16" name="CuadroTexto 15">
            <a:extLst>
              <a:ext uri="{FF2B5EF4-FFF2-40B4-BE49-F238E27FC236}">
                <a16:creationId xmlns:a16="http://schemas.microsoft.com/office/drawing/2014/main" id="{B40662F3-5979-1033-E670-E0BEF438787B}"/>
              </a:ext>
            </a:extLst>
          </p:cNvPr>
          <p:cNvSpPr txBox="1"/>
          <p:nvPr/>
        </p:nvSpPr>
        <p:spPr>
          <a:xfrm>
            <a:off x="396644" y="3324894"/>
            <a:ext cx="3867380" cy="1248034"/>
          </a:xfrm>
          <a:prstGeom prst="rect">
            <a:avLst/>
          </a:prstGeom>
          <a:noFill/>
        </p:spPr>
        <p:txBody>
          <a:bodyPr wrap="square">
            <a:spAutoFit/>
          </a:bodyPr>
          <a:lstStyle/>
          <a:p>
            <a:pPr marL="12700" indent="-228600" algn="l" rtl="0">
              <a:lnSpc>
                <a:spcPct val="90000"/>
              </a:lnSpc>
              <a:spcBef>
                <a:spcPts val="650"/>
              </a:spcBef>
              <a:buFont typeface="Arial" panose="020B0604020202020204" pitchFamily="34" charset="0"/>
              <a:buChar char="•"/>
            </a:pPr>
            <a:r>
              <a:rPr lang="en-US" sz="1600" kern="1200" spc="-10" dirty="0">
                <a:solidFill>
                  <a:schemeClr val="tx1"/>
                </a:solidFill>
              </a:rPr>
              <a:t>Eliminación artificial</a:t>
            </a:r>
          </a:p>
          <a:p>
            <a:pPr marL="12700" indent="-228600" algn="l" rtl="0">
              <a:lnSpc>
                <a:spcPct val="90000"/>
              </a:lnSpc>
              <a:spcBef>
                <a:spcPts val="650"/>
              </a:spcBef>
              <a:buFont typeface="Arial" panose="020B0604020202020204" pitchFamily="34" charset="0"/>
              <a:buChar char="•"/>
            </a:pPr>
            <a:r>
              <a:rPr lang="en-US" sz="1600" kern="1200" spc="-10" dirty="0">
                <a:solidFill>
                  <a:schemeClr val="tx1"/>
                </a:solidFill>
              </a:rPr>
              <a:t>Transformer y SAITS (DL) &gt; Resto</a:t>
            </a:r>
          </a:p>
          <a:p>
            <a:pPr marL="12700" indent="-228600" algn="l" rtl="0">
              <a:lnSpc>
                <a:spcPct val="90000"/>
              </a:lnSpc>
              <a:spcBef>
                <a:spcPts val="650"/>
              </a:spcBef>
              <a:buFont typeface="Arial" panose="020B0604020202020204" pitchFamily="34" charset="0"/>
              <a:buChar char="•"/>
            </a:pPr>
            <a:r>
              <a:rPr lang="en-US" sz="1600" kern="1200" spc="-10" dirty="0">
                <a:solidFill>
                  <a:schemeClr val="tx1"/>
                </a:solidFill>
              </a:rPr>
              <a:t>SAITS &gt; Transformer</a:t>
            </a:r>
          </a:p>
          <a:p>
            <a:pPr marL="12700" indent="-228600" algn="l" rtl="0">
              <a:lnSpc>
                <a:spcPct val="90000"/>
              </a:lnSpc>
              <a:spcBef>
                <a:spcPts val="650"/>
              </a:spcBef>
              <a:buFont typeface="Arial" panose="020B0604020202020204" pitchFamily="34" charset="0"/>
              <a:buChar char="•"/>
            </a:pPr>
            <a:r>
              <a:rPr lang="en-US" sz="1600" kern="1200" spc="-10" dirty="0">
                <a:solidFill>
                  <a:schemeClr val="tx1"/>
                </a:solidFill>
              </a:rPr>
              <a:t>Ráfaga más realista</a:t>
            </a:r>
          </a:p>
        </p:txBody>
      </p:sp>
      <p:sp>
        <p:nvSpPr>
          <p:cNvPr id="3" name="Marcador de número de diapositiva 2">
            <a:extLst>
              <a:ext uri="{FF2B5EF4-FFF2-40B4-BE49-F238E27FC236}">
                <a16:creationId xmlns:a16="http://schemas.microsoft.com/office/drawing/2014/main" id="{51836DD2-73C4-E865-DB8D-7D948AFF4174}"/>
              </a:ext>
            </a:extLst>
          </p:cNvPr>
          <p:cNvSpPr>
            <a:spLocks noGrp="1"/>
          </p:cNvSpPr>
          <p:nvPr>
            <p:ph type="sldNum" sz="quarter" idx="7"/>
          </p:nvPr>
        </p:nvSpPr>
        <p:spPr/>
        <p:txBody>
          <a:bodyPr/>
          <a:lstStyle/>
          <a:p>
            <a:pPr marL="111760">
              <a:lnSpc>
                <a:spcPts val="1120"/>
              </a:lnSpc>
            </a:pPr>
            <a:fld id="{81D60167-4931-47E6-BA6A-407CBD079E47}" type="slidenum">
              <a:rPr lang="es-ES" spc="-50" smtClean="0"/>
              <a:t>27</a:t>
            </a:fld>
            <a:endParaRPr lang="es-ES" spc="-50" dirty="0"/>
          </a:p>
        </p:txBody>
      </p:sp>
      <p:sp>
        <p:nvSpPr>
          <p:cNvPr id="4" name="Marcador de número de diapositiva 2">
            <a:extLst>
              <a:ext uri="{FF2B5EF4-FFF2-40B4-BE49-F238E27FC236}">
                <a16:creationId xmlns:a16="http://schemas.microsoft.com/office/drawing/2014/main" id="{445E3392-FF87-0A79-1CE8-3E75829B198E}"/>
              </a:ext>
            </a:extLst>
          </p:cNvPr>
          <p:cNvSpPr txBox="1">
            <a:spLocks/>
          </p:cNvSpPr>
          <p:nvPr/>
        </p:nvSpPr>
        <p:spPr>
          <a:xfrm>
            <a:off x="8845943" y="6538031"/>
            <a:ext cx="1019383" cy="141064"/>
          </a:xfrm>
          <a:prstGeom prst="rect">
            <a:avLst/>
          </a:prstGeom>
        </p:spPr>
        <p:txBody>
          <a:bodyPr wrap="square" lIns="0" tIns="0" rIns="0" bIns="0">
            <a:spAutoFit/>
          </a:bodyPr>
          <a:lstStyle>
            <a:defPPr>
              <a:defRPr kern="0"/>
            </a:defPPr>
            <a:lvl1pPr>
              <a:defRPr sz="1050" b="0" i="0">
                <a:solidFill>
                  <a:schemeClr val="bg1"/>
                </a:solidFill>
                <a:latin typeface="Arial MT"/>
                <a:cs typeface="Arial MT"/>
              </a:defRPr>
            </a:lvl1pPr>
          </a:lstStyle>
          <a:p>
            <a:pPr marL="111760">
              <a:lnSpc>
                <a:spcPts val="1120"/>
              </a:lnSpc>
            </a:pPr>
            <a:fld id="{81D60167-4931-47E6-BA6A-407CBD079E47}" type="slidenum">
              <a:rPr lang="es-ES" spc="-50" smtClean="0">
                <a:solidFill>
                  <a:schemeClr val="tx1"/>
                </a:solidFill>
              </a:rPr>
              <a:pPr marL="111760">
                <a:lnSpc>
                  <a:spcPts val="1120"/>
                </a:lnSpc>
              </a:pPr>
              <a:t>27</a:t>
            </a:fld>
            <a:endParaRPr lang="es-ES" spc="-50" dirty="0">
              <a:solidFill>
                <a:schemeClr val="tx1"/>
              </a:solidFill>
            </a:endParaRPr>
          </a:p>
        </p:txBody>
      </p:sp>
      <p:sp>
        <p:nvSpPr>
          <p:cNvPr id="6" name="Rectángulo 5" descr="Bar chart">
            <a:extLst>
              <a:ext uri="{FF2B5EF4-FFF2-40B4-BE49-F238E27FC236}">
                <a16:creationId xmlns:a16="http://schemas.microsoft.com/office/drawing/2014/main" id="{DBF35062-B508-11CD-3363-5C349EA5ECAA}"/>
              </a:ext>
            </a:extLst>
          </p:cNvPr>
          <p:cNvSpPr/>
          <p:nvPr/>
        </p:nvSpPr>
        <p:spPr>
          <a:xfrm>
            <a:off x="641350" y="243720"/>
            <a:ext cx="428453" cy="428453"/>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s-ES"/>
          </a:p>
        </p:txBody>
      </p:sp>
      <p:sp>
        <p:nvSpPr>
          <p:cNvPr id="8" name="CuadroTexto 7">
            <a:extLst>
              <a:ext uri="{FF2B5EF4-FFF2-40B4-BE49-F238E27FC236}">
                <a16:creationId xmlns:a16="http://schemas.microsoft.com/office/drawing/2014/main" id="{CE644D9E-18FE-17C7-0B0E-2569CB0CC52E}"/>
              </a:ext>
            </a:extLst>
          </p:cNvPr>
          <p:cNvSpPr txBox="1"/>
          <p:nvPr/>
        </p:nvSpPr>
        <p:spPr>
          <a:xfrm>
            <a:off x="1191260" y="311486"/>
            <a:ext cx="2047355" cy="307777"/>
          </a:xfrm>
          <a:prstGeom prst="rect">
            <a:avLst/>
          </a:prstGeom>
          <a:noFill/>
        </p:spPr>
        <p:txBody>
          <a:bodyPr wrap="none" rtlCol="0">
            <a:spAutoFit/>
          </a:bodyPr>
          <a:lstStyle/>
          <a:p>
            <a:r>
              <a:rPr lang="es-ES" sz="1400" dirty="0">
                <a:solidFill>
                  <a:schemeClr val="bg1">
                    <a:lumMod val="50000"/>
                  </a:schemeClr>
                </a:solidFill>
              </a:rPr>
              <a:t>Resultados y Discusión</a:t>
            </a:r>
          </a:p>
        </p:txBody>
      </p:sp>
    </p:spTree>
    <p:extLst>
      <p:ext uri="{BB962C8B-B14F-4D97-AF65-F5344CB8AC3E}">
        <p14:creationId xmlns:p14="http://schemas.microsoft.com/office/powerpoint/2010/main" val="37434605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54434CD-2E47-762C-708D-48F1A3F2C3AC}"/>
              </a:ext>
            </a:extLst>
          </p:cNvPr>
          <p:cNvSpPr>
            <a:spLocks noGrp="1"/>
          </p:cNvSpPr>
          <p:nvPr>
            <p:ph type="sldNum" sz="quarter" idx="7"/>
          </p:nvPr>
        </p:nvSpPr>
        <p:spPr/>
        <p:txBody>
          <a:bodyPr/>
          <a:lstStyle/>
          <a:p>
            <a:pPr marL="111760">
              <a:lnSpc>
                <a:spcPts val="1120"/>
              </a:lnSpc>
            </a:pPr>
            <a:fld id="{81D60167-4931-47E6-BA6A-407CBD079E47}" type="slidenum">
              <a:rPr lang="es-ES" spc="-50" smtClean="0"/>
              <a:t>28</a:t>
            </a:fld>
            <a:endParaRPr lang="es-ES" spc="-50" dirty="0"/>
          </a:p>
        </p:txBody>
      </p:sp>
      <p:pic>
        <p:nvPicPr>
          <p:cNvPr id="8" name="Imagen 7" descr="Escala de tiempo&#10;&#10;El contenido generado por IA puede ser incorrecto.">
            <a:extLst>
              <a:ext uri="{FF2B5EF4-FFF2-40B4-BE49-F238E27FC236}">
                <a16:creationId xmlns:a16="http://schemas.microsoft.com/office/drawing/2014/main" id="{F0A1C22B-7EF5-DB4E-A6FE-EC2F50CCB9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9950" y="1562100"/>
            <a:ext cx="6335514" cy="2353555"/>
          </a:xfrm>
          <a:prstGeom prst="rect">
            <a:avLst/>
          </a:prstGeom>
        </p:spPr>
      </p:pic>
      <p:pic>
        <p:nvPicPr>
          <p:cNvPr id="11" name="Imagen 10" descr="Tabla&#10;&#10;El contenido generado por IA puede ser incorrecto.">
            <a:extLst>
              <a:ext uri="{FF2B5EF4-FFF2-40B4-BE49-F238E27FC236}">
                <a16:creationId xmlns:a16="http://schemas.microsoft.com/office/drawing/2014/main" id="{2055B2E6-42E4-AE19-F502-DAF3DB174637}"/>
              </a:ext>
            </a:extLst>
          </p:cNvPr>
          <p:cNvPicPr>
            <a:picLocks noChangeAspect="1"/>
          </p:cNvPicPr>
          <p:nvPr/>
        </p:nvPicPr>
        <p:blipFill>
          <a:blip r:embed="rId4">
            <a:extLst>
              <a:ext uri="{28A0092B-C50C-407E-A947-70E740481C1C}">
                <a14:useLocalDpi xmlns:a14="http://schemas.microsoft.com/office/drawing/2010/main" val="0"/>
              </a:ext>
            </a:extLst>
          </a:blip>
          <a:srcRect t="10296" b="52935"/>
          <a:stretch>
            <a:fillRect/>
          </a:stretch>
        </p:blipFill>
        <p:spPr>
          <a:xfrm>
            <a:off x="363179" y="4466083"/>
            <a:ext cx="5441000" cy="1812034"/>
          </a:xfrm>
          <a:prstGeom prst="rect">
            <a:avLst/>
          </a:prstGeom>
        </p:spPr>
      </p:pic>
      <p:sp>
        <p:nvSpPr>
          <p:cNvPr id="14" name="object 3">
            <a:extLst>
              <a:ext uri="{FF2B5EF4-FFF2-40B4-BE49-F238E27FC236}">
                <a16:creationId xmlns:a16="http://schemas.microsoft.com/office/drawing/2014/main" id="{54A63D83-7718-E655-EABA-C20B1C32148A}"/>
              </a:ext>
            </a:extLst>
          </p:cNvPr>
          <p:cNvSpPr txBox="1">
            <a:spLocks noGrp="1"/>
          </p:cNvSpPr>
          <p:nvPr>
            <p:ph type="title"/>
          </p:nvPr>
        </p:nvSpPr>
        <p:spPr>
          <a:xfrm>
            <a:off x="1881090" y="545365"/>
            <a:ext cx="5389660" cy="575285"/>
          </a:xfrm>
          <a:prstGeom prst="rect">
            <a:avLst/>
          </a:prstGeom>
        </p:spPr>
        <p:txBody>
          <a:bodyPr vert="horz" wrap="square" lIns="0" tIns="14604" rIns="0" bIns="0" rtlCol="0">
            <a:spAutoFit/>
          </a:bodyPr>
          <a:lstStyle/>
          <a:p>
            <a:pPr marL="681990">
              <a:lnSpc>
                <a:spcPts val="5140"/>
              </a:lnSpc>
              <a:spcBef>
                <a:spcPts val="114"/>
              </a:spcBef>
            </a:pPr>
            <a:r>
              <a:rPr lang="es-ES" sz="2000" spc="165" dirty="0"/>
              <a:t>VI. Cronograma y Presupuesto:</a:t>
            </a:r>
            <a:endParaRPr sz="2000" spc="-1125" dirty="0"/>
          </a:p>
        </p:txBody>
      </p:sp>
      <p:sp>
        <p:nvSpPr>
          <p:cNvPr id="2" name="Rectángulo 1" descr="Presentación con lista de comprobación con relleno sólido">
            <a:extLst>
              <a:ext uri="{FF2B5EF4-FFF2-40B4-BE49-F238E27FC236}">
                <a16:creationId xmlns:a16="http://schemas.microsoft.com/office/drawing/2014/main" id="{A3DC6512-6970-D233-8F38-C4DF061D5510}"/>
              </a:ext>
            </a:extLst>
          </p:cNvPr>
          <p:cNvSpPr/>
          <p:nvPr/>
        </p:nvSpPr>
        <p:spPr>
          <a:xfrm>
            <a:off x="641350" y="250747"/>
            <a:ext cx="428453" cy="428453"/>
          </a:xfrm>
          <a:prstGeom prst="rect">
            <a:avLst/>
          </a:prstGeom>
          <a:blipFill>
            <a:blip r:embed="rId5">
              <a:extLs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s-ES"/>
          </a:p>
        </p:txBody>
      </p:sp>
      <p:sp>
        <p:nvSpPr>
          <p:cNvPr id="3" name="CuadroTexto 2">
            <a:extLst>
              <a:ext uri="{FF2B5EF4-FFF2-40B4-BE49-F238E27FC236}">
                <a16:creationId xmlns:a16="http://schemas.microsoft.com/office/drawing/2014/main" id="{1DDEFF53-29E7-3804-FBF8-D8CCA1F86A41}"/>
              </a:ext>
            </a:extLst>
          </p:cNvPr>
          <p:cNvSpPr txBox="1"/>
          <p:nvPr/>
        </p:nvSpPr>
        <p:spPr>
          <a:xfrm>
            <a:off x="1250950" y="286890"/>
            <a:ext cx="1260281" cy="307777"/>
          </a:xfrm>
          <a:prstGeom prst="rect">
            <a:avLst/>
          </a:prstGeom>
          <a:noFill/>
        </p:spPr>
        <p:txBody>
          <a:bodyPr wrap="none" rtlCol="0">
            <a:spAutoFit/>
          </a:bodyPr>
          <a:lstStyle/>
          <a:p>
            <a:r>
              <a:rPr lang="es-ES" sz="1400" dirty="0">
                <a:solidFill>
                  <a:schemeClr val="bg1">
                    <a:lumMod val="50000"/>
                  </a:schemeClr>
                </a:solidFill>
              </a:rPr>
              <a:t>Conclusiones</a:t>
            </a:r>
          </a:p>
        </p:txBody>
      </p:sp>
    </p:spTree>
    <p:extLst>
      <p:ext uri="{BB962C8B-B14F-4D97-AF65-F5344CB8AC3E}">
        <p14:creationId xmlns:p14="http://schemas.microsoft.com/office/powerpoint/2010/main" val="26566746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A9FCF-617C-CFEE-CD07-FE04281C021B}"/>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6EB193E4-C465-206D-A319-96F3D081819E}"/>
              </a:ext>
            </a:extLst>
          </p:cNvPr>
          <p:cNvSpPr>
            <a:spLocks noGrp="1"/>
          </p:cNvSpPr>
          <p:nvPr>
            <p:ph type="sldNum" sz="quarter" idx="7"/>
          </p:nvPr>
        </p:nvSpPr>
        <p:spPr/>
        <p:txBody>
          <a:bodyPr/>
          <a:lstStyle/>
          <a:p>
            <a:pPr marL="111760">
              <a:lnSpc>
                <a:spcPts val="1120"/>
              </a:lnSpc>
            </a:pPr>
            <a:fld id="{81D60167-4931-47E6-BA6A-407CBD079E47}" type="slidenum">
              <a:rPr lang="es-ES" spc="-50" smtClean="0"/>
              <a:t>29</a:t>
            </a:fld>
            <a:endParaRPr lang="es-ES" spc="-50" dirty="0"/>
          </a:p>
        </p:txBody>
      </p:sp>
      <p:sp>
        <p:nvSpPr>
          <p:cNvPr id="4" name="Marcador de número de diapositiva 2">
            <a:extLst>
              <a:ext uri="{FF2B5EF4-FFF2-40B4-BE49-F238E27FC236}">
                <a16:creationId xmlns:a16="http://schemas.microsoft.com/office/drawing/2014/main" id="{926B96E7-8A78-61AB-3177-F228AFBDBC0D}"/>
              </a:ext>
            </a:extLst>
          </p:cNvPr>
          <p:cNvSpPr txBox="1">
            <a:spLocks/>
          </p:cNvSpPr>
          <p:nvPr/>
        </p:nvSpPr>
        <p:spPr>
          <a:xfrm>
            <a:off x="8845943" y="6538031"/>
            <a:ext cx="1019383" cy="141064"/>
          </a:xfrm>
          <a:prstGeom prst="rect">
            <a:avLst/>
          </a:prstGeom>
        </p:spPr>
        <p:txBody>
          <a:bodyPr wrap="square" lIns="0" tIns="0" rIns="0" bIns="0">
            <a:spAutoFit/>
          </a:bodyPr>
          <a:lstStyle>
            <a:defPPr>
              <a:defRPr kern="0"/>
            </a:defPPr>
            <a:lvl1pPr>
              <a:defRPr sz="1050" b="0" i="0">
                <a:solidFill>
                  <a:schemeClr val="bg1"/>
                </a:solidFill>
                <a:latin typeface="Arial MT"/>
                <a:cs typeface="Arial MT"/>
              </a:defRPr>
            </a:lvl1pPr>
          </a:lstStyle>
          <a:p>
            <a:pPr marL="111760">
              <a:lnSpc>
                <a:spcPts val="1120"/>
              </a:lnSpc>
            </a:pPr>
            <a:fld id="{81D60167-4931-47E6-BA6A-407CBD079E47}" type="slidenum">
              <a:rPr lang="es-ES" spc="-50" smtClean="0">
                <a:solidFill>
                  <a:schemeClr val="tx1"/>
                </a:solidFill>
              </a:rPr>
              <a:pPr marL="111760">
                <a:lnSpc>
                  <a:spcPts val="1120"/>
                </a:lnSpc>
              </a:pPr>
              <a:t>29</a:t>
            </a:fld>
            <a:endParaRPr lang="es-ES" spc="-50" dirty="0">
              <a:solidFill>
                <a:schemeClr val="tx1"/>
              </a:solidFill>
            </a:endParaRPr>
          </a:p>
        </p:txBody>
      </p:sp>
      <p:sp>
        <p:nvSpPr>
          <p:cNvPr id="6" name="object 3">
            <a:extLst>
              <a:ext uri="{FF2B5EF4-FFF2-40B4-BE49-F238E27FC236}">
                <a16:creationId xmlns:a16="http://schemas.microsoft.com/office/drawing/2014/main" id="{B21BE614-3D88-0FF7-574B-59DA743F2767}"/>
              </a:ext>
            </a:extLst>
          </p:cNvPr>
          <p:cNvSpPr txBox="1">
            <a:spLocks noGrp="1"/>
          </p:cNvSpPr>
          <p:nvPr>
            <p:ph type="title"/>
          </p:nvPr>
        </p:nvSpPr>
        <p:spPr>
          <a:xfrm>
            <a:off x="2511231" y="754550"/>
            <a:ext cx="4191000" cy="445634"/>
          </a:xfrm>
          <a:prstGeom prst="rect">
            <a:avLst/>
          </a:prstGeom>
        </p:spPr>
        <p:txBody>
          <a:bodyPr vert="horz" wrap="square" lIns="0" tIns="14604" rIns="0" bIns="0" rtlCol="0">
            <a:spAutoFit/>
          </a:bodyPr>
          <a:lstStyle/>
          <a:p>
            <a:pPr marL="681990">
              <a:spcBef>
                <a:spcPts val="114"/>
              </a:spcBef>
            </a:pPr>
            <a:r>
              <a:rPr lang="es-ES" sz="2800" spc="165" dirty="0"/>
              <a:t>VI. Conclusiones:</a:t>
            </a:r>
            <a:endParaRPr sz="2800" spc="-1125" dirty="0"/>
          </a:p>
        </p:txBody>
      </p:sp>
      <p:sp>
        <p:nvSpPr>
          <p:cNvPr id="2" name="Rectángulo 1" descr="Presentación con lista de comprobación con relleno sólido">
            <a:extLst>
              <a:ext uri="{FF2B5EF4-FFF2-40B4-BE49-F238E27FC236}">
                <a16:creationId xmlns:a16="http://schemas.microsoft.com/office/drawing/2014/main" id="{965B8BB5-6940-91F5-D98B-8E91282E2B64}"/>
              </a:ext>
            </a:extLst>
          </p:cNvPr>
          <p:cNvSpPr/>
          <p:nvPr/>
        </p:nvSpPr>
        <p:spPr>
          <a:xfrm>
            <a:off x="641350" y="250747"/>
            <a:ext cx="428453" cy="428453"/>
          </a:xfrm>
          <a:prstGeom prst="rect">
            <a:avLst/>
          </a:prstGeom>
          <a:blipFill>
            <a:blip r:embed="rId3">
              <a:extLst>
                <a:ext uri="{96DAC541-7B7A-43D3-8B79-37D633B846F1}">
                  <asvg:svgBlip xmlns:asvg="http://schemas.microsoft.com/office/drawing/2016/SVG/main" r:embed="rId4"/>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s-ES"/>
          </a:p>
        </p:txBody>
      </p:sp>
      <p:sp>
        <p:nvSpPr>
          <p:cNvPr id="7" name="CuadroTexto 6">
            <a:extLst>
              <a:ext uri="{FF2B5EF4-FFF2-40B4-BE49-F238E27FC236}">
                <a16:creationId xmlns:a16="http://schemas.microsoft.com/office/drawing/2014/main" id="{BB49B541-3800-54C0-29F2-DB5E767DAA85}"/>
              </a:ext>
            </a:extLst>
          </p:cNvPr>
          <p:cNvSpPr txBox="1"/>
          <p:nvPr/>
        </p:nvSpPr>
        <p:spPr>
          <a:xfrm>
            <a:off x="1250950" y="286890"/>
            <a:ext cx="1260281" cy="307777"/>
          </a:xfrm>
          <a:prstGeom prst="rect">
            <a:avLst/>
          </a:prstGeom>
          <a:noFill/>
        </p:spPr>
        <p:txBody>
          <a:bodyPr wrap="none" rtlCol="0">
            <a:spAutoFit/>
          </a:bodyPr>
          <a:lstStyle/>
          <a:p>
            <a:r>
              <a:rPr lang="es-ES" sz="1400" dirty="0">
                <a:solidFill>
                  <a:schemeClr val="bg1">
                    <a:lumMod val="50000"/>
                  </a:schemeClr>
                </a:solidFill>
              </a:rPr>
              <a:t>Conclusiones</a:t>
            </a:r>
          </a:p>
        </p:txBody>
      </p:sp>
      <p:sp>
        <p:nvSpPr>
          <p:cNvPr id="9" name="CuadroTexto 8">
            <a:extLst>
              <a:ext uri="{FF2B5EF4-FFF2-40B4-BE49-F238E27FC236}">
                <a16:creationId xmlns:a16="http://schemas.microsoft.com/office/drawing/2014/main" id="{3976EA7A-839F-ABB5-3649-D77CB5DB0EA2}"/>
              </a:ext>
            </a:extLst>
          </p:cNvPr>
          <p:cNvSpPr txBox="1"/>
          <p:nvPr/>
        </p:nvSpPr>
        <p:spPr>
          <a:xfrm>
            <a:off x="666173" y="1400287"/>
            <a:ext cx="8650199" cy="5078313"/>
          </a:xfrm>
          <a:prstGeom prst="rect">
            <a:avLst/>
          </a:prstGeom>
          <a:noFill/>
        </p:spPr>
        <p:txBody>
          <a:bodyPr wrap="square">
            <a:spAutoFit/>
          </a:bodyPr>
          <a:lstStyle/>
          <a:p>
            <a:pPr>
              <a:buNone/>
            </a:pPr>
            <a:r>
              <a:rPr lang="es-ES" dirty="0"/>
              <a:t>El trabajo ha cumplido </a:t>
            </a:r>
            <a:r>
              <a:rPr lang="es-ES" b="1" dirty="0"/>
              <a:t>su objetivo principal</a:t>
            </a:r>
            <a:r>
              <a:rPr lang="es-ES" dirty="0"/>
              <a:t>: estudiar el uso de modelos Transformer para imputar valores faltantes en series temporales, demostrando su eficacia frente a métodos tradicionales.</a:t>
            </a:r>
          </a:p>
          <a:p>
            <a:pPr>
              <a:buNone/>
            </a:pPr>
            <a:endParaRPr lang="es-ES" dirty="0"/>
          </a:p>
          <a:p>
            <a:pPr>
              <a:buNone/>
            </a:pPr>
            <a:r>
              <a:rPr lang="es-ES" dirty="0"/>
              <a:t>Se han alcanzado los </a:t>
            </a:r>
            <a:r>
              <a:rPr lang="es-ES" b="1" dirty="0"/>
              <a:t>objetivos específicos:</a:t>
            </a:r>
          </a:p>
          <a:p>
            <a:pPr>
              <a:buFont typeface="Arial" panose="020B0604020202020204" pitchFamily="34" charset="0"/>
              <a:buChar char="•"/>
            </a:pPr>
            <a:endParaRPr lang="es-ES" dirty="0"/>
          </a:p>
          <a:p>
            <a:pPr>
              <a:buFont typeface="Arial" panose="020B0604020202020204" pitchFamily="34" charset="0"/>
              <a:buChar char="•"/>
            </a:pPr>
            <a:r>
              <a:rPr lang="es-ES" dirty="0"/>
              <a:t> Revisión del estado del arte.</a:t>
            </a:r>
          </a:p>
          <a:p>
            <a:pPr>
              <a:buFont typeface="Arial" panose="020B0604020202020204" pitchFamily="34" charset="0"/>
              <a:buChar char="•"/>
            </a:pPr>
            <a:r>
              <a:rPr lang="es-ES" dirty="0"/>
              <a:t> Fundamentos matemáticos.</a:t>
            </a:r>
          </a:p>
          <a:p>
            <a:pPr>
              <a:buFont typeface="Arial" panose="020B0604020202020204" pitchFamily="34" charset="0"/>
              <a:buChar char="•"/>
            </a:pPr>
            <a:r>
              <a:rPr lang="es-ES" dirty="0"/>
              <a:t> Desarrollo de un pipeline y paquete en Python.</a:t>
            </a:r>
          </a:p>
          <a:p>
            <a:pPr>
              <a:buFont typeface="Arial" panose="020B0604020202020204" pitchFamily="34" charset="0"/>
              <a:buChar char="•"/>
            </a:pPr>
            <a:r>
              <a:rPr lang="es-ES" dirty="0"/>
              <a:t> Evaluación del rendimiento.</a:t>
            </a:r>
          </a:p>
          <a:p>
            <a:endParaRPr lang="es-ES" dirty="0"/>
          </a:p>
          <a:p>
            <a:r>
              <a:rPr lang="es-ES" dirty="0"/>
              <a:t>Se ha hecho uso de </a:t>
            </a:r>
            <a:r>
              <a:rPr lang="es-ES" b="1" dirty="0"/>
              <a:t>conocimientos adquiridos en ambos grados </a:t>
            </a:r>
            <a:r>
              <a:rPr lang="es-ES" dirty="0"/>
              <a:t>(Álgebra Lineal, Aprendizaje Automático, Probabilidad, etc.), complemantándolos con tareas de </a:t>
            </a:r>
            <a:r>
              <a:rPr lang="es-ES" b="1" dirty="0"/>
              <a:t>investigación autónoma.</a:t>
            </a:r>
          </a:p>
          <a:p>
            <a:endParaRPr lang="es-ES" dirty="0"/>
          </a:p>
          <a:p>
            <a:r>
              <a:rPr lang="es-ES" dirty="0"/>
              <a:t>El proyecto se ha alineado con </a:t>
            </a:r>
            <a:r>
              <a:rPr lang="es-ES" b="1" dirty="0"/>
              <a:t>principios éticos (</a:t>
            </a:r>
            <a:r>
              <a:rPr lang="es-ES" dirty="0"/>
              <a:t>datos abiertos y software libre) </a:t>
            </a:r>
          </a:p>
          <a:p>
            <a:endParaRPr lang="es-ES" dirty="0"/>
          </a:p>
          <a:p>
            <a:r>
              <a:rPr lang="es-ES" dirty="0"/>
              <a:t>y con los </a:t>
            </a:r>
            <a:r>
              <a:rPr lang="es-ES" b="1" dirty="0"/>
              <a:t>Objetivos de Desarrollo Sostenible</a:t>
            </a:r>
            <a:r>
              <a:rPr lang="es-ES" dirty="0"/>
              <a:t>.</a:t>
            </a:r>
          </a:p>
        </p:txBody>
      </p:sp>
      <p:pic>
        <p:nvPicPr>
          <p:cNvPr id="16" name="Picture 2" descr="ODS Objetivo de Desarrollo Sostenible 13 de la ONU: La Lucha Contra el  Cambio Climático">
            <a:extLst>
              <a:ext uri="{FF2B5EF4-FFF2-40B4-BE49-F238E27FC236}">
                <a16:creationId xmlns:a16="http://schemas.microsoft.com/office/drawing/2014/main" id="{ED616367-44DA-B0EB-2A3A-96989A0DF5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99150" y="5953256"/>
            <a:ext cx="584775" cy="584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40355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467142-DD7E-7FEE-4EDC-1F9F096E8E1C}"/>
              </a:ext>
            </a:extLst>
          </p:cNvPr>
          <p:cNvSpPr>
            <a:spLocks noGrp="1"/>
          </p:cNvSpPr>
          <p:nvPr>
            <p:ph type="title"/>
          </p:nvPr>
        </p:nvSpPr>
        <p:spPr>
          <a:xfrm>
            <a:off x="2317750" y="2628900"/>
            <a:ext cx="5187951" cy="1107996"/>
          </a:xfrm>
        </p:spPr>
        <p:txBody>
          <a:bodyPr/>
          <a:lstStyle/>
          <a:p>
            <a:r>
              <a:rPr lang="es-ES" sz="3600" spc="-90" dirty="0">
                <a:solidFill>
                  <a:srgbClr val="333333"/>
                </a:solidFill>
              </a:rPr>
              <a:t>¡Gracias</a:t>
            </a:r>
            <a:r>
              <a:rPr lang="es-ES" sz="3600" spc="-80" dirty="0">
                <a:solidFill>
                  <a:srgbClr val="333333"/>
                </a:solidFill>
              </a:rPr>
              <a:t> </a:t>
            </a:r>
            <a:r>
              <a:rPr lang="es-ES" sz="3600" spc="95" dirty="0">
                <a:solidFill>
                  <a:srgbClr val="333333"/>
                </a:solidFill>
              </a:rPr>
              <a:t>por</a:t>
            </a:r>
            <a:r>
              <a:rPr lang="es-ES" sz="3600" spc="-75" dirty="0">
                <a:solidFill>
                  <a:srgbClr val="333333"/>
                </a:solidFill>
              </a:rPr>
              <a:t> </a:t>
            </a:r>
            <a:r>
              <a:rPr lang="es-ES" sz="3600" dirty="0">
                <a:solidFill>
                  <a:srgbClr val="333333"/>
                </a:solidFill>
              </a:rPr>
              <a:t>su</a:t>
            </a:r>
            <a:r>
              <a:rPr lang="es-ES" sz="3600" spc="-75" dirty="0">
                <a:solidFill>
                  <a:srgbClr val="333333"/>
                </a:solidFill>
              </a:rPr>
              <a:t> </a:t>
            </a:r>
            <a:r>
              <a:rPr lang="es-ES" sz="3600" i="1" spc="40" dirty="0">
                <a:solidFill>
                  <a:srgbClr val="333333"/>
                </a:solidFill>
              </a:rPr>
              <a:t>Attention</a:t>
            </a:r>
            <a:r>
              <a:rPr lang="es-ES" sz="3600" spc="40" dirty="0">
                <a:solidFill>
                  <a:srgbClr val="333333"/>
                </a:solidFill>
              </a:rPr>
              <a:t>!</a:t>
            </a:r>
            <a:br>
              <a:rPr lang="es-ES" sz="3600" dirty="0"/>
            </a:br>
            <a:endParaRPr lang="es-ES" sz="3600" dirty="0"/>
          </a:p>
        </p:txBody>
      </p:sp>
      <p:sp>
        <p:nvSpPr>
          <p:cNvPr id="3" name="CuadroTexto 2">
            <a:extLst>
              <a:ext uri="{FF2B5EF4-FFF2-40B4-BE49-F238E27FC236}">
                <a16:creationId xmlns:a16="http://schemas.microsoft.com/office/drawing/2014/main" id="{E1CD4C48-6588-0B9E-9975-234B5C2282EF}"/>
              </a:ext>
            </a:extLst>
          </p:cNvPr>
          <p:cNvSpPr txBox="1"/>
          <p:nvPr/>
        </p:nvSpPr>
        <p:spPr>
          <a:xfrm>
            <a:off x="2622550" y="3887063"/>
            <a:ext cx="5943600" cy="461665"/>
          </a:xfrm>
          <a:prstGeom prst="rect">
            <a:avLst/>
          </a:prstGeom>
          <a:noFill/>
        </p:spPr>
        <p:txBody>
          <a:bodyPr wrap="square">
            <a:spAutoFit/>
          </a:bodyPr>
          <a:lstStyle/>
          <a:p>
            <a:r>
              <a:rPr lang="es-ES" sz="2400" dirty="0">
                <a:solidFill>
                  <a:schemeClr val="tx2"/>
                </a:solidFill>
                <a:hlinkClick r:id="rId3">
                  <a:extLst>
                    <a:ext uri="{A12FA001-AC4F-418D-AE19-62706E023703}">
                      <ahyp:hlinkClr xmlns:ahyp="http://schemas.microsoft.com/office/drawing/2018/hyperlinkcolor" val="tx"/>
                    </a:ext>
                  </a:extLst>
                </a:hlinkClick>
              </a:rPr>
              <a:t>https://github.com/eigenric/TFG</a:t>
            </a:r>
            <a:endParaRPr lang="es-ES" sz="2400" dirty="0">
              <a:solidFill>
                <a:schemeClr val="tx2"/>
              </a:solidFill>
            </a:endParaRPr>
          </a:p>
        </p:txBody>
      </p:sp>
      <p:sp>
        <p:nvSpPr>
          <p:cNvPr id="4" name="Marcador de número de diapositiva 3">
            <a:extLst>
              <a:ext uri="{FF2B5EF4-FFF2-40B4-BE49-F238E27FC236}">
                <a16:creationId xmlns:a16="http://schemas.microsoft.com/office/drawing/2014/main" id="{049E182B-8C5E-F59A-B08B-1CCDBA567AE3}"/>
              </a:ext>
            </a:extLst>
          </p:cNvPr>
          <p:cNvSpPr>
            <a:spLocks noGrp="1"/>
          </p:cNvSpPr>
          <p:nvPr>
            <p:ph type="sldNum" sz="quarter" idx="7"/>
          </p:nvPr>
        </p:nvSpPr>
        <p:spPr/>
        <p:txBody>
          <a:bodyPr/>
          <a:lstStyle/>
          <a:p>
            <a:pPr marL="111760">
              <a:lnSpc>
                <a:spcPts val="1120"/>
              </a:lnSpc>
            </a:pPr>
            <a:fld id="{81D60167-4931-47E6-BA6A-407CBD079E47}" type="slidenum">
              <a:rPr lang="es-ES" spc="-50" smtClean="0"/>
              <a:t>30</a:t>
            </a:fld>
            <a:endParaRPr lang="es-ES" spc="-50" dirty="0"/>
          </a:p>
        </p:txBody>
      </p:sp>
    </p:spTree>
    <p:extLst>
      <p:ext uri="{BB962C8B-B14F-4D97-AF65-F5344CB8AC3E}">
        <p14:creationId xmlns:p14="http://schemas.microsoft.com/office/powerpoint/2010/main" val="12198425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C1C6E55D-3815-E257-22F9-08B25EF90289}"/>
              </a:ext>
            </a:extLst>
          </p:cNvPr>
          <p:cNvSpPr>
            <a:spLocks noGrp="1"/>
          </p:cNvSpPr>
          <p:nvPr>
            <p:ph type="sldNum" sz="quarter" idx="7"/>
          </p:nvPr>
        </p:nvSpPr>
        <p:spPr/>
        <p:txBody>
          <a:bodyPr/>
          <a:lstStyle/>
          <a:p>
            <a:pPr marL="111760">
              <a:lnSpc>
                <a:spcPts val="1120"/>
              </a:lnSpc>
            </a:pPr>
            <a:fld id="{81D60167-4931-47E6-BA6A-407CBD079E47}" type="slidenum">
              <a:rPr lang="es-ES" spc="-50" smtClean="0"/>
              <a:t>31</a:t>
            </a:fld>
            <a:endParaRPr lang="es-ES" spc="-50" dirty="0"/>
          </a:p>
        </p:txBody>
      </p:sp>
      <p:pic>
        <p:nvPicPr>
          <p:cNvPr id="6" name="Imagen 5">
            <a:extLst>
              <a:ext uri="{FF2B5EF4-FFF2-40B4-BE49-F238E27FC236}">
                <a16:creationId xmlns:a16="http://schemas.microsoft.com/office/drawing/2014/main" id="{8426DAF5-BFF9-0D0E-FFF5-1135260BBF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950" y="2019300"/>
            <a:ext cx="8267703" cy="2362200"/>
          </a:xfrm>
          <a:prstGeom prst="rect">
            <a:avLst/>
          </a:prstGeom>
        </p:spPr>
      </p:pic>
    </p:spTree>
    <p:extLst>
      <p:ext uri="{BB962C8B-B14F-4D97-AF65-F5344CB8AC3E}">
        <p14:creationId xmlns:p14="http://schemas.microsoft.com/office/powerpoint/2010/main" val="37564838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C0F11D45-B214-C1B2-907A-1F87895497C9}"/>
              </a:ext>
            </a:extLst>
          </p:cNvPr>
          <p:cNvSpPr>
            <a:spLocks noGrp="1"/>
          </p:cNvSpPr>
          <p:nvPr>
            <p:ph type="sldNum" sz="quarter" idx="7"/>
          </p:nvPr>
        </p:nvSpPr>
        <p:spPr/>
        <p:txBody>
          <a:bodyPr/>
          <a:lstStyle/>
          <a:p>
            <a:pPr marL="111760">
              <a:lnSpc>
                <a:spcPts val="1120"/>
              </a:lnSpc>
            </a:pPr>
            <a:fld id="{81D60167-4931-47E6-BA6A-407CBD079E47}" type="slidenum">
              <a:rPr lang="es-ES" spc="-50" smtClean="0"/>
              <a:t>32</a:t>
            </a:fld>
            <a:endParaRPr lang="es-ES" spc="-50" dirty="0"/>
          </a:p>
        </p:txBody>
      </p:sp>
      <p:pic>
        <p:nvPicPr>
          <p:cNvPr id="5" name="Imagen 4" descr="Texto&#10;&#10;El contenido generado por IA puede ser incorrecto.">
            <a:extLst>
              <a:ext uri="{FF2B5EF4-FFF2-40B4-BE49-F238E27FC236}">
                <a16:creationId xmlns:a16="http://schemas.microsoft.com/office/drawing/2014/main" id="{2417030D-EBCE-DE66-CD1F-AC966EE62ED9}"/>
              </a:ext>
            </a:extLst>
          </p:cNvPr>
          <p:cNvPicPr>
            <a:picLocks noChangeAspect="1"/>
          </p:cNvPicPr>
          <p:nvPr/>
        </p:nvPicPr>
        <p:blipFill>
          <a:blip r:embed="rId2">
            <a:extLst>
              <a:ext uri="{28A0092B-C50C-407E-A947-70E740481C1C}">
                <a14:useLocalDpi xmlns:a14="http://schemas.microsoft.com/office/drawing/2010/main" val="0"/>
              </a:ext>
            </a:extLst>
          </a:blip>
          <a:srcRect l="10000" r="6734"/>
          <a:stretch>
            <a:fillRect/>
          </a:stretch>
        </p:blipFill>
        <p:spPr>
          <a:xfrm>
            <a:off x="536847" y="3467100"/>
            <a:ext cx="8438606" cy="2895600"/>
          </a:xfrm>
          <a:prstGeom prst="rect">
            <a:avLst/>
          </a:prstGeom>
        </p:spPr>
      </p:pic>
      <p:pic>
        <p:nvPicPr>
          <p:cNvPr id="7" name="Imagen 6" descr="Texto&#10;&#10;El contenido generado por IA puede ser incorrecto.">
            <a:extLst>
              <a:ext uri="{FF2B5EF4-FFF2-40B4-BE49-F238E27FC236}">
                <a16:creationId xmlns:a16="http://schemas.microsoft.com/office/drawing/2014/main" id="{3E5CD982-AA93-DB14-E03D-606EC0CE0477}"/>
              </a:ext>
            </a:extLst>
          </p:cNvPr>
          <p:cNvPicPr>
            <a:picLocks noChangeAspect="1"/>
          </p:cNvPicPr>
          <p:nvPr/>
        </p:nvPicPr>
        <p:blipFill>
          <a:blip r:embed="rId3">
            <a:extLst>
              <a:ext uri="{28A0092B-C50C-407E-A947-70E740481C1C}">
                <a14:useLocalDpi xmlns:a14="http://schemas.microsoft.com/office/drawing/2010/main" val="0"/>
              </a:ext>
            </a:extLst>
          </a:blip>
          <a:srcRect l="7843" r="7843" b="26013"/>
          <a:stretch>
            <a:fillRect/>
          </a:stretch>
        </p:blipFill>
        <p:spPr>
          <a:xfrm>
            <a:off x="478109" y="800100"/>
            <a:ext cx="8320238" cy="2086057"/>
          </a:xfrm>
          <a:prstGeom prst="rect">
            <a:avLst/>
          </a:prstGeom>
        </p:spPr>
      </p:pic>
    </p:spTree>
    <p:extLst>
      <p:ext uri="{BB962C8B-B14F-4D97-AF65-F5344CB8AC3E}">
        <p14:creationId xmlns:p14="http://schemas.microsoft.com/office/powerpoint/2010/main" val="13965921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8949" y="331981"/>
            <a:ext cx="8653643" cy="1879810"/>
          </a:xfrm>
          <a:prstGeom prst="rect">
            <a:avLst/>
          </a:prstGeom>
        </p:spPr>
        <p:txBody>
          <a:bodyPr vert="horz" wrap="square" lIns="0" tIns="90805" rIns="0" bIns="0" rtlCol="0">
            <a:spAutoFit/>
          </a:bodyPr>
          <a:lstStyle/>
          <a:p>
            <a:pPr marL="2472055" marR="5080" indent="-2459990" algn="l">
              <a:lnSpc>
                <a:spcPts val="4880"/>
              </a:lnSpc>
              <a:spcBef>
                <a:spcPts val="715"/>
              </a:spcBef>
            </a:pPr>
            <a:r>
              <a:rPr lang="es-ES" sz="3200" spc="204" dirty="0"/>
              <a:t>III. Del Machine Learning al Deep Learning</a:t>
            </a:r>
            <a:br>
              <a:rPr lang="es-ES" sz="3200" spc="204" dirty="0"/>
            </a:br>
            <a:endParaRPr sz="2000" dirty="0">
              <a:latin typeface="Times New Roman"/>
              <a:cs typeface="Times New Roman"/>
            </a:endParaRPr>
          </a:p>
        </p:txBody>
      </p:sp>
      <p:sp>
        <p:nvSpPr>
          <p:cNvPr id="4" name="object 4"/>
          <p:cNvSpPr txBox="1">
            <a:spLocks noGrp="1"/>
          </p:cNvSpPr>
          <p:nvPr>
            <p:ph type="body" idx="1"/>
          </p:nvPr>
        </p:nvSpPr>
        <p:spPr>
          <a:xfrm>
            <a:off x="5518150" y="2164348"/>
            <a:ext cx="2590800" cy="380232"/>
          </a:xfrm>
          <a:prstGeom prst="rect">
            <a:avLst/>
          </a:prstGeom>
        </p:spPr>
        <p:txBody>
          <a:bodyPr vert="horz" wrap="square" lIns="0" tIns="71755" rIns="0" bIns="0" rtlCol="0">
            <a:spAutoFit/>
          </a:bodyPr>
          <a:lstStyle/>
          <a:p>
            <a:pPr marL="12700">
              <a:lnSpc>
                <a:spcPct val="100000"/>
              </a:lnSpc>
              <a:spcBef>
                <a:spcPts val="565"/>
              </a:spcBef>
            </a:pPr>
            <a:r>
              <a:rPr sz="2000" b="1" spc="-75" dirty="0">
                <a:solidFill>
                  <a:srgbClr val="0056B3"/>
                </a:solidFill>
                <a:latin typeface="Arial"/>
                <a:cs typeface="Arial"/>
              </a:rPr>
              <a:t>Perceptrón</a:t>
            </a:r>
            <a:endParaRPr sz="2000" dirty="0">
              <a:latin typeface="Arial"/>
              <a:cs typeface="Arial"/>
            </a:endParaRPr>
          </a:p>
        </p:txBody>
      </p:sp>
      <p:sp>
        <p:nvSpPr>
          <p:cNvPr id="15" name="CuadroTexto 14">
            <a:extLst>
              <a:ext uri="{FF2B5EF4-FFF2-40B4-BE49-F238E27FC236}">
                <a16:creationId xmlns:a16="http://schemas.microsoft.com/office/drawing/2014/main" id="{144A1928-1699-F3D1-A329-CA0FBD79DFED}"/>
              </a:ext>
            </a:extLst>
          </p:cNvPr>
          <p:cNvSpPr txBox="1"/>
          <p:nvPr/>
        </p:nvSpPr>
        <p:spPr>
          <a:xfrm>
            <a:off x="5137150" y="5038891"/>
            <a:ext cx="2547795" cy="1015663"/>
          </a:xfrm>
          <a:prstGeom prst="rect">
            <a:avLst/>
          </a:prstGeom>
          <a:noFill/>
        </p:spPr>
        <p:txBody>
          <a:bodyPr wrap="square" rtlCol="0">
            <a:spAutoFit/>
          </a:bodyPr>
          <a:lstStyle/>
          <a:p>
            <a:r>
              <a:rPr lang="es-ES" sz="2000" b="1" spc="-135" dirty="0">
                <a:solidFill>
                  <a:srgbClr val="0056B3"/>
                </a:solidFill>
                <a:latin typeface="Arial"/>
                <a:cs typeface="Arial"/>
              </a:rPr>
              <a:t>Otros modelos:</a:t>
            </a:r>
          </a:p>
          <a:p>
            <a:endParaRPr lang="es-ES" sz="2000" b="1" spc="-135" dirty="0">
              <a:solidFill>
                <a:srgbClr val="0056B3"/>
              </a:solidFill>
              <a:latin typeface="Arial"/>
              <a:cs typeface="Arial"/>
            </a:endParaRPr>
          </a:p>
          <a:p>
            <a:r>
              <a:rPr lang="es-ES" sz="2000" b="1" spc="-135" dirty="0">
                <a:solidFill>
                  <a:srgbClr val="0056B3"/>
                </a:solidFill>
                <a:latin typeface="Arial"/>
                <a:cs typeface="Arial"/>
              </a:rPr>
              <a:t>RNN (LSTM)</a:t>
            </a:r>
            <a:endParaRPr lang="es-ES" sz="2000" dirty="0">
              <a:latin typeface="Arial"/>
              <a:cs typeface="Arial"/>
            </a:endParaRPr>
          </a:p>
        </p:txBody>
      </p:sp>
      <p:pic>
        <p:nvPicPr>
          <p:cNvPr id="17" name="Imagen 16" descr="Diagrama&#10;&#10;El contenido generado por IA puede ser incorrecto.">
            <a:extLst>
              <a:ext uri="{FF2B5EF4-FFF2-40B4-BE49-F238E27FC236}">
                <a16:creationId xmlns:a16="http://schemas.microsoft.com/office/drawing/2014/main" id="{241C876D-BFA4-5F62-8053-4E9166CD85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656" y="1583414"/>
            <a:ext cx="4651698" cy="1755788"/>
          </a:xfrm>
          <a:prstGeom prst="rect">
            <a:avLst/>
          </a:prstGeom>
        </p:spPr>
      </p:pic>
      <p:sp>
        <p:nvSpPr>
          <p:cNvPr id="19" name="CuadroTexto 18">
            <a:extLst>
              <a:ext uri="{FF2B5EF4-FFF2-40B4-BE49-F238E27FC236}">
                <a16:creationId xmlns:a16="http://schemas.microsoft.com/office/drawing/2014/main" id="{3C3D4593-A717-5F35-D5B4-2DBA0C2337F4}"/>
              </a:ext>
            </a:extLst>
          </p:cNvPr>
          <p:cNvSpPr txBox="1"/>
          <p:nvPr/>
        </p:nvSpPr>
        <p:spPr>
          <a:xfrm>
            <a:off x="5137150" y="3855086"/>
            <a:ext cx="3980308" cy="711990"/>
          </a:xfrm>
          <a:prstGeom prst="rect">
            <a:avLst/>
          </a:prstGeom>
          <a:noFill/>
        </p:spPr>
        <p:txBody>
          <a:bodyPr wrap="square">
            <a:spAutoFit/>
          </a:bodyPr>
          <a:lstStyle/>
          <a:p>
            <a:pPr marL="12700" marR="5080">
              <a:lnSpc>
                <a:spcPct val="116799"/>
              </a:lnSpc>
            </a:pPr>
            <a:r>
              <a:rPr lang="es-ES" sz="1800" b="1" spc="-100" dirty="0">
                <a:solidFill>
                  <a:srgbClr val="0056B3"/>
                </a:solidFill>
                <a:latin typeface="Arial"/>
                <a:cs typeface="Arial"/>
              </a:rPr>
              <a:t>MLP</a:t>
            </a:r>
            <a:r>
              <a:rPr lang="es-ES" b="1" spc="-100" dirty="0">
                <a:solidFill>
                  <a:srgbClr val="0056B3"/>
                </a:solidFill>
                <a:latin typeface="Arial"/>
                <a:cs typeface="Arial"/>
              </a:rPr>
              <a:t>: Perceptrón Multicapa</a:t>
            </a:r>
            <a:endParaRPr lang="es-ES" sz="1800" b="1" spc="-100" dirty="0">
              <a:solidFill>
                <a:srgbClr val="0056B3"/>
              </a:solidFill>
              <a:latin typeface="Arial"/>
              <a:cs typeface="Arial"/>
            </a:endParaRPr>
          </a:p>
          <a:p>
            <a:pPr marL="12700" marR="5080">
              <a:lnSpc>
                <a:spcPct val="116799"/>
              </a:lnSpc>
            </a:pPr>
            <a:r>
              <a:rPr lang="es-ES" sz="1800" b="1" spc="-100" dirty="0">
                <a:solidFill>
                  <a:srgbClr val="0056B3"/>
                </a:solidFill>
                <a:latin typeface="Arial"/>
                <a:cs typeface="Arial"/>
              </a:rPr>
              <a:t>FFNN:</a:t>
            </a:r>
            <a:r>
              <a:rPr lang="es-ES" sz="1800" b="1" spc="-110" dirty="0">
                <a:solidFill>
                  <a:srgbClr val="0056B3"/>
                </a:solidFill>
                <a:latin typeface="Arial"/>
                <a:cs typeface="Arial"/>
              </a:rPr>
              <a:t> Feed Forward Neural Network</a:t>
            </a:r>
            <a:endParaRPr lang="es-ES" sz="1800" dirty="0">
              <a:latin typeface="Arial"/>
              <a:cs typeface="Arial"/>
            </a:endParaRPr>
          </a:p>
        </p:txBody>
      </p:sp>
      <p:pic>
        <p:nvPicPr>
          <p:cNvPr id="21" name="Imagen 20" descr="Diagrama&#10;&#10;El contenido generado por IA puede ser incorrecto.">
            <a:extLst>
              <a:ext uri="{FF2B5EF4-FFF2-40B4-BE49-F238E27FC236}">
                <a16:creationId xmlns:a16="http://schemas.microsoft.com/office/drawing/2014/main" id="{E3F78D56-1385-BD8F-3C9C-1A2DD0D464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0800" y="3444931"/>
            <a:ext cx="3980308" cy="2892357"/>
          </a:xfrm>
          <a:prstGeom prst="rect">
            <a:avLst/>
          </a:prstGeom>
        </p:spPr>
      </p:pic>
      <p:sp>
        <p:nvSpPr>
          <p:cNvPr id="3" name="Marcador de número de diapositiva 2">
            <a:extLst>
              <a:ext uri="{FF2B5EF4-FFF2-40B4-BE49-F238E27FC236}">
                <a16:creationId xmlns:a16="http://schemas.microsoft.com/office/drawing/2014/main" id="{059496B6-6E03-B872-493F-F5824DEE306A}"/>
              </a:ext>
            </a:extLst>
          </p:cNvPr>
          <p:cNvSpPr>
            <a:spLocks noGrp="1"/>
          </p:cNvSpPr>
          <p:nvPr>
            <p:ph type="sldNum" sz="quarter" idx="7"/>
          </p:nvPr>
        </p:nvSpPr>
        <p:spPr>
          <a:xfrm>
            <a:off x="8845943" y="6538031"/>
            <a:ext cx="1019383" cy="141064"/>
          </a:xfrm>
        </p:spPr>
        <p:txBody>
          <a:bodyPr/>
          <a:lstStyle/>
          <a:p>
            <a:pPr marL="111760">
              <a:lnSpc>
                <a:spcPts val="1120"/>
              </a:lnSpc>
            </a:pPr>
            <a:fld id="{81D60167-4931-47E6-BA6A-407CBD079E47}" type="slidenum">
              <a:rPr lang="es-ES" spc="-50" smtClean="0">
                <a:solidFill>
                  <a:schemeClr val="tx1"/>
                </a:solidFill>
              </a:rPr>
              <a:t>33</a:t>
            </a:fld>
            <a:endParaRPr lang="es-ES" spc="-50" dirty="0">
              <a:solidFill>
                <a:schemeClr val="tx1"/>
              </a:solidFill>
            </a:endParaRPr>
          </a:p>
        </p:txBody>
      </p:sp>
    </p:spTree>
    <p:extLst>
      <p:ext uri="{BB962C8B-B14F-4D97-AF65-F5344CB8AC3E}">
        <p14:creationId xmlns:p14="http://schemas.microsoft.com/office/powerpoint/2010/main" val="28603399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BF0B8B7-528F-B186-796F-7C0BDBB7D795}"/>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28068EA6-FA05-6179-2CFE-C40DD82FE511}"/>
              </a:ext>
            </a:extLst>
          </p:cNvPr>
          <p:cNvPicPr/>
          <p:nvPr/>
        </p:nvPicPr>
        <p:blipFill>
          <a:blip r:embed="rId3" cstate="print"/>
          <a:stretch>
            <a:fillRect/>
          </a:stretch>
        </p:blipFill>
        <p:spPr>
          <a:xfrm>
            <a:off x="4756579" y="342900"/>
            <a:ext cx="4233640" cy="6214959"/>
          </a:xfrm>
          <a:prstGeom prst="rect">
            <a:avLst/>
          </a:prstGeom>
        </p:spPr>
      </p:pic>
      <p:sp>
        <p:nvSpPr>
          <p:cNvPr id="2" name="object 2">
            <a:extLst>
              <a:ext uri="{FF2B5EF4-FFF2-40B4-BE49-F238E27FC236}">
                <a16:creationId xmlns:a16="http://schemas.microsoft.com/office/drawing/2014/main" id="{2C9D7D99-DCE5-971E-816A-511F6FD6C54E}"/>
              </a:ext>
            </a:extLst>
          </p:cNvPr>
          <p:cNvSpPr txBox="1">
            <a:spLocks noGrp="1"/>
          </p:cNvSpPr>
          <p:nvPr>
            <p:ph type="title"/>
          </p:nvPr>
        </p:nvSpPr>
        <p:spPr>
          <a:xfrm>
            <a:off x="659147" y="-98186"/>
            <a:ext cx="6209665" cy="1276119"/>
          </a:xfrm>
          <a:prstGeom prst="rect">
            <a:avLst/>
          </a:prstGeom>
        </p:spPr>
        <p:txBody>
          <a:bodyPr vert="horz" wrap="square" lIns="0" tIns="83185" rIns="0" bIns="0" rtlCol="0">
            <a:spAutoFit/>
          </a:bodyPr>
          <a:lstStyle/>
          <a:p>
            <a:pPr marL="657860" marR="5080" indent="-645795">
              <a:lnSpc>
                <a:spcPts val="4950"/>
              </a:lnSpc>
              <a:spcBef>
                <a:spcPts val="655"/>
              </a:spcBef>
            </a:pPr>
            <a:r>
              <a:rPr lang="es-ES" sz="2400" spc="50" dirty="0"/>
              <a:t>IV. Arquitectura del </a:t>
            </a:r>
            <a:r>
              <a:rPr sz="2400" spc="175" dirty="0"/>
              <a:t>Transforme</a:t>
            </a:r>
            <a:r>
              <a:rPr lang="es-ES" sz="2400" spc="175" dirty="0"/>
              <a:t>r:</a:t>
            </a:r>
            <a:br>
              <a:rPr lang="es-ES" sz="2400" spc="175" dirty="0"/>
            </a:br>
            <a:r>
              <a:rPr lang="es-ES" sz="2400" spc="175" dirty="0"/>
              <a:t>Componentes Finales</a:t>
            </a:r>
            <a:endParaRPr sz="2400" spc="175" dirty="0"/>
          </a:p>
        </p:txBody>
      </p:sp>
      <p:pic>
        <p:nvPicPr>
          <p:cNvPr id="5" name="Imagen 4">
            <a:extLst>
              <a:ext uri="{FF2B5EF4-FFF2-40B4-BE49-F238E27FC236}">
                <a16:creationId xmlns:a16="http://schemas.microsoft.com/office/drawing/2014/main" id="{CA9A3961-003F-12C3-8023-EF016CA1C2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4150" y="4293614"/>
            <a:ext cx="4495372" cy="265194"/>
          </a:xfrm>
          <a:prstGeom prst="rect">
            <a:avLst/>
          </a:prstGeom>
          <a:solidFill>
            <a:srgbClr val="C2E8F7"/>
          </a:solidFill>
        </p:spPr>
      </p:pic>
      <p:pic>
        <p:nvPicPr>
          <p:cNvPr id="14" name="Imagen 13" descr="Forma&#10;&#10;El contenido generado por IA puede ser incorrecto.">
            <a:extLst>
              <a:ext uri="{FF2B5EF4-FFF2-40B4-BE49-F238E27FC236}">
                <a16:creationId xmlns:a16="http://schemas.microsoft.com/office/drawing/2014/main" id="{899FF8E5-4993-6B89-E661-7B887BDC57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3920" y="3410044"/>
            <a:ext cx="3273029" cy="462654"/>
          </a:xfrm>
          <a:prstGeom prst="rect">
            <a:avLst/>
          </a:prstGeom>
          <a:solidFill>
            <a:srgbClr val="F3F3C1"/>
          </a:solidFill>
        </p:spPr>
      </p:pic>
      <p:sp>
        <p:nvSpPr>
          <p:cNvPr id="17" name="CuadroTexto 16">
            <a:extLst>
              <a:ext uri="{FF2B5EF4-FFF2-40B4-BE49-F238E27FC236}">
                <a16:creationId xmlns:a16="http://schemas.microsoft.com/office/drawing/2014/main" id="{63B3A5C1-8B00-6E9E-3CC3-75FCE3984CCE}"/>
              </a:ext>
            </a:extLst>
          </p:cNvPr>
          <p:cNvSpPr txBox="1"/>
          <p:nvPr/>
        </p:nvSpPr>
        <p:spPr>
          <a:xfrm>
            <a:off x="184150" y="1228965"/>
            <a:ext cx="5562601" cy="646331"/>
          </a:xfrm>
          <a:prstGeom prst="rect">
            <a:avLst/>
          </a:prstGeom>
          <a:noFill/>
        </p:spPr>
        <p:txBody>
          <a:bodyPr wrap="square">
            <a:spAutoFit/>
          </a:bodyPr>
          <a:lstStyle/>
          <a:p>
            <a:r>
              <a:rPr lang="es-ES" sz="1800" b="1" spc="-110" dirty="0">
                <a:solidFill>
                  <a:srgbClr val="0056B3"/>
                </a:solidFill>
                <a:latin typeface="Arial"/>
                <a:cs typeface="Arial"/>
              </a:rPr>
              <a:t>Conexiones</a:t>
            </a:r>
            <a:r>
              <a:rPr lang="es-ES" sz="1800" b="1" spc="-25" dirty="0">
                <a:solidFill>
                  <a:srgbClr val="0056B3"/>
                </a:solidFill>
                <a:latin typeface="Arial"/>
                <a:cs typeface="Arial"/>
              </a:rPr>
              <a:t> </a:t>
            </a:r>
            <a:r>
              <a:rPr lang="es-ES" sz="1800" b="1" spc="-120" dirty="0">
                <a:solidFill>
                  <a:srgbClr val="0056B3"/>
                </a:solidFill>
                <a:latin typeface="Arial"/>
                <a:cs typeface="Arial"/>
              </a:rPr>
              <a:t>Residuales:</a:t>
            </a:r>
            <a:r>
              <a:rPr lang="es-ES" sz="1800" b="1" spc="-50" dirty="0">
                <a:solidFill>
                  <a:srgbClr val="0056B3"/>
                </a:solidFill>
                <a:latin typeface="Arial"/>
                <a:cs typeface="Arial"/>
              </a:rPr>
              <a:t> </a:t>
            </a:r>
            <a:r>
              <a:rPr lang="es-ES" sz="1800" dirty="0">
                <a:solidFill>
                  <a:srgbClr val="333333"/>
                </a:solidFill>
                <a:latin typeface="Microsoft Sans Serif"/>
                <a:cs typeface="Microsoft Sans Serif"/>
              </a:rPr>
              <a:t>Facilitan </a:t>
            </a:r>
            <a:r>
              <a:rPr lang="es-ES" sz="1800" spc="65" dirty="0">
                <a:solidFill>
                  <a:srgbClr val="333333"/>
                </a:solidFill>
                <a:latin typeface="Microsoft Sans Serif"/>
                <a:cs typeface="Microsoft Sans Serif"/>
              </a:rPr>
              <a:t>flujo</a:t>
            </a:r>
            <a:r>
              <a:rPr lang="es-ES" sz="1800" spc="5" dirty="0">
                <a:solidFill>
                  <a:srgbClr val="333333"/>
                </a:solidFill>
                <a:latin typeface="Microsoft Sans Serif"/>
                <a:cs typeface="Microsoft Sans Serif"/>
              </a:rPr>
              <a:t> </a:t>
            </a:r>
            <a:r>
              <a:rPr lang="es-ES" sz="1800" spc="60" dirty="0">
                <a:solidFill>
                  <a:srgbClr val="333333"/>
                </a:solidFill>
                <a:latin typeface="Microsoft Sans Serif"/>
                <a:cs typeface="Microsoft Sans Serif"/>
              </a:rPr>
              <a:t>de</a:t>
            </a:r>
            <a:r>
              <a:rPr lang="es-ES" sz="1800" dirty="0">
                <a:solidFill>
                  <a:srgbClr val="333333"/>
                </a:solidFill>
                <a:latin typeface="Microsoft Sans Serif"/>
                <a:cs typeface="Microsoft Sans Serif"/>
              </a:rPr>
              <a:t> </a:t>
            </a:r>
            <a:r>
              <a:rPr lang="es-ES" sz="1800" spc="-10" dirty="0">
                <a:solidFill>
                  <a:srgbClr val="333333"/>
                </a:solidFill>
                <a:latin typeface="Microsoft Sans Serif"/>
                <a:cs typeface="Microsoft Sans Serif"/>
              </a:rPr>
              <a:t>gradientes. </a:t>
            </a:r>
          </a:p>
          <a:p>
            <a:r>
              <a:rPr lang="es-ES" sz="1800" b="1" spc="-60" dirty="0">
                <a:solidFill>
                  <a:srgbClr val="0056B3"/>
                </a:solidFill>
                <a:latin typeface="Arial"/>
                <a:cs typeface="Arial"/>
              </a:rPr>
              <a:t>Normalización</a:t>
            </a:r>
            <a:r>
              <a:rPr lang="es-ES" sz="1800" b="1" spc="-85" dirty="0">
                <a:solidFill>
                  <a:srgbClr val="0056B3"/>
                </a:solidFill>
                <a:latin typeface="Arial"/>
                <a:cs typeface="Arial"/>
              </a:rPr>
              <a:t> </a:t>
            </a:r>
            <a:r>
              <a:rPr lang="es-ES" sz="1800" b="1" dirty="0">
                <a:solidFill>
                  <a:srgbClr val="0056B3"/>
                </a:solidFill>
                <a:latin typeface="Arial"/>
                <a:cs typeface="Arial"/>
              </a:rPr>
              <a:t>de</a:t>
            </a:r>
            <a:r>
              <a:rPr lang="es-ES" sz="1800" b="1" spc="-80" dirty="0">
                <a:solidFill>
                  <a:srgbClr val="0056B3"/>
                </a:solidFill>
                <a:latin typeface="Arial"/>
                <a:cs typeface="Arial"/>
              </a:rPr>
              <a:t> </a:t>
            </a:r>
            <a:r>
              <a:rPr lang="es-ES" sz="1800" b="1" spc="-165" dirty="0">
                <a:solidFill>
                  <a:srgbClr val="0056B3"/>
                </a:solidFill>
                <a:latin typeface="Arial"/>
                <a:cs typeface="Arial"/>
              </a:rPr>
              <a:t>Capas:</a:t>
            </a:r>
            <a:r>
              <a:rPr lang="es-ES" sz="1800" b="1" spc="-105" dirty="0">
                <a:solidFill>
                  <a:srgbClr val="0056B3"/>
                </a:solidFill>
                <a:latin typeface="Arial"/>
                <a:cs typeface="Arial"/>
              </a:rPr>
              <a:t> </a:t>
            </a:r>
            <a:r>
              <a:rPr lang="es-ES" sz="1800" dirty="0">
                <a:solidFill>
                  <a:srgbClr val="333333"/>
                </a:solidFill>
                <a:latin typeface="Microsoft Sans Serif"/>
                <a:cs typeface="Microsoft Sans Serif"/>
              </a:rPr>
              <a:t>Estabiliza</a:t>
            </a:r>
            <a:r>
              <a:rPr lang="es-ES" sz="1800" spc="-60" dirty="0">
                <a:solidFill>
                  <a:srgbClr val="333333"/>
                </a:solidFill>
                <a:latin typeface="Microsoft Sans Serif"/>
                <a:cs typeface="Microsoft Sans Serif"/>
              </a:rPr>
              <a:t> </a:t>
            </a:r>
            <a:r>
              <a:rPr lang="es-ES" sz="1800" spc="55" dirty="0">
                <a:solidFill>
                  <a:srgbClr val="333333"/>
                </a:solidFill>
                <a:latin typeface="Microsoft Sans Serif"/>
                <a:cs typeface="Microsoft Sans Serif"/>
              </a:rPr>
              <a:t>entrenamiento</a:t>
            </a:r>
            <a:endParaRPr lang="es-ES" dirty="0"/>
          </a:p>
        </p:txBody>
      </p:sp>
      <p:pic>
        <p:nvPicPr>
          <p:cNvPr id="10" name="Imagen 9">
            <a:extLst>
              <a:ext uri="{FF2B5EF4-FFF2-40B4-BE49-F238E27FC236}">
                <a16:creationId xmlns:a16="http://schemas.microsoft.com/office/drawing/2014/main" id="{3EF1FC97-B69E-8750-BE23-E85467CEA63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3920" y="2152747"/>
            <a:ext cx="4443617" cy="265194"/>
          </a:xfrm>
          <a:prstGeom prst="rect">
            <a:avLst/>
          </a:prstGeom>
          <a:solidFill>
            <a:srgbClr val="F3F3C1"/>
          </a:solidFill>
        </p:spPr>
      </p:pic>
      <p:pic>
        <p:nvPicPr>
          <p:cNvPr id="12" name="Imagen 11">
            <a:extLst>
              <a:ext uri="{FF2B5EF4-FFF2-40B4-BE49-F238E27FC236}">
                <a16:creationId xmlns:a16="http://schemas.microsoft.com/office/drawing/2014/main" id="{E3B173C6-565F-0EB3-6131-7C0BB53A0A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3920" y="2784242"/>
            <a:ext cx="3273030" cy="277261"/>
          </a:xfrm>
          <a:prstGeom prst="rect">
            <a:avLst/>
          </a:prstGeom>
          <a:solidFill>
            <a:srgbClr val="F3F3C1"/>
          </a:solidFill>
        </p:spPr>
      </p:pic>
      <p:pic>
        <p:nvPicPr>
          <p:cNvPr id="8" name="Imagen 7">
            <a:extLst>
              <a:ext uri="{FF2B5EF4-FFF2-40B4-BE49-F238E27FC236}">
                <a16:creationId xmlns:a16="http://schemas.microsoft.com/office/drawing/2014/main" id="{EE7E27D7-22EC-0508-F58B-9BFA4EFF29E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96031" y="4979724"/>
            <a:ext cx="2587230" cy="292222"/>
          </a:xfrm>
          <a:prstGeom prst="rect">
            <a:avLst/>
          </a:prstGeom>
          <a:solidFill>
            <a:srgbClr val="D6DCEA"/>
          </a:solidFill>
        </p:spPr>
      </p:pic>
      <p:sp>
        <p:nvSpPr>
          <p:cNvPr id="6" name="Marcador de número de diapositiva 5">
            <a:extLst>
              <a:ext uri="{FF2B5EF4-FFF2-40B4-BE49-F238E27FC236}">
                <a16:creationId xmlns:a16="http://schemas.microsoft.com/office/drawing/2014/main" id="{754886CA-275D-6080-DBE0-EA7525D5E8DF}"/>
              </a:ext>
            </a:extLst>
          </p:cNvPr>
          <p:cNvSpPr>
            <a:spLocks noGrp="1"/>
          </p:cNvSpPr>
          <p:nvPr>
            <p:ph type="sldNum" sz="quarter" idx="7"/>
          </p:nvPr>
        </p:nvSpPr>
        <p:spPr/>
        <p:txBody>
          <a:bodyPr/>
          <a:lstStyle/>
          <a:p>
            <a:pPr marL="111760">
              <a:lnSpc>
                <a:spcPts val="1120"/>
              </a:lnSpc>
            </a:pPr>
            <a:fld id="{81D60167-4931-47E6-BA6A-407CBD079E47}" type="slidenum">
              <a:rPr lang="es-ES" spc="-50" smtClean="0"/>
              <a:t>34</a:t>
            </a:fld>
            <a:endParaRPr lang="es-ES" spc="-50" dirty="0"/>
          </a:p>
        </p:txBody>
      </p:sp>
      <p:sp>
        <p:nvSpPr>
          <p:cNvPr id="7" name="Marcador de número de diapositiva 2">
            <a:extLst>
              <a:ext uri="{FF2B5EF4-FFF2-40B4-BE49-F238E27FC236}">
                <a16:creationId xmlns:a16="http://schemas.microsoft.com/office/drawing/2014/main" id="{B83D5304-9F5D-70AA-1AFC-F996B4403796}"/>
              </a:ext>
            </a:extLst>
          </p:cNvPr>
          <p:cNvSpPr txBox="1">
            <a:spLocks/>
          </p:cNvSpPr>
          <p:nvPr/>
        </p:nvSpPr>
        <p:spPr>
          <a:xfrm>
            <a:off x="8845943" y="6538031"/>
            <a:ext cx="1019383" cy="141064"/>
          </a:xfrm>
          <a:prstGeom prst="rect">
            <a:avLst/>
          </a:prstGeom>
        </p:spPr>
        <p:txBody>
          <a:bodyPr wrap="square" lIns="0" tIns="0" rIns="0" bIns="0">
            <a:spAutoFit/>
          </a:bodyPr>
          <a:lstStyle>
            <a:defPPr>
              <a:defRPr kern="0"/>
            </a:defPPr>
            <a:lvl1pPr>
              <a:defRPr sz="1050" b="0" i="0">
                <a:solidFill>
                  <a:schemeClr val="bg1"/>
                </a:solidFill>
                <a:latin typeface="Arial MT"/>
                <a:cs typeface="Arial MT"/>
              </a:defRPr>
            </a:lvl1pPr>
          </a:lstStyle>
          <a:p>
            <a:pPr marL="111760">
              <a:lnSpc>
                <a:spcPts val="1120"/>
              </a:lnSpc>
            </a:pPr>
            <a:fld id="{81D60167-4931-47E6-BA6A-407CBD079E47}" type="slidenum">
              <a:rPr lang="es-ES" spc="-50" smtClean="0">
                <a:solidFill>
                  <a:schemeClr val="tx1"/>
                </a:solidFill>
              </a:rPr>
              <a:pPr marL="111760">
                <a:lnSpc>
                  <a:spcPts val="1120"/>
                </a:lnSpc>
              </a:pPr>
              <a:t>34</a:t>
            </a:fld>
            <a:endParaRPr lang="es-ES" spc="-50" dirty="0">
              <a:solidFill>
                <a:schemeClr val="tx1"/>
              </a:solidFill>
            </a:endParaRPr>
          </a:p>
        </p:txBody>
      </p:sp>
    </p:spTree>
    <p:extLst>
      <p:ext uri="{BB962C8B-B14F-4D97-AF65-F5344CB8AC3E}">
        <p14:creationId xmlns:p14="http://schemas.microsoft.com/office/powerpoint/2010/main" val="34941331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8544</TotalTime>
  <Words>3341</Words>
  <Application>Microsoft Macintosh PowerPoint</Application>
  <PresentationFormat>Personalizado</PresentationFormat>
  <Paragraphs>436</Paragraphs>
  <Slides>34</Slides>
  <Notes>32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34</vt:i4>
      </vt:variant>
    </vt:vector>
  </HeadingPairs>
  <TitlesOfParts>
    <vt:vector size="40" baseType="lpstr">
      <vt:lpstr>Aptos</vt:lpstr>
      <vt:lpstr>Arial</vt:lpstr>
      <vt:lpstr>Arial MT</vt:lpstr>
      <vt:lpstr>Microsoft Sans Serif</vt:lpstr>
      <vt:lpstr>Times New Roman</vt:lpstr>
      <vt:lpstr>Office Theme</vt:lpstr>
      <vt:lpstr>Imputación de Datos Faltantes de Variables Meteorológicas  y de Contaminación en Series Temporales Multivariantes IoT con Modelos Transformer</vt:lpstr>
      <vt:lpstr>Índice</vt:lpstr>
      <vt:lpstr>I. Introducción: Smart Poqueira</vt:lpstr>
      <vt:lpstr>I. El Desafío de los Datos Faltantes</vt:lpstr>
      <vt:lpstr>I. Introducción: Series Temporales. Motivación.</vt:lpstr>
      <vt:lpstr>Presentación de PowerPoint</vt:lpstr>
      <vt:lpstr>I. El Problema de la Imputación</vt:lpstr>
      <vt:lpstr>I. Evaluación.</vt:lpstr>
      <vt:lpstr> II. Taxonomía de Métodos de Imputación</vt:lpstr>
      <vt:lpstr>Presentación de PowerPoint</vt:lpstr>
      <vt:lpstr>II. Taxonomía. Información Local</vt:lpstr>
      <vt:lpstr>Presentación de PowerPoint</vt:lpstr>
      <vt:lpstr>Presentación de PowerPoint</vt:lpstr>
      <vt:lpstr>III. Arquitectura del Transformer</vt:lpstr>
      <vt:lpstr>IV. Arquitectura del Transformer: Positional Encoding</vt:lpstr>
      <vt:lpstr>IV. Arquitectura del Transformer:  Mecanismo de Atención</vt:lpstr>
      <vt:lpstr>IV. SAITS: Self-Attention Based Imputation for Time Series.  Arquitectura General.</vt:lpstr>
      <vt:lpstr>Presentación de PowerPoint</vt:lpstr>
      <vt:lpstr>Presentación de PowerPoint</vt:lpstr>
      <vt:lpstr>V. PyPOTS: Una biblioteca de Python para trabajar con Series Temporales Parcialmente Observadas</vt:lpstr>
      <vt:lpstr>V. Desarrollo de Software</vt:lpstr>
      <vt:lpstr>V. Pipeline</vt:lpstr>
      <vt:lpstr>Presentación de PowerPoint</vt:lpstr>
      <vt:lpstr>VI. Resultados. Visualización</vt:lpstr>
      <vt:lpstr>VI. Resultados y Discusión</vt:lpstr>
      <vt:lpstr>VI. Resultados y Discusión</vt:lpstr>
      <vt:lpstr>VI. Resultados:</vt:lpstr>
      <vt:lpstr>VI. Cronograma y Presupuesto:</vt:lpstr>
      <vt:lpstr>VI. Conclusiones:</vt:lpstr>
      <vt:lpstr>¡Gracias por su Attention! </vt:lpstr>
      <vt:lpstr>Presentación de PowerPoint</vt:lpstr>
      <vt:lpstr>Presentación de PowerPoint</vt:lpstr>
      <vt:lpstr>III. Del Machine Learning al Deep Learning </vt:lpstr>
      <vt:lpstr>IV. Arquitectura del Transformer: Componentes Finales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TFG: Imputación de Datos Faltantes con Modelos Transformer</dc:title>
  <cp:lastModifiedBy>RICARDO RUIZ FERNANDEZ DE ALBA</cp:lastModifiedBy>
  <cp:revision>62</cp:revision>
  <dcterms:created xsi:type="dcterms:W3CDTF">2025-06-09T11:22:56Z</dcterms:created>
  <dcterms:modified xsi:type="dcterms:W3CDTF">2025-06-26T06:19:06Z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2025-06-09T00:00:00Z</vt:filetime>
  </property>
  <property fmtid="{D5CDD505-2E9C-101B-9397-08002B2CF9AE}" pid="3" name="Creator">
    <vt:lpwstr>Mozilla/5.0 (Macintosh; Intel Mac OS X 10_15_7) AppleWebKit/537.36 (KHTML, like Gecko) Chrome/137.0.0.0 Safari/537.36</vt:lpwstr>
  </property>
  <property fmtid="{D5CDD505-2E9C-101B-9397-08002B2CF9AE}" pid="4" name="LastSaved">
    <vt:filetime>2025-06-09T00:00:00Z</vt:filetime>
  </property>
  <property fmtid="{D5CDD505-2E9C-101B-9397-08002B2CF9AE}" pid="5" name="Producer">
    <vt:lpwstr>Skia/PDF m137</vt:lpwstr>
  </property>
</Properties>
</file>